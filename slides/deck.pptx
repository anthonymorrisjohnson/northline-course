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70" r:id="rId21"/>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7"/>
                </a:solidFill>
                <a:latin typeface="Arial"/>
              </a:defRPr>
            </a:pPr>
            <a:r>
              <a:rPr sz="1400" b="0" i="0" u="none" strike="noStrike">
                <a:solidFill>
                  <a:srgbClr val="1B1F27"/>
                </a:solidFill>
                <a:latin typeface="Arial"/>
              </a:rPr>
              <a:t>Nurse response, median hours — triage deploys at week 40</a:t>
            </a:r>
          </a:p>
        </c:rich>
      </c:tx>
      <c:layout/>
      <c:overlay val="0"/>
    </c:title>
    <c:autoTitleDeleted val="0"/>
    <c:plotArea>
      <c:layout/>
      <c:lineChart>
        <c:varyColors val="0"/>
        <c:ser>
          <c:idx val="0"/>
          <c:order val="0"/>
          <c:tx>
            <c:strRef>
              <c:f>Sheet1!$B$1</c:f>
              <c:strCache>
                <c:ptCount val="1"/>
                <c:pt idx="0">
                  <c:v>Nurse response, median (h)</c:v>
                </c:pt>
              </c:strCache>
            </c:strRef>
          </c:tx>
          <c:spPr>
            <a:solidFill>
              <a:srgbClr val="065A82"/>
            </a:solidFill>
            <a:ln w="31750" cap="flat">
              <a:solidFill>
                <a:srgbClr val="065A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65A82"/>
              </a:solidFill>
              <a:ln w="9525" cap="flat">
                <a:solidFill>
                  <a:srgbClr val="065A82"/>
                </a:solidFill>
                <a:prstDash val="solid"/>
                <a:round/>
              </a:ln>
              <a:effectLst/>
            </c:spPr>
          </c:marker>
          <c:cat>
            <c:strRef>
              <c:f>Sheet1!$A$2:$A$53</c:f>
              <c:strCache>
                <c:ptCount val="5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strCache>
            </c:strRef>
          </c:cat>
          <c:val>
            <c:numRef>
              <c:f>Sheet1!$B$2:$B$53</c:f>
              <c:numCache>
                <c:formatCode>General</c:formatCode>
                <c:ptCount val="52"/>
                <c:pt idx="0">
                  <c:v>22.2</c:v>
                </c:pt>
                <c:pt idx="1">
                  <c:v>22.2</c:v>
                </c:pt>
                <c:pt idx="2">
                  <c:v>22.2</c:v>
                </c:pt>
                <c:pt idx="3">
                  <c:v>22.2</c:v>
                </c:pt>
                <c:pt idx="4">
                  <c:v>22.2</c:v>
                </c:pt>
                <c:pt idx="5">
                  <c:v>22.2</c:v>
                </c:pt>
                <c:pt idx="6">
                  <c:v>22.2</c:v>
                </c:pt>
                <c:pt idx="7">
                  <c:v>22.2</c:v>
                </c:pt>
                <c:pt idx="8">
                  <c:v>22.2</c:v>
                </c:pt>
                <c:pt idx="9">
                  <c:v>22.2</c:v>
                </c:pt>
                <c:pt idx="10">
                  <c:v>22.2</c:v>
                </c:pt>
                <c:pt idx="11">
                  <c:v>22.2</c:v>
                </c:pt>
                <c:pt idx="12">
                  <c:v>22.2</c:v>
                </c:pt>
                <c:pt idx="13">
                  <c:v>22.2</c:v>
                </c:pt>
                <c:pt idx="14">
                  <c:v>22.2</c:v>
                </c:pt>
                <c:pt idx="15">
                  <c:v>22.2</c:v>
                </c:pt>
                <c:pt idx="16">
                  <c:v>22.2</c:v>
                </c:pt>
                <c:pt idx="17">
                  <c:v>22.2</c:v>
                </c:pt>
                <c:pt idx="18">
                  <c:v>22.2</c:v>
                </c:pt>
                <c:pt idx="19">
                  <c:v>22.2</c:v>
                </c:pt>
                <c:pt idx="20">
                  <c:v>22.2</c:v>
                </c:pt>
                <c:pt idx="21">
                  <c:v>22.2</c:v>
                </c:pt>
                <c:pt idx="22">
                  <c:v>22.2</c:v>
                </c:pt>
                <c:pt idx="23">
                  <c:v>22.2</c:v>
                </c:pt>
                <c:pt idx="24">
                  <c:v>22.2</c:v>
                </c:pt>
                <c:pt idx="25">
                  <c:v>22.2</c:v>
                </c:pt>
                <c:pt idx="26">
                  <c:v>22.2</c:v>
                </c:pt>
                <c:pt idx="27">
                  <c:v>22.2</c:v>
                </c:pt>
                <c:pt idx="28">
                  <c:v>22.2</c:v>
                </c:pt>
                <c:pt idx="29">
                  <c:v>28.3</c:v>
                </c:pt>
                <c:pt idx="30">
                  <c:v>28.3</c:v>
                </c:pt>
                <c:pt idx="31">
                  <c:v>28.3</c:v>
                </c:pt>
                <c:pt idx="32">
                  <c:v>28.3</c:v>
                </c:pt>
                <c:pt idx="33">
                  <c:v>28.3</c:v>
                </c:pt>
                <c:pt idx="34">
                  <c:v>36.7</c:v>
                </c:pt>
                <c:pt idx="35">
                  <c:v>36.7</c:v>
                </c:pt>
                <c:pt idx="36">
                  <c:v>36.7</c:v>
                </c:pt>
                <c:pt idx="37">
                  <c:v>36.7</c:v>
                </c:pt>
                <c:pt idx="38">
                  <c:v>48.9</c:v>
                </c:pt>
                <c:pt idx="39">
                  <c:v>4.0</c:v>
                </c:pt>
                <c:pt idx="40">
                  <c:v>4.0</c:v>
                </c:pt>
                <c:pt idx="41">
                  <c:v>4.0</c:v>
                </c:pt>
                <c:pt idx="42">
                  <c:v>4.0</c:v>
                </c:pt>
                <c:pt idx="43">
                  <c:v>4.0</c:v>
                </c:pt>
                <c:pt idx="44">
                  <c:v>4.0</c:v>
                </c:pt>
                <c:pt idx="45">
                  <c:v>4.0</c:v>
                </c:pt>
                <c:pt idx="46">
                  <c:v>4.0</c:v>
                </c:pt>
                <c:pt idx="47">
                  <c:v>4.0</c:v>
                </c:pt>
                <c:pt idx="48">
                  <c:v>4.0</c:v>
                </c:pt>
                <c:pt idx="49">
                  <c:v>4.0</c:v>
                </c:pt>
                <c:pt idx="50">
                  <c:v>4.0</c:v>
                </c:pt>
                <c:pt idx="51">
                  <c:v>4.0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472"/>
                </a:solidFill>
                <a:latin typeface="Arial"/>
              </a:defRPr>
            </a:pPr>
            <a:endParaRPr lang="en-US"/>
          </a:p>
        </c:txPr>
        <c:crossAx val="2094734552"/>
        <c:crosses val="autoZero"/>
        <c:auto val="1"/>
        <c:lblAlgn val="ctr"/>
        <c:noMultiLvlLbl val="1"/>
        <c:tickLblSkip val="4"/>
      </c:catAx>
      <c:valAx>
        <c:axId val="2094734552"/>
        <c:scaling>
          <c:orientation val="minMax"/>
        </c:scaling>
        <c:delete val="0"/>
        <c:axPos val="l"/>
        <c:majorGridlines>
          <c:spPr>
            <a:ln w="9525" cap="flat">
              <a:solidFill>
                <a:srgbClr val="D8E1EA"/>
              </a:solidFill>
              <a:prstDash val="solid"/>
              <a:round/>
            </a:ln>
          </c:spPr>
        </c:majorGridlines>
        <c:title>
          <c:tx>
            <c:rich>
              <a:bodyPr/>
              <a:lstStyle/>
              <a:p>
                <a:pPr>
                  <a:defRPr sz="1100" b="0" i="0" u="none" strike="noStrike">
                    <a:solidFill>
                      <a:srgbClr val="5B6472"/>
                    </a:solidFill>
                    <a:latin typeface="Arial"/>
                  </a:defRPr>
                </a:pPr>
                <a:r>
                  <a:rPr sz="1100" b="0" i="0" u="none" strike="noStrike">
                    <a:solidFill>
                      <a:srgbClr val="5B6472"/>
                    </a:solidFill>
                    <a:latin typeface="Arial"/>
                  </a:rPr>
                  <a:t>hours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7"/>
                </a:solidFill>
                <a:latin typeface="Arial"/>
              </a:defRPr>
            </a:pPr>
            <a:r>
              <a:rPr sz="1400" b="0" i="0" u="none" strike="noStrike">
                <a:solidFill>
                  <a:srgbClr val="1B1F27"/>
                </a:solidFill>
                <a:latin typeface="Arial"/>
              </a:rPr>
              <a:t>Prairie — nurse response median (h), weeks 40–52</a:t>
            </a:r>
          </a:p>
        </c:rich>
      </c:tx>
      <c:layout/>
      <c:overlay val="0"/>
    </c:title>
    <c:autoTitleDeleted val="0"/>
    <c:plotArea>
      <c:layout/>
      <c:lineChart>
        <c:varyColors val="0"/>
        <c:ser>
          <c:idx val="0"/>
          <c:order val="0"/>
          <c:tx>
            <c:strRef>
              <c:f>Sheet1!$B$1</c:f>
              <c:strCache>
                <c:ptCount val="1"/>
                <c:pt idx="0">
                  <c:v>With new deployments</c:v>
                </c:pt>
              </c:strCache>
            </c:strRef>
          </c:tx>
          <c:spPr>
            <a:solidFill>
              <a:srgbClr val="065A82"/>
            </a:solidFill>
            <a:ln w="31750" cap="flat">
              <a:solidFill>
                <a:srgbClr val="065A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65A82"/>
              </a:solidFill>
              <a:ln w="9525" cap="flat">
                <a:solidFill>
                  <a:srgbClr val="065A82"/>
                </a:solidFill>
                <a:prstDash val="solid"/>
                <a:round/>
              </a:ln>
              <a:effectLst/>
            </c:spPr>
          </c:marker>
          <c:cat>
            <c:strRef>
              <c:f>Sheet1!$A$2:$A$14</c:f>
              <c:strCache>
                <c:ptCount val="13"/>
                <c:pt idx="0">
                  <c:v>40</c:v>
                </c:pt>
                <c:pt idx="1">
                  <c:v>41</c:v>
                </c:pt>
                <c:pt idx="2">
                  <c:v>42</c:v>
                </c:pt>
                <c:pt idx="3">
                  <c:v>43</c:v>
                </c:pt>
                <c:pt idx="4">
                  <c:v>44</c:v>
                </c:pt>
                <c:pt idx="5">
                  <c:v>45</c:v>
                </c:pt>
                <c:pt idx="6">
                  <c:v>46</c:v>
                </c:pt>
                <c:pt idx="7">
                  <c:v>47</c:v>
                </c:pt>
                <c:pt idx="8">
                  <c:v>48</c:v>
                </c:pt>
                <c:pt idx="9">
                  <c:v>49</c:v>
                </c:pt>
                <c:pt idx="10">
                  <c:v>50</c:v>
                </c:pt>
                <c:pt idx="11">
                  <c:v>51</c:v>
                </c:pt>
                <c:pt idx="12">
                  <c:v>52</c:v>
                </c:pt>
              </c:strCache>
            </c:strRef>
          </c:cat>
          <c:val>
            <c:numRef>
              <c:f>Sheet1!$B$2:$B$14</c:f>
              <c:numCache>
                <c:formatCode>General</c:formatCode>
                <c:ptCount val="13"/>
                <c:pt idx="0">
                  <c:v>30.8</c:v>
                </c:pt>
                <c:pt idx="1">
                  <c:v>30.8</c:v>
                </c:pt>
                <c:pt idx="2">
                  <c:v>30.8</c:v>
                </c:pt>
                <c:pt idx="3">
                  <c:v>30.8</c:v>
                </c:pt>
                <c:pt idx="4">
                  <c:v>30.8</c:v>
                </c:pt>
                <c:pt idx="5">
                  <c:v>41.2</c:v>
                </c:pt>
                <c:pt idx="6">
                  <c:v>41.2</c:v>
                </c:pt>
                <c:pt idx="7">
                  <c:v>41.2</c:v>
                </c:pt>
                <c:pt idx="8">
                  <c:v>41.2</c:v>
                </c:pt>
                <c:pt idx="9">
                  <c:v>56.7</c:v>
                </c:pt>
                <c:pt idx="10">
                  <c:v>56.7</c:v>
                </c:pt>
                <c:pt idx="11">
                  <c:v>56.7</c:v>
                </c:pt>
                <c:pt idx="12">
                  <c:v>56.7</c:v>
                </c:pt>
              </c:numCache>
            </c:numRef>
          </c:val>
          <c:smooth val="0"/>
        </c:ser>
        <c:ser>
          <c:idx val="1"/>
          <c:order val="1"/>
          <c:tx>
            <c:strRef>
              <c:f>Sheet1!$C$1</c:f>
              <c:strCache>
                <c:ptCount val="1"/>
                <c:pt idx="0">
                  <c:v>Without new deployments</c:v>
                </c:pt>
              </c:strCache>
            </c:strRef>
          </c:tx>
          <c:spPr>
            <a:solidFill>
              <a:srgbClr val="B3261E"/>
            </a:solidFill>
            <a:ln w="31750" cap="flat">
              <a:solidFill>
                <a:srgbClr val="B3261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3261E"/>
              </a:solidFill>
              <a:ln w="9525" cap="flat">
                <a:solidFill>
                  <a:srgbClr val="B3261E"/>
                </a:solidFill>
                <a:prstDash val="solid"/>
                <a:round/>
              </a:ln>
              <a:effectLst/>
            </c:spPr>
          </c:marker>
          <c:cat>
            <c:strRef>
              <c:f>Sheet1!$A$2:$A$14</c:f>
              <c:strCache>
                <c:ptCount val="13"/>
                <c:pt idx="0">
                  <c:v>40</c:v>
                </c:pt>
                <c:pt idx="1">
                  <c:v>41</c:v>
                </c:pt>
                <c:pt idx="2">
                  <c:v>42</c:v>
                </c:pt>
                <c:pt idx="3">
                  <c:v>43</c:v>
                </c:pt>
                <c:pt idx="4">
                  <c:v>44</c:v>
                </c:pt>
                <c:pt idx="5">
                  <c:v>45</c:v>
                </c:pt>
                <c:pt idx="6">
                  <c:v>46</c:v>
                </c:pt>
                <c:pt idx="7">
                  <c:v>47</c:v>
                </c:pt>
                <c:pt idx="8">
                  <c:v>48</c:v>
                </c:pt>
                <c:pt idx="9">
                  <c:v>49</c:v>
                </c:pt>
                <c:pt idx="10">
                  <c:v>50</c:v>
                </c:pt>
                <c:pt idx="11">
                  <c:v>51</c:v>
                </c:pt>
                <c:pt idx="12">
                  <c:v>52</c:v>
                </c:pt>
              </c:strCache>
            </c:strRef>
          </c:cat>
          <c:val>
            <c:numRef>
              <c:f>Sheet1!$C$2:$C$14</c:f>
              <c:numCache>
                <c:formatCode>General</c:formatCode>
                <c:ptCount val="13"/>
                <c:pt idx="0">
                  <c:v>336.0</c:v>
                </c:pt>
                <c:pt idx="1">
                  <c:v>336.0</c:v>
                </c:pt>
                <c:pt idx="2">
                  <c:v>336.0</c:v>
                </c:pt>
                <c:pt idx="3">
                  <c:v>336.0</c:v>
                </c:pt>
                <c:pt idx="4">
                  <c:v>336.0</c:v>
                </c:pt>
                <c:pt idx="5">
                  <c:v>336.0</c:v>
                </c:pt>
                <c:pt idx="6">
                  <c:v>336.0</c:v>
                </c:pt>
                <c:pt idx="7">
                  <c:v>336.0</c:v>
                </c:pt>
                <c:pt idx="8">
                  <c:v>336.0</c:v>
                </c:pt>
                <c:pt idx="9">
                  <c:v>336.0</c:v>
                </c:pt>
                <c:pt idx="10">
                  <c:v>336.0</c:v>
                </c:pt>
                <c:pt idx="11">
                  <c:v>336.0</c:v>
                </c:pt>
                <c:pt idx="12">
                  <c:v>336.0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472"/>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8E1EA"/>
              </a:solidFill>
              <a:prstDash val="solid"/>
              <a:round/>
            </a:ln>
          </c:spPr>
        </c:majorGridlines>
        <c:title>
          <c:tx>
            <c:rich>
              <a:bodyPr/>
              <a:lstStyle/>
              <a:p>
                <a:pPr>
                  <a:defRPr sz="1100" b="0" i="0" u="none" strike="noStrike">
                    <a:solidFill>
                      <a:srgbClr val="5B6472"/>
                    </a:solidFill>
                    <a:latin typeface="Arial"/>
                  </a:defRPr>
                </a:pPr>
                <a:r>
                  <a:rPr sz="1100" b="0" i="0" u="none" strike="noStrike">
                    <a:solidFill>
                      <a:srgbClr val="5B6472"/>
                    </a:solidFill>
                    <a:latin typeface="Arial"/>
                  </a:rPr>
                  <a:t>hours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2"/>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B1F27"/>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room will do in 75 minutes. Land it before the email goes up: everything that follows is the same case, run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aloud, cold, and nothing else. Let the room sit with it before anyone says a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Prairie got impressed. Her agent pulled the engagement numbers herself, on her own schedule — Northline built the tools, Prairie's analyst ran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run takes about five minutes; roughly half of it is the classification step. Talk through the wait — that pause is where half the teaching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decisions, one at a time, voted by the room during /northline-deploy triage. Each has a Northline default; say so, and don't let the room take all four without a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per click, during the board meeting. Toggle “Sign Prairie” on the presenting team's own numbers while they answer. Read them one at a time; do not show all five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readings went up tenfold and engagement hit 78%, and the same motion that produced those numbers produced this table. The agent didn't remove the bottleneck — it moved it from patients not being reached to nurses not being able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184 is below 190, and the prompt applies the number literally. Nobody wrote a bug — a room raised a threshold because it sounded cautious in a meeting, and a real patient's reading fell under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queue number gets better in a day. Read the last row before anyone celebrates the rest of the table. Numbers from a triage deployment made with the 190/115 decisions on this laptop; your room's numbers will differ. Show the live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is marked "draft": illustrative, not a clinician's sign-off. Good enough to argue about in a workshop, not good enough to route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contract, same 100,000 patients, two very different lines — and the only thing that moved between them is a prompt four people voted on this afternoon. Numbers from a triage deployment made with the 190/115 decisions on this laptop; your room's numbers will differ. Show the live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highlighted row is the whole lesson. The customer saw the outcomes. Nobody showed them the queue, because nobody built a tool that answers that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this one line. It is the reason the four decisions on slide 6 have no universal right answer — only a market that is or isn't willing to accept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you watched happen today is a committed file in your own folder. Nothing here needs the network except the two model calls — go rerun them on your own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164592"/>
            <a:ext cx="11094415" cy="274320"/>
          </a:xfrm>
          <a:prstGeom prst="rect">
            <a:avLst/>
          </a:prstGeom>
          <a:noFill/>
        </p:spPr>
        <p:txBody>
          <a:bodyPr wrap="square" lIns="0" rIns="0" tIns="0" bIns="0">
            <a:spAutoFit/>
          </a:bodyPr>
          <a:lstStyle/>
          <a:p>
            <a:r>
              <a:rPr sz="1200" b="1">
                <a:solidFill>
                  <a:srgbClr val="1C7293"/>
                </a:solidFill>
                <a:latin typeface="Calibri"/>
              </a:rPr>
              <a:t>BEFORE WE START</a:t>
            </a:r>
          </a:p>
        </p:txBody>
      </p:sp>
      <p:sp>
        <p:nvSpPr>
          <p:cNvPr id="3" name="TextBox 2"/>
          <p:cNvSpPr txBox="1"/>
          <p:nvPr/>
        </p:nvSpPr>
        <p:spPr>
          <a:xfrm>
            <a:off x="548640" y="411480"/>
            <a:ext cx="11094415" cy="822960"/>
          </a:xfrm>
          <a:prstGeom prst="rect">
            <a:avLst/>
          </a:prstGeom>
          <a:noFill/>
        </p:spPr>
        <p:txBody>
          <a:bodyPr wrap="square" lIns="0" rIns="0" tIns="0" bIns="0">
            <a:spAutoFit/>
          </a:bodyPr>
          <a:lstStyle/>
          <a:p>
            <a:r>
              <a:rPr sz="3200" b="1">
                <a:solidFill>
                  <a:srgbClr val="1B1F27"/>
                </a:solidFill>
                <a:latin typeface="Cambria"/>
              </a:rPr>
              <a:t>Three things, then wait for us</a:t>
            </a:r>
          </a:p>
        </p:txBody>
      </p:sp>
      <p:sp>
        <p:nvSpPr>
          <p:cNvPr id="4" name="Rounded Rectangle 3"/>
          <p:cNvSpPr/>
          <p:nvPr/>
        </p:nvSpPr>
        <p:spPr>
          <a:xfrm>
            <a:off x="548640" y="1554480"/>
            <a:ext cx="3535680" cy="2560320"/>
          </a:xfrm>
          <a:prstGeom prst="roundRect">
            <a:avLst>
              <a:gd name="adj" fmla="val 3400"/>
            </a:avLst>
          </a:prstGeom>
          <a:solidFill>
            <a:srgbClr val="F4F7FA"/>
          </a:solidFill>
          <a:ln w="9525">
            <a:solidFill>
              <a:srgbClr val="D8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783080"/>
            <a:ext cx="2987040" cy="457200"/>
          </a:xfrm>
          <a:prstGeom prst="rect">
            <a:avLst/>
          </a:prstGeom>
          <a:noFill/>
        </p:spPr>
        <p:txBody>
          <a:bodyPr wrap="square" lIns="0" rIns="0" tIns="0" bIns="0">
            <a:spAutoFit/>
          </a:bodyPr>
          <a:lstStyle/>
          <a:p>
            <a:r>
              <a:rPr sz="3000" b="1">
                <a:solidFill>
                  <a:srgbClr val="1C7293"/>
                </a:solidFill>
                <a:latin typeface="Cambria"/>
              </a:rPr>
              <a:t>1</a:t>
            </a:r>
          </a:p>
        </p:txBody>
      </p:sp>
      <p:sp>
        <p:nvSpPr>
          <p:cNvPr id="6" name="TextBox 5"/>
          <p:cNvSpPr txBox="1"/>
          <p:nvPr/>
        </p:nvSpPr>
        <p:spPr>
          <a:xfrm>
            <a:off x="822960" y="2331720"/>
            <a:ext cx="2987040" cy="411480"/>
          </a:xfrm>
          <a:prstGeom prst="rect">
            <a:avLst/>
          </a:prstGeom>
          <a:noFill/>
        </p:spPr>
        <p:txBody>
          <a:bodyPr wrap="square" lIns="0" rIns="0" tIns="0" bIns="0">
            <a:spAutoFit/>
          </a:bodyPr>
          <a:lstStyle/>
          <a:p>
            <a:r>
              <a:rPr sz="1900" b="1">
                <a:solidFill>
                  <a:srgbClr val="21295C"/>
                </a:solidFill>
                <a:latin typeface="Cambria"/>
              </a:rPr>
              <a:t>The Claude app</a:t>
            </a:r>
          </a:p>
        </p:txBody>
      </p:sp>
      <p:sp>
        <p:nvSpPr>
          <p:cNvPr id="7" name="TextBox 6"/>
          <p:cNvSpPr txBox="1"/>
          <p:nvPr/>
        </p:nvSpPr>
        <p:spPr>
          <a:xfrm>
            <a:off x="822960" y="2834640"/>
            <a:ext cx="2987040" cy="1188720"/>
          </a:xfrm>
          <a:prstGeom prst="rect">
            <a:avLst/>
          </a:prstGeom>
          <a:noFill/>
        </p:spPr>
        <p:txBody>
          <a:bodyPr wrap="square" lIns="0" rIns="0" tIns="0" bIns="0">
            <a:spAutoFit/>
          </a:bodyPr>
          <a:lstStyle/>
          <a:p>
            <a:pPr>
              <a:spcAft>
                <a:spcPts val="800"/>
              </a:spcAft>
            </a:pPr>
            <a:r>
              <a:rPr sz="1400">
                <a:solidFill>
                  <a:srgbClr val="5B6472"/>
                </a:solidFill>
                <a:latin typeface="Calibri"/>
              </a:rPr>
              <a:t>Install the Claude desktop app and sign in.</a:t>
            </a:r>
          </a:p>
          <a:p>
            <a:pPr>
              <a:spcAft>
                <a:spcPts val="800"/>
              </a:spcAft>
            </a:pPr>
            <a:r>
              <a:rPr sz="1400">
                <a:solidFill>
                  <a:srgbClr val="5B6472"/>
                </a:solidFill>
                <a:latin typeface="Calibri"/>
              </a:rPr>
              <a:t>Open the </a:t>
            </a:r>
            <a:r>
              <a:rPr sz="1300" b="1">
                <a:solidFill>
                  <a:srgbClr val="5B6472"/>
                </a:solidFill>
                <a:latin typeface="Consolas"/>
              </a:rPr>
              <a:t>Code</a:t>
            </a:r>
            <a:r>
              <a:rPr sz="1400">
                <a:solidFill>
                  <a:srgbClr val="5B6472"/>
                </a:solidFill>
                <a:latin typeface="Calibri"/>
              </a:rPr>
              <a:t> tab. Not New project.</a:t>
            </a:r>
          </a:p>
        </p:txBody>
      </p:sp>
      <p:sp>
        <p:nvSpPr>
          <p:cNvPr id="8" name="Rounded Rectangle 7"/>
          <p:cNvSpPr/>
          <p:nvPr/>
        </p:nvSpPr>
        <p:spPr>
          <a:xfrm>
            <a:off x="4328160" y="1554480"/>
            <a:ext cx="3535680" cy="2560320"/>
          </a:xfrm>
          <a:prstGeom prst="roundRect">
            <a:avLst>
              <a:gd name="adj" fmla="val 3400"/>
            </a:avLst>
          </a:prstGeom>
          <a:solidFill>
            <a:srgbClr val="F4F7FA"/>
          </a:solidFill>
          <a:ln w="9525">
            <a:solidFill>
              <a:srgbClr val="D8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02480" y="1783080"/>
            <a:ext cx="2987040" cy="457200"/>
          </a:xfrm>
          <a:prstGeom prst="rect">
            <a:avLst/>
          </a:prstGeom>
          <a:noFill/>
        </p:spPr>
        <p:txBody>
          <a:bodyPr wrap="square" lIns="0" rIns="0" tIns="0" bIns="0">
            <a:spAutoFit/>
          </a:bodyPr>
          <a:lstStyle/>
          <a:p>
            <a:r>
              <a:rPr sz="3000" b="1">
                <a:solidFill>
                  <a:srgbClr val="1C7293"/>
                </a:solidFill>
                <a:latin typeface="Cambria"/>
              </a:rPr>
              <a:t>2</a:t>
            </a:r>
          </a:p>
        </p:txBody>
      </p:sp>
      <p:sp>
        <p:nvSpPr>
          <p:cNvPr id="10" name="TextBox 9"/>
          <p:cNvSpPr txBox="1"/>
          <p:nvPr/>
        </p:nvSpPr>
        <p:spPr>
          <a:xfrm>
            <a:off x="4602480" y="2331720"/>
            <a:ext cx="2987040" cy="411480"/>
          </a:xfrm>
          <a:prstGeom prst="rect">
            <a:avLst/>
          </a:prstGeom>
          <a:noFill/>
        </p:spPr>
        <p:txBody>
          <a:bodyPr wrap="square" lIns="0" rIns="0" tIns="0" bIns="0">
            <a:spAutoFit/>
          </a:bodyPr>
          <a:lstStyle/>
          <a:p>
            <a:r>
              <a:rPr sz="1900" b="1">
                <a:solidFill>
                  <a:srgbClr val="21295C"/>
                </a:solidFill>
                <a:latin typeface="Cambria"/>
              </a:rPr>
              <a:t>The folder</a:t>
            </a:r>
          </a:p>
        </p:txBody>
      </p:sp>
      <p:sp>
        <p:nvSpPr>
          <p:cNvPr id="11" name="TextBox 10"/>
          <p:cNvSpPr txBox="1"/>
          <p:nvPr/>
        </p:nvSpPr>
        <p:spPr>
          <a:xfrm>
            <a:off x="4602480" y="2834640"/>
            <a:ext cx="2987040" cy="1188720"/>
          </a:xfrm>
          <a:prstGeom prst="rect">
            <a:avLst/>
          </a:prstGeom>
          <a:noFill/>
        </p:spPr>
        <p:txBody>
          <a:bodyPr wrap="square" lIns="0" rIns="0" tIns="0" bIns="0">
            <a:spAutoFit/>
          </a:bodyPr>
          <a:lstStyle/>
          <a:p>
            <a:pPr>
              <a:spcAft>
                <a:spcPts val="800"/>
              </a:spcAft>
            </a:pPr>
            <a:r>
              <a:rPr sz="1400">
                <a:solidFill>
                  <a:srgbClr val="5B6472"/>
                </a:solidFill>
                <a:latin typeface="Calibri"/>
              </a:rPr>
              <a:t>Open the link below, click </a:t>
            </a:r>
            <a:r>
              <a:rPr sz="1400" b="1">
                <a:solidFill>
                  <a:srgbClr val="5B6472"/>
                </a:solidFill>
                <a:latin typeface="Calibri"/>
              </a:rPr>
              <a:t>Code → Download ZIP</a:t>
            </a:r>
            <a:r>
              <a:rPr sz="1400">
                <a:solidFill>
                  <a:srgbClr val="5B6472"/>
                </a:solidFill>
                <a:latin typeface="Calibri"/>
              </a:rPr>
              <a:t>.</a:t>
            </a:r>
          </a:p>
          <a:p>
            <a:pPr>
              <a:spcAft>
                <a:spcPts val="800"/>
              </a:spcAft>
            </a:pPr>
            <a:r>
              <a:rPr sz="1400">
                <a:solidFill>
                  <a:srgbClr val="5B6472"/>
                </a:solidFill>
                <a:latin typeface="Calibri"/>
              </a:rPr>
              <a:t>Unzip it into your home folder.</a:t>
            </a:r>
          </a:p>
        </p:txBody>
      </p:sp>
      <p:sp>
        <p:nvSpPr>
          <p:cNvPr id="12" name="Rounded Rectangle 11"/>
          <p:cNvSpPr/>
          <p:nvPr/>
        </p:nvSpPr>
        <p:spPr>
          <a:xfrm>
            <a:off x="8107680" y="1554480"/>
            <a:ext cx="3535680" cy="2560320"/>
          </a:xfrm>
          <a:prstGeom prst="roundRect">
            <a:avLst>
              <a:gd name="adj" fmla="val 3400"/>
            </a:avLst>
          </a:prstGeom>
          <a:solidFill>
            <a:srgbClr val="F4F7FA"/>
          </a:solidFill>
          <a:ln w="9525">
            <a:solidFill>
              <a:srgbClr val="D8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82000" y="1783080"/>
            <a:ext cx="2987040" cy="457200"/>
          </a:xfrm>
          <a:prstGeom prst="rect">
            <a:avLst/>
          </a:prstGeom>
          <a:noFill/>
        </p:spPr>
        <p:txBody>
          <a:bodyPr wrap="square" lIns="0" rIns="0" tIns="0" bIns="0">
            <a:spAutoFit/>
          </a:bodyPr>
          <a:lstStyle/>
          <a:p>
            <a:r>
              <a:rPr sz="3000" b="1">
                <a:solidFill>
                  <a:srgbClr val="1C7293"/>
                </a:solidFill>
                <a:latin typeface="Cambria"/>
              </a:rPr>
              <a:t>3</a:t>
            </a:r>
          </a:p>
        </p:txBody>
      </p:sp>
      <p:sp>
        <p:nvSpPr>
          <p:cNvPr id="14" name="TextBox 13"/>
          <p:cNvSpPr txBox="1"/>
          <p:nvPr/>
        </p:nvSpPr>
        <p:spPr>
          <a:xfrm>
            <a:off x="8382000" y="2331720"/>
            <a:ext cx="2987040" cy="411480"/>
          </a:xfrm>
          <a:prstGeom prst="rect">
            <a:avLst/>
          </a:prstGeom>
          <a:noFill/>
        </p:spPr>
        <p:txBody>
          <a:bodyPr wrap="square" lIns="0" rIns="0" tIns="0" bIns="0">
            <a:spAutoFit/>
          </a:bodyPr>
          <a:lstStyle/>
          <a:p>
            <a:r>
              <a:rPr sz="1900" b="1">
                <a:solidFill>
                  <a:srgbClr val="21295C"/>
                </a:solidFill>
                <a:latin typeface="Cambria"/>
              </a:rPr>
              <a:t>/northline-setup</a:t>
            </a:r>
          </a:p>
        </p:txBody>
      </p:sp>
      <p:sp>
        <p:nvSpPr>
          <p:cNvPr id="15" name="TextBox 14"/>
          <p:cNvSpPr txBox="1"/>
          <p:nvPr/>
        </p:nvSpPr>
        <p:spPr>
          <a:xfrm>
            <a:off x="8382000" y="2834640"/>
            <a:ext cx="2987040" cy="1188720"/>
          </a:xfrm>
          <a:prstGeom prst="rect">
            <a:avLst/>
          </a:prstGeom>
          <a:noFill/>
        </p:spPr>
        <p:txBody>
          <a:bodyPr wrap="square" lIns="0" rIns="0" tIns="0" bIns="0">
            <a:spAutoFit/>
          </a:bodyPr>
          <a:lstStyle/>
          <a:p>
            <a:pPr>
              <a:spcAft>
                <a:spcPts val="800"/>
              </a:spcAft>
            </a:pPr>
            <a:r>
              <a:rPr sz="1400">
                <a:solidFill>
                  <a:srgbClr val="5B6472"/>
                </a:solidFill>
                <a:latin typeface="Calibri"/>
              </a:rPr>
              <a:t>In the Code tab, open the </a:t>
            </a:r>
            <a:r>
              <a:rPr sz="1300" b="1">
                <a:solidFill>
                  <a:srgbClr val="5B6472"/>
                </a:solidFill>
                <a:latin typeface="Consolas"/>
              </a:rPr>
              <a:t>northline-course</a:t>
            </a:r>
            <a:r>
              <a:rPr sz="1400">
                <a:solidFill>
                  <a:srgbClr val="5B6472"/>
                </a:solidFill>
                <a:latin typeface="Calibri"/>
              </a:rPr>
              <a:t> folder.</a:t>
            </a:r>
          </a:p>
          <a:p>
            <a:pPr>
              <a:spcAft>
                <a:spcPts val="800"/>
              </a:spcAft>
            </a:pPr>
            <a:r>
              <a:rPr sz="1400">
                <a:solidFill>
                  <a:srgbClr val="5B6472"/>
                </a:solidFill>
                <a:latin typeface="Calibri"/>
              </a:rPr>
              <a:t>Type </a:t>
            </a:r>
            <a:r>
              <a:rPr sz="1300" b="1">
                <a:solidFill>
                  <a:srgbClr val="5B6472"/>
                </a:solidFill>
                <a:latin typeface="Consolas"/>
              </a:rPr>
              <a:t>/northline-setup</a:t>
            </a:r>
            <a:r>
              <a:rPr sz="1400">
                <a:solidFill>
                  <a:srgbClr val="5B6472"/>
                </a:solidFill>
                <a:latin typeface="Calibri"/>
              </a:rPr>
              <a:t> in the chat.</a:t>
            </a:r>
          </a:p>
          <a:p>
            <a:pPr>
              <a:spcAft>
                <a:spcPts val="800"/>
              </a:spcAft>
            </a:pPr>
            <a:r>
              <a:rPr sz="1400">
                <a:solidFill>
                  <a:srgbClr val="5B6472"/>
                </a:solidFill>
                <a:latin typeface="Calibri"/>
              </a:rPr>
              <a:t>Do what it says. Stop at </a:t>
            </a:r>
            <a:r>
              <a:rPr sz="1300" b="1">
                <a:solidFill>
                  <a:srgbClr val="5B6472"/>
                </a:solidFill>
                <a:latin typeface="Consolas"/>
              </a:rPr>
              <a:t>READY</a:t>
            </a:r>
            <a:r>
              <a:rPr sz="1400">
                <a:solidFill>
                  <a:srgbClr val="5B6472"/>
                </a:solidFill>
                <a:latin typeface="Calibri"/>
              </a:rPr>
              <a:t>.</a:t>
            </a:r>
          </a:p>
        </p:txBody>
      </p:sp>
      <p:sp>
        <p:nvSpPr>
          <p:cNvPr id="16" name="Rounded Rectangle 15"/>
          <p:cNvSpPr/>
          <p:nvPr/>
        </p:nvSpPr>
        <p:spPr>
          <a:xfrm>
            <a:off x="548640" y="4480560"/>
            <a:ext cx="11094415" cy="1005840"/>
          </a:xfrm>
          <a:prstGeom prst="roundRect">
            <a:avLst>
              <a:gd name="adj" fmla="val 34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608576"/>
            <a:ext cx="10454320" cy="320040"/>
          </a:xfrm>
          <a:prstGeom prst="rect">
            <a:avLst/>
          </a:prstGeom>
          <a:noFill/>
        </p:spPr>
        <p:txBody>
          <a:bodyPr wrap="square" lIns="0" rIns="0" tIns="0" bIns="0">
            <a:spAutoFit/>
          </a:bodyPr>
          <a:lstStyle/>
          <a:p>
            <a:r>
              <a:rPr sz="1100" b="1">
                <a:solidFill>
                  <a:srgbClr val="CADCFC"/>
                </a:solidFill>
                <a:latin typeface="Calibri"/>
              </a:rPr>
              <a:t>The folder</a:t>
            </a:r>
          </a:p>
        </p:txBody>
      </p:sp>
      <p:sp>
        <p:nvSpPr>
          <p:cNvPr id="18" name="TextBox 17"/>
          <p:cNvSpPr txBox="1"/>
          <p:nvPr/>
        </p:nvSpPr>
        <p:spPr>
          <a:xfrm>
            <a:off x="868680" y="4882896"/>
            <a:ext cx="10454320" cy="457200"/>
          </a:xfrm>
          <a:prstGeom prst="rect">
            <a:avLst/>
          </a:prstGeom>
          <a:noFill/>
        </p:spPr>
        <p:txBody>
          <a:bodyPr wrap="square" lIns="0" rIns="0" tIns="0" bIns="0">
            <a:spAutoFit/>
          </a:bodyPr>
          <a:lstStyle/>
          <a:p>
            <a:r>
              <a:rPr sz="2200" b="1">
                <a:solidFill>
                  <a:srgbClr val="FFFFFF"/>
                </a:solidFill>
                <a:latin typeface="Consolas"/>
              </a:rPr>
              <a:t>github.com/anthonymorrisjohnson/northline-course</a:t>
            </a:r>
          </a:p>
        </p:txBody>
      </p:sp>
      <p:sp>
        <p:nvSpPr>
          <p:cNvPr id="19" name="TextBox 18"/>
          <p:cNvSpPr txBox="1"/>
          <p:nvPr/>
        </p:nvSpPr>
        <p:spPr>
          <a:xfrm>
            <a:off x="9265615" y="6400800"/>
            <a:ext cx="2377440" cy="274320"/>
          </a:xfrm>
          <a:prstGeom prst="rect">
            <a:avLst/>
          </a:prstGeom>
          <a:noFill/>
        </p:spPr>
        <p:txBody>
          <a:bodyPr wrap="square" lIns="0" rIns="0" tIns="0" bIns="0">
            <a:spAutoFit/>
          </a:bodyPr>
          <a:lstStyle/>
          <a:p>
            <a:pPr algn="r"/>
            <a:r>
              <a:rPr sz="1000">
                <a:solidFill>
                  <a:srgbClr val="5B6472"/>
                </a:solidFill>
                <a:latin typeface="Calibri"/>
              </a:rPr>
              <a:t>Northline Care  ·  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Text 0"/>
          <p:cNvSpPr txBox="1"/>
          <p:nvPr/>
        </p:nvSpPr>
        <p:spPr>
          <a:xfrm>
            <a:off x="548640" y="2148840"/>
            <a:ext cx="11094415" cy="1371600"/>
          </a:xfrm>
          <a:prstGeom prst="rect">
            <a:avLst/>
          </a:prstGeom>
          <a:noFill/>
          <a:ln/>
        </p:spPr>
        <p:txBody>
          <a:bodyPr wrap="square" lIns="0" tIns="0" rIns="0" bIns="0" rtlCol="0" anchor="ctr"/>
          <a:lstStyle/>
          <a:p>
            <a:pPr algn="l" indent="0" marL="0">
              <a:buNone/>
            </a:pPr>
            <a:r>
              <a:rPr lang="en-US" sz="4400" b="1" dirty="0">
                <a:solidFill>
                  <a:srgbClr val="FFFFFF"/>
                </a:solidFill>
                <a:latin typeface="Cambria" pitchFamily="34" charset="0"/>
                <a:ea typeface="Cambria" pitchFamily="34" charset="-122"/>
                <a:cs typeface="Cambria" pitchFamily="34" charset="-120"/>
              </a:rPr>
              <a:t>MOVING THE BOTTLENECK, LIVE</a:t>
            </a:r>
            <a:endParaRPr lang="en-US" sz="4400" dirty="0"/>
          </a:p>
        </p:txBody>
      </p:sp>
      <p:sp>
        <p:nvSpPr>
          <p:cNvPr id="3" name="Text 1"/>
          <p:cNvSpPr txBox="1"/>
          <p:nvPr/>
        </p:nvSpPr>
        <p:spPr>
          <a:xfrm>
            <a:off x="548640" y="3246120"/>
            <a:ext cx="11094415" cy="548640"/>
          </a:xfrm>
          <a:prstGeom prst="rect">
            <a:avLst/>
          </a:prstGeom>
          <a:noFill/>
          <a:ln/>
        </p:spPr>
        <p:txBody>
          <a:bodyPr wrap="square" lIns="0" tIns="0" rIns="0" bIns="0" rtlCol="0" anchor="ctr"/>
          <a:lstStyle/>
          <a:p>
            <a:pPr algn="l" indent="0" marL="0">
              <a:buNone/>
            </a:pPr>
            <a:r>
              <a:rPr lang="en-US" sz="1800" i="1" dirty="0">
                <a:solidFill>
                  <a:srgbClr val="CADCFC"/>
                </a:solidFill>
                <a:latin typeface="Calibri" pitchFamily="34" charset="0"/>
                <a:ea typeface="Calibri" pitchFamily="34" charset="-122"/>
                <a:cs typeface="Calibri" pitchFamily="34" charset="-120"/>
              </a:rPr>
              <a:t>Northline Care — AI, operations, and the business model underneath it</a:t>
            </a:r>
            <a:endParaRPr lang="en-US" sz="1800" dirty="0"/>
          </a:p>
        </p:txBody>
      </p:sp>
      <p:sp>
        <p:nvSpPr>
          <p:cNvPr id="4" name="Shape 2"/>
          <p:cNvSpPr/>
          <p:nvPr/>
        </p:nvSpPr>
        <p:spPr>
          <a:xfrm>
            <a:off x="548640" y="4206240"/>
            <a:ext cx="3454298" cy="1463040"/>
          </a:xfrm>
          <a:prstGeom prst="roundRect">
            <a:avLst>
              <a:gd name="adj" fmla="val 5000"/>
            </a:avLst>
          </a:prstGeom>
          <a:solidFill>
            <a:srgbClr val="1B2350"/>
          </a:solidFill>
          <a:ln w="12700">
            <a:solidFill>
              <a:srgbClr val="1C7293"/>
            </a:solidFill>
            <a:prstDash val="solid"/>
          </a:ln>
        </p:spPr>
        <p:txBody>
          <a:bodyPr/>
          <a:p/>
        </p:txBody>
      </p:sp>
      <p:sp>
        <p:nvSpPr>
          <p:cNvPr id="5" name="Text 3"/>
          <p:cNvSpPr txBox="1"/>
          <p:nvPr/>
        </p:nvSpPr>
        <p:spPr>
          <a:xfrm>
            <a:off x="777240" y="4370832"/>
            <a:ext cx="2997098" cy="50292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75 minutes</a:t>
            </a:r>
            <a:endParaRPr lang="en-US" sz="2400" dirty="0"/>
          </a:p>
        </p:txBody>
      </p:sp>
      <p:sp>
        <p:nvSpPr>
          <p:cNvPr id="6" name="Text 4"/>
          <p:cNvSpPr txBox="1"/>
          <p:nvPr/>
        </p:nvSpPr>
        <p:spPr>
          <a:xfrm>
            <a:off x="777240" y="4892040"/>
            <a:ext cx="2997098" cy="6858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paper case, live tools, a board meeting</a:t>
            </a:r>
            <a:endParaRPr lang="en-US" sz="1250" dirty="0"/>
          </a:p>
        </p:txBody>
      </p:sp>
      <p:sp>
        <p:nvSpPr>
          <p:cNvPr id="7" name="Shape 5"/>
          <p:cNvSpPr/>
          <p:nvPr/>
        </p:nvSpPr>
        <p:spPr>
          <a:xfrm>
            <a:off x="4368698" y="4206240"/>
            <a:ext cx="3454298" cy="1463040"/>
          </a:xfrm>
          <a:prstGeom prst="roundRect">
            <a:avLst>
              <a:gd name="adj" fmla="val 5000"/>
            </a:avLst>
          </a:prstGeom>
          <a:solidFill>
            <a:srgbClr val="1B2350"/>
          </a:solidFill>
          <a:ln w="12700">
            <a:solidFill>
              <a:srgbClr val="1C7293"/>
            </a:solidFill>
            <a:prstDash val="solid"/>
          </a:ln>
        </p:spPr>
        <p:txBody>
          <a:bodyPr/>
          <a:p/>
        </p:txBody>
      </p:sp>
      <p:sp>
        <p:nvSpPr>
          <p:cNvPr id="8" name="Text 6"/>
          <p:cNvSpPr txBox="1"/>
          <p:nvPr/>
        </p:nvSpPr>
        <p:spPr>
          <a:xfrm>
            <a:off x="4597298" y="4370832"/>
            <a:ext cx="2997098" cy="50292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Two roles</a:t>
            </a:r>
            <a:endParaRPr lang="en-US" sz="2400" dirty="0"/>
          </a:p>
        </p:txBody>
      </p:sp>
      <p:sp>
        <p:nvSpPr>
          <p:cNvPr id="9" name="Text 7"/>
          <p:cNvSpPr txBox="1"/>
          <p:nvPr/>
        </p:nvSpPr>
        <p:spPr>
          <a:xfrm>
            <a:off x="4597298" y="4892040"/>
            <a:ext cx="2997098" cy="6858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Room reads and asks; Screen drives the machine</a:t>
            </a:r>
            <a:endParaRPr lang="en-US" sz="1250" dirty="0"/>
          </a:p>
        </p:txBody>
      </p:sp>
      <p:sp>
        <p:nvSpPr>
          <p:cNvPr id="10" name="Shape 8"/>
          <p:cNvSpPr/>
          <p:nvPr/>
        </p:nvSpPr>
        <p:spPr>
          <a:xfrm>
            <a:off x="8188757" y="4206240"/>
            <a:ext cx="3454298" cy="1463040"/>
          </a:xfrm>
          <a:prstGeom prst="roundRect">
            <a:avLst>
              <a:gd name="adj" fmla="val 5000"/>
            </a:avLst>
          </a:prstGeom>
          <a:solidFill>
            <a:srgbClr val="1B2350"/>
          </a:solidFill>
          <a:ln w="12700">
            <a:solidFill>
              <a:srgbClr val="1C7293"/>
            </a:solidFill>
            <a:prstDash val="solid"/>
          </a:ln>
        </p:spPr>
        <p:txBody>
          <a:bodyPr/>
          <a:p/>
        </p:txBody>
      </p:sp>
      <p:sp>
        <p:nvSpPr>
          <p:cNvPr id="11" name="Text 9"/>
          <p:cNvSpPr txBox="1"/>
          <p:nvPr/>
        </p:nvSpPr>
        <p:spPr>
          <a:xfrm>
            <a:off x="8417357" y="4370832"/>
            <a:ext cx="2997098" cy="50292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Two commands</a:t>
            </a:r>
            <a:endParaRPr lang="en-US" sz="2400" dirty="0"/>
          </a:p>
        </p:txBody>
      </p:sp>
      <p:sp>
        <p:nvSpPr>
          <p:cNvPr id="12" name="Text 10"/>
          <p:cNvSpPr txBox="1"/>
          <p:nvPr/>
        </p:nvSpPr>
        <p:spPr>
          <a:xfrm>
            <a:off x="8417357" y="4892040"/>
            <a:ext cx="2997098" cy="6858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/northline-pm-run and /northline-deploy triage, all session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C</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The Monday email</a:t>
            </a:r>
            <a:endParaRPr lang="en-US" sz="3200" dirty="0"/>
          </a:p>
        </p:txBody>
      </p:sp>
      <p:sp>
        <p:nvSpPr>
          <p:cNvPr id="4" name="Shape 2"/>
          <p:cNvSpPr/>
          <p:nvPr/>
        </p:nvSpPr>
        <p:spPr>
          <a:xfrm>
            <a:off x="1554480" y="1417320"/>
            <a:ext cx="9082735" cy="4892040"/>
          </a:xfrm>
          <a:prstGeom prst="roundRect">
            <a:avLst>
              <a:gd name="adj" fmla="val 935"/>
            </a:avLst>
          </a:prstGeom>
          <a:solidFill>
            <a:srgbClr val="F4F7FA"/>
          </a:solidFill>
          <a:ln w="12700">
            <a:solidFill>
              <a:srgbClr val="D8E1EA"/>
            </a:solidFill>
            <a:prstDash val="solid"/>
          </a:ln>
          <a:effectLst>
            <a:outerShdw sx="100000" sy="100000" kx="0" ky="0" algn="bl" rotWithShape="0" blurRad="127000" dist="38100" dir="5400000">
              <a:srgbClr val="9AA7B5">
                <a:alpha val="35000"/>
              </a:srgbClr>
            </a:outerShdw>
          </a:effectLst>
        </p:spPr>
        <p:txBody>
          <a:bodyPr/>
          <a:p/>
        </p:txBody>
      </p:sp>
      <p:sp>
        <p:nvSpPr>
          <p:cNvPr id="5" name="Text 3"/>
          <p:cNvSpPr txBox="1"/>
          <p:nvPr/>
        </p:nvSpPr>
        <p:spPr>
          <a:xfrm>
            <a:off x="2011680" y="1691640"/>
            <a:ext cx="8168335" cy="320040"/>
          </a:xfrm>
          <a:prstGeom prst="rect">
            <a:avLst/>
          </a:prstGeom>
          <a:noFill/>
          <a:ln/>
        </p:spPr>
        <p:txBody>
          <a:bodyPr wrap="square" lIns="0" tIns="0" rIns="0" bIns="0" rtlCol="0" anchor="ctr"/>
          <a:lstStyle/>
          <a:p>
            <a:pPr indent="0" marL="0">
              <a:buNone/>
            </a:pPr>
            <a:r>
              <a:rPr lang="en-US" sz="1350" b="1" dirty="0">
                <a:solidFill>
                  <a:srgbClr val="5B6472"/>
                </a:solidFill>
                <a:latin typeface="Calibri" pitchFamily="34" charset="0"/>
                <a:ea typeface="Calibri" pitchFamily="34" charset="-122"/>
                <a:cs typeface="Calibri" pitchFamily="34" charset="-120"/>
              </a:rPr>
              <a:t>From:  </a:t>
            </a:r>
            <a:pPr indent="0" marL="0">
              <a:buNone/>
            </a:pPr>
            <a:r>
              <a:rPr lang="en-US" sz="1350" dirty="0">
                <a:solidFill>
                  <a:srgbClr val="1B1F27"/>
                </a:solidFill>
                <a:latin typeface="Calibri" pitchFamily="34" charset="0"/>
                <a:ea typeface="Calibri" pitchFamily="34" charset="-122"/>
                <a:cs typeface="Calibri" pitchFamily="34" charset="-120"/>
              </a:rPr>
              <a:t>VP Network Partnerships, Prairie Health Plan</a:t>
            </a:r>
            <a:endParaRPr lang="en-US" sz="1350" dirty="0"/>
          </a:p>
        </p:txBody>
      </p:sp>
      <p:sp>
        <p:nvSpPr>
          <p:cNvPr id="6" name="Text 4"/>
          <p:cNvSpPr txBox="1"/>
          <p:nvPr/>
        </p:nvSpPr>
        <p:spPr>
          <a:xfrm>
            <a:off x="2011680" y="2057400"/>
            <a:ext cx="8168335" cy="320040"/>
          </a:xfrm>
          <a:prstGeom prst="rect">
            <a:avLst/>
          </a:prstGeom>
          <a:noFill/>
          <a:ln/>
        </p:spPr>
        <p:txBody>
          <a:bodyPr wrap="square" lIns="0" tIns="0" rIns="0" bIns="0" rtlCol="0" anchor="ctr"/>
          <a:lstStyle/>
          <a:p>
            <a:pPr indent="0" marL="0">
              <a:buNone/>
            </a:pPr>
            <a:r>
              <a:rPr lang="en-US" sz="1350" b="1" dirty="0">
                <a:solidFill>
                  <a:srgbClr val="5B6472"/>
                </a:solidFill>
                <a:latin typeface="Calibri" pitchFamily="34" charset="0"/>
                <a:ea typeface="Calibri" pitchFamily="34" charset="-122"/>
                <a:cs typeface="Calibri" pitchFamily="34" charset="-120"/>
              </a:rPr>
              <a:t>To:  </a:t>
            </a:r>
            <a:pPr indent="0" marL="0">
              <a:buNone/>
            </a:pPr>
            <a:r>
              <a:rPr lang="en-US" sz="1350" dirty="0">
                <a:solidFill>
                  <a:srgbClr val="1B1F27"/>
                </a:solidFill>
                <a:latin typeface="Calibri" pitchFamily="34" charset="0"/>
                <a:ea typeface="Calibri" pitchFamily="34" charset="-122"/>
                <a:cs typeface="Calibri" pitchFamily="34" charset="-120"/>
              </a:rPr>
              <a:t>CEO, Northline Care</a:t>
            </a:r>
            <a:endParaRPr lang="en-US" sz="1350" dirty="0"/>
          </a:p>
        </p:txBody>
      </p:sp>
      <p:sp>
        <p:nvSpPr>
          <p:cNvPr id="7" name="Text 5"/>
          <p:cNvSpPr txBox="1"/>
          <p:nvPr/>
        </p:nvSpPr>
        <p:spPr>
          <a:xfrm>
            <a:off x="2011680" y="2423160"/>
            <a:ext cx="8168335" cy="320040"/>
          </a:xfrm>
          <a:prstGeom prst="rect">
            <a:avLst/>
          </a:prstGeom>
          <a:noFill/>
          <a:ln/>
        </p:spPr>
        <p:txBody>
          <a:bodyPr wrap="square" lIns="0" tIns="0" rIns="0" bIns="0" rtlCol="0" anchor="ctr"/>
          <a:lstStyle/>
          <a:p>
            <a:pPr indent="0" marL="0">
              <a:buNone/>
            </a:pPr>
            <a:r>
              <a:rPr lang="en-US" sz="1350" b="1" dirty="0">
                <a:solidFill>
                  <a:srgbClr val="5B6472"/>
                </a:solidFill>
                <a:latin typeface="Calibri" pitchFamily="34" charset="0"/>
                <a:ea typeface="Calibri" pitchFamily="34" charset="-122"/>
                <a:cs typeface="Calibri" pitchFamily="34" charset="-120"/>
              </a:rPr>
              <a:t>Subject:  </a:t>
            </a:r>
            <a:pPr indent="0" marL="0">
              <a:buNone/>
            </a:pPr>
            <a:r>
              <a:rPr lang="en-US" sz="1350" dirty="0">
                <a:solidFill>
                  <a:srgbClr val="1B1F27"/>
                </a:solidFill>
                <a:latin typeface="Calibri" pitchFamily="34" charset="0"/>
                <a:ea typeface="Calibri" pitchFamily="34" charset="-122"/>
                <a:cs typeface="Calibri" pitchFamily="34" charset="-120"/>
              </a:rPr>
              <a:t>Contract for signature, 60,000 members</a:t>
            </a:r>
            <a:endParaRPr lang="en-US" sz="1350" dirty="0"/>
          </a:p>
        </p:txBody>
      </p:sp>
      <p:sp>
        <p:nvSpPr>
          <p:cNvPr id="8" name="Shape 6"/>
          <p:cNvSpPr/>
          <p:nvPr/>
        </p:nvSpPr>
        <p:spPr>
          <a:xfrm>
            <a:off x="2011680" y="2834640"/>
            <a:ext cx="8168335" cy="0"/>
          </a:xfrm>
          <a:prstGeom prst="line">
            <a:avLst/>
          </a:prstGeom>
          <a:noFill/>
          <a:ln w="12700">
            <a:solidFill>
              <a:srgbClr val="D8E1EA"/>
            </a:solidFill>
            <a:prstDash val="solid"/>
          </a:ln>
        </p:spPr>
        <p:txBody>
          <a:bodyPr/>
          <a:p/>
        </p:txBody>
      </p:sp>
      <p:sp>
        <p:nvSpPr>
          <p:cNvPr id="9" name="Text 7"/>
          <p:cNvSpPr txBox="1"/>
          <p:nvPr/>
        </p:nvSpPr>
        <p:spPr>
          <a:xfrm>
            <a:off x="2011680" y="3108960"/>
            <a:ext cx="8168335" cy="2926080"/>
          </a:xfrm>
          <a:prstGeom prst="rect">
            <a:avLst/>
          </a:prstGeom>
          <a:noFill/>
          <a:ln/>
        </p:spPr>
        <p:txBody>
          <a:bodyPr wrap="square" lIns="0" tIns="0" rIns="0" bIns="0" rtlCol="0" anchor="t"/>
          <a:lstStyle/>
          <a:p>
            <a:pPr indent="0" marL="0">
              <a:lnSpc>
                <a:spcPct val="125000"/>
              </a:lnSpc>
              <a:buNone/>
            </a:pPr>
            <a:r>
              <a:rPr lang="en-US" sz="1700" i="1" dirty="0">
                <a:solidFill>
                  <a:srgbClr val="1B1F27"/>
                </a:solidFill>
                <a:latin typeface="Times New Roman" pitchFamily="34" charset="0"/>
                <a:ea typeface="Times New Roman" pitchFamily="34" charset="-122"/>
                <a:cs typeface="Times New Roman" pitchFamily="34" charset="-120"/>
              </a:rPr>
              <a:t>Good morning, Attached is the executed agreement from our side for chronic care management of 60,000 Medicare Advantage members across North Dakota, South Dakota, and Minnesota, at the rate we discussed. Go-live is 90 days from signature. We've been impressed by your engagement numbers. We do need your signature by Friday; after that we'll proceed with the other vendor in our process. Looking forward to working together.</a:t>
            </a:r>
            <a:endParaRPr lang="en-US" sz="1700" dirty="0"/>
          </a:p>
        </p:txBody>
      </p:sp>
      <p:sp>
        <p:nvSpPr>
          <p:cNvPr id="10" name="Text 8"/>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A</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Two front doors, one tool layer</a:t>
            </a:r>
            <a:endParaRPr lang="en-US" sz="3200" dirty="0"/>
          </a:p>
        </p:txBody>
      </p:sp>
      <p:sp>
        <p:nvSpPr>
          <p:cNvPr id="4" name="Shape 2"/>
          <p:cNvSpPr/>
          <p:nvPr/>
        </p:nvSpPr>
        <p:spPr>
          <a:xfrm>
            <a:off x="822960" y="1691640"/>
            <a:ext cx="3291840" cy="914400"/>
          </a:xfrm>
          <a:prstGeom prst="roundRect">
            <a:avLst>
              <a:gd name="adj" fmla="val 6000"/>
            </a:avLst>
          </a:prstGeom>
          <a:solidFill>
            <a:srgbClr val="F4F7FA"/>
          </a:solidFill>
          <a:ln w="19050">
            <a:solidFill>
              <a:srgbClr val="065A82"/>
            </a:solidFill>
            <a:prstDash val="solid"/>
          </a:ln>
        </p:spPr>
        <p:txBody>
          <a:bodyPr/>
          <a:p/>
        </p:txBody>
      </p:sp>
      <p:sp>
        <p:nvSpPr>
          <p:cNvPr id="5" name="Text 3"/>
          <p:cNvSpPr txBox="1"/>
          <p:nvPr/>
        </p:nvSpPr>
        <p:spPr>
          <a:xfrm>
            <a:off x="960120" y="178308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Patients</a:t>
            </a:r>
            <a:endParaRPr lang="en-US" sz="1500" dirty="0"/>
          </a:p>
        </p:txBody>
      </p:sp>
      <p:sp>
        <p:nvSpPr>
          <p:cNvPr id="6" name="Text 4"/>
          <p:cNvSpPr txBox="1"/>
          <p:nvPr/>
        </p:nvSpPr>
        <p:spPr>
          <a:xfrm>
            <a:off x="960120" y="222199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40,000 people, by SMS</a:t>
            </a:r>
            <a:endParaRPr lang="en-US" sz="1050" dirty="0"/>
          </a:p>
        </p:txBody>
      </p:sp>
      <p:sp>
        <p:nvSpPr>
          <p:cNvPr id="7" name="Shape 5"/>
          <p:cNvSpPr/>
          <p:nvPr/>
        </p:nvSpPr>
        <p:spPr>
          <a:xfrm>
            <a:off x="8076895" y="1691640"/>
            <a:ext cx="3291840" cy="914400"/>
          </a:xfrm>
          <a:prstGeom prst="roundRect">
            <a:avLst>
              <a:gd name="adj" fmla="val 6000"/>
            </a:avLst>
          </a:prstGeom>
          <a:solidFill>
            <a:srgbClr val="F4F7FA"/>
          </a:solidFill>
          <a:ln w="19050">
            <a:solidFill>
              <a:srgbClr val="065A82"/>
            </a:solidFill>
            <a:prstDash val="solid"/>
          </a:ln>
        </p:spPr>
        <p:txBody>
          <a:bodyPr/>
          <a:p/>
        </p:txBody>
      </p:sp>
      <p:sp>
        <p:nvSpPr>
          <p:cNvPr id="8" name="Text 6"/>
          <p:cNvSpPr txBox="1"/>
          <p:nvPr/>
        </p:nvSpPr>
        <p:spPr>
          <a:xfrm>
            <a:off x="8214055" y="178308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Prairie's analyst</a:t>
            </a:r>
            <a:endParaRPr lang="en-US" sz="1500" dirty="0"/>
          </a:p>
        </p:txBody>
      </p:sp>
      <p:sp>
        <p:nvSpPr>
          <p:cNvPr id="9" name="Text 7"/>
          <p:cNvSpPr txBox="1"/>
          <p:nvPr/>
        </p:nvSpPr>
        <p:spPr>
          <a:xfrm>
            <a:off x="8214055" y="222199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her own Claude Code</a:t>
            </a:r>
            <a:endParaRPr lang="en-US" sz="1050" dirty="0"/>
          </a:p>
        </p:txBody>
      </p:sp>
      <p:sp>
        <p:nvSpPr>
          <p:cNvPr id="10" name="Shape 8"/>
          <p:cNvSpPr/>
          <p:nvPr/>
        </p:nvSpPr>
        <p:spPr>
          <a:xfrm>
            <a:off x="2468880" y="2606040"/>
            <a:ext cx="0" cy="548640"/>
          </a:xfrm>
          <a:prstGeom prst="line">
            <a:avLst/>
          </a:prstGeom>
          <a:noFill/>
          <a:ln w="25400">
            <a:solidFill>
              <a:srgbClr val="065A82"/>
            </a:solidFill>
            <a:prstDash val="solid"/>
            <a:tailEnd type="triangle"/>
          </a:ln>
        </p:spPr>
        <p:txBody>
          <a:bodyPr/>
          <a:p/>
        </p:txBody>
      </p:sp>
      <p:sp>
        <p:nvSpPr>
          <p:cNvPr id="11" name="Shape 9"/>
          <p:cNvSpPr/>
          <p:nvPr/>
        </p:nvSpPr>
        <p:spPr>
          <a:xfrm>
            <a:off x="9722815" y="2606040"/>
            <a:ext cx="0" cy="548640"/>
          </a:xfrm>
          <a:prstGeom prst="line">
            <a:avLst/>
          </a:prstGeom>
          <a:noFill/>
          <a:ln w="25400">
            <a:solidFill>
              <a:srgbClr val="065A82"/>
            </a:solidFill>
            <a:prstDash val="solid"/>
            <a:tailEnd type="triangle"/>
          </a:ln>
        </p:spPr>
        <p:txBody>
          <a:bodyPr/>
          <a:p/>
        </p:txBody>
      </p:sp>
      <p:sp>
        <p:nvSpPr>
          <p:cNvPr id="12" name="Shape 10"/>
          <p:cNvSpPr/>
          <p:nvPr/>
        </p:nvSpPr>
        <p:spPr>
          <a:xfrm>
            <a:off x="822960" y="3154680"/>
            <a:ext cx="3291840" cy="914400"/>
          </a:xfrm>
          <a:prstGeom prst="roundRect">
            <a:avLst>
              <a:gd name="adj" fmla="val 6000"/>
            </a:avLst>
          </a:prstGeom>
          <a:solidFill>
            <a:srgbClr val="F4F7FA"/>
          </a:solidFill>
          <a:ln w="19050">
            <a:solidFill>
              <a:srgbClr val="1C7293"/>
            </a:solidFill>
            <a:prstDash val="solid"/>
          </a:ln>
        </p:spPr>
        <p:txBody>
          <a:bodyPr/>
          <a:p/>
        </p:txBody>
      </p:sp>
      <p:sp>
        <p:nvSpPr>
          <p:cNvPr id="13" name="Text 11"/>
          <p:cNvSpPr txBox="1"/>
          <p:nvPr/>
        </p:nvSpPr>
        <p:spPr>
          <a:xfrm>
            <a:off x="960120" y="324612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Check-in agent</a:t>
            </a:r>
            <a:endParaRPr lang="en-US" sz="1500" dirty="0"/>
          </a:p>
        </p:txBody>
      </p:sp>
      <p:sp>
        <p:nvSpPr>
          <p:cNvPr id="14" name="Text 12"/>
          <p:cNvSpPr txBox="1"/>
          <p:nvPr/>
        </p:nvSpPr>
        <p:spPr>
          <a:xfrm>
            <a:off x="960120" y="368503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Northline builds it, Northline hosts it</a:t>
            </a:r>
            <a:endParaRPr lang="en-US" sz="1050" dirty="0"/>
          </a:p>
        </p:txBody>
      </p:sp>
      <p:sp>
        <p:nvSpPr>
          <p:cNvPr id="15" name="Shape 13"/>
          <p:cNvSpPr/>
          <p:nvPr/>
        </p:nvSpPr>
        <p:spPr>
          <a:xfrm>
            <a:off x="8076895" y="3154680"/>
            <a:ext cx="3291840" cy="914400"/>
          </a:xfrm>
          <a:prstGeom prst="roundRect">
            <a:avLst>
              <a:gd name="adj" fmla="val 6000"/>
            </a:avLst>
          </a:prstGeom>
          <a:solidFill>
            <a:srgbClr val="F4F7FA"/>
          </a:solidFill>
          <a:ln w="19050">
            <a:solidFill>
              <a:srgbClr val="1C7293"/>
            </a:solidFill>
            <a:prstDash val="solid"/>
          </a:ln>
        </p:spPr>
        <p:txBody>
          <a:bodyPr/>
          <a:p/>
        </p:txBody>
      </p:sp>
      <p:sp>
        <p:nvSpPr>
          <p:cNvPr id="16" name="Text 14"/>
          <p:cNvSpPr txBox="1"/>
          <p:nvPr/>
        </p:nvSpPr>
        <p:spPr>
          <a:xfrm>
            <a:off x="8214055" y="324612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Her agent, via MCP</a:t>
            </a:r>
            <a:endParaRPr lang="en-US" sz="1500" dirty="0"/>
          </a:p>
        </p:txBody>
      </p:sp>
      <p:sp>
        <p:nvSpPr>
          <p:cNvPr id="17" name="Text 15"/>
          <p:cNvSpPr txBox="1"/>
          <p:nvPr/>
        </p:nvSpPr>
        <p:spPr>
          <a:xfrm>
            <a:off x="8214055" y="368503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Northline never sees the prompt</a:t>
            </a:r>
            <a:endParaRPr lang="en-US" sz="1050" dirty="0"/>
          </a:p>
        </p:txBody>
      </p:sp>
      <p:sp>
        <p:nvSpPr>
          <p:cNvPr id="18" name="Shape 16"/>
          <p:cNvSpPr/>
          <p:nvPr/>
        </p:nvSpPr>
        <p:spPr>
          <a:xfrm>
            <a:off x="2468880" y="4069080"/>
            <a:ext cx="0" cy="685800"/>
          </a:xfrm>
          <a:prstGeom prst="line">
            <a:avLst/>
          </a:prstGeom>
          <a:noFill/>
          <a:ln w="25400">
            <a:solidFill>
              <a:srgbClr val="1C7293"/>
            </a:solidFill>
            <a:prstDash val="solid"/>
            <a:tailEnd type="triangle"/>
          </a:ln>
        </p:spPr>
        <p:txBody>
          <a:bodyPr/>
          <a:p/>
        </p:txBody>
      </p:sp>
      <p:sp>
        <p:nvSpPr>
          <p:cNvPr id="19" name="Shape 17"/>
          <p:cNvSpPr/>
          <p:nvPr/>
        </p:nvSpPr>
        <p:spPr>
          <a:xfrm>
            <a:off x="9722815" y="4069080"/>
            <a:ext cx="0" cy="685800"/>
          </a:xfrm>
          <a:prstGeom prst="line">
            <a:avLst/>
          </a:prstGeom>
          <a:noFill/>
          <a:ln w="25400">
            <a:solidFill>
              <a:srgbClr val="1C7293"/>
            </a:solidFill>
            <a:prstDash val="solid"/>
            <a:tailEnd type="triangle"/>
          </a:ln>
        </p:spPr>
        <p:txBody>
          <a:bodyPr/>
          <a:p/>
        </p:txBody>
      </p:sp>
      <p:sp>
        <p:nvSpPr>
          <p:cNvPr id="20" name="Shape 18"/>
          <p:cNvSpPr/>
          <p:nvPr/>
        </p:nvSpPr>
        <p:spPr>
          <a:xfrm>
            <a:off x="2468880" y="4754880"/>
            <a:ext cx="1706728" cy="0"/>
          </a:xfrm>
          <a:prstGeom prst="line">
            <a:avLst/>
          </a:prstGeom>
          <a:noFill/>
          <a:ln w="25400">
            <a:solidFill>
              <a:srgbClr val="21295C"/>
            </a:solidFill>
            <a:prstDash val="solid"/>
          </a:ln>
        </p:spPr>
        <p:txBody>
          <a:bodyPr/>
          <a:p/>
        </p:txBody>
      </p:sp>
      <p:sp>
        <p:nvSpPr>
          <p:cNvPr id="21" name="Shape 19"/>
          <p:cNvSpPr/>
          <p:nvPr/>
        </p:nvSpPr>
        <p:spPr>
          <a:xfrm>
            <a:off x="8016088" y="4754880"/>
            <a:ext cx="1706728" cy="0"/>
          </a:xfrm>
          <a:prstGeom prst="line">
            <a:avLst/>
          </a:prstGeom>
          <a:noFill/>
          <a:ln w="25400">
            <a:solidFill>
              <a:srgbClr val="21295C"/>
            </a:solidFill>
            <a:prstDash val="solid"/>
          </a:ln>
        </p:spPr>
        <p:txBody>
          <a:bodyPr/>
          <a:p/>
        </p:txBody>
      </p:sp>
      <p:sp>
        <p:nvSpPr>
          <p:cNvPr id="22" name="Shape 20"/>
          <p:cNvSpPr/>
          <p:nvPr/>
        </p:nvSpPr>
        <p:spPr>
          <a:xfrm>
            <a:off x="4175608" y="4754880"/>
            <a:ext cx="3840480" cy="868680"/>
          </a:xfrm>
          <a:prstGeom prst="roundRect">
            <a:avLst>
              <a:gd name="adj" fmla="val 6316"/>
            </a:avLst>
          </a:prstGeom>
          <a:solidFill>
            <a:srgbClr val="21295C"/>
          </a:solidFill>
          <a:ln w="12700">
            <a:solidFill>
              <a:srgbClr val="21295C"/>
            </a:solidFill>
            <a:prstDash val="solid"/>
          </a:ln>
        </p:spPr>
        <p:txBody>
          <a:bodyPr/>
          <a:p/>
        </p:txBody>
      </p:sp>
      <p:sp>
        <p:nvSpPr>
          <p:cNvPr id="23" name="Text 21"/>
          <p:cNvSpPr txBox="1"/>
          <p:nvPr/>
        </p:nvSpPr>
        <p:spPr>
          <a:xfrm>
            <a:off x="4358488" y="4892040"/>
            <a:ext cx="3474720" cy="32004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Northline's tools  (northline/tools/)</a:t>
            </a:r>
            <a:endParaRPr lang="en-US" sz="1500" dirty="0"/>
          </a:p>
        </p:txBody>
      </p:sp>
      <p:sp>
        <p:nvSpPr>
          <p:cNvPr id="24" name="Text 22"/>
          <p:cNvSpPr txBox="1"/>
          <p:nvPr/>
        </p:nvSpPr>
        <p:spPr>
          <a:xfrm>
            <a:off x="4358488" y="5212080"/>
            <a:ext cx="3474720" cy="3200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One registry decides which persona sees which tool</a:t>
            </a:r>
            <a:endParaRPr lang="en-US" sz="1100" dirty="0"/>
          </a:p>
        </p:txBody>
      </p:sp>
      <p:sp>
        <p:nvSpPr>
          <p:cNvPr id="25" name="Text 2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DOCS/02-THE-LOOP.MD</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The loop</a:t>
            </a:r>
            <a:endParaRPr lang="en-US" sz="3200" dirty="0"/>
          </a:p>
        </p:txBody>
      </p:sp>
      <p:sp>
        <p:nvSpPr>
          <p:cNvPr id="4" name="Shape 2"/>
          <p:cNvSpPr/>
          <p:nvPr/>
        </p:nvSpPr>
        <p:spPr>
          <a:xfrm>
            <a:off x="548640" y="1828800"/>
            <a:ext cx="1691640" cy="1188720"/>
          </a:xfrm>
          <a:prstGeom prst="roundRect">
            <a:avLst>
              <a:gd name="adj" fmla="val 4615"/>
            </a:avLst>
          </a:prstGeom>
          <a:solidFill>
            <a:srgbClr val="F4F7FA"/>
          </a:solidFill>
          <a:ln w="12700">
            <a:solidFill>
              <a:srgbClr val="D8E1EA"/>
            </a:solidFill>
            <a:prstDash val="solid"/>
          </a:ln>
        </p:spPr>
        <p:txBody>
          <a:bodyPr/>
          <a:p/>
        </p:txBody>
      </p:sp>
      <p:sp>
        <p:nvSpPr>
          <p:cNvPr id="5" name="Text 3"/>
          <p:cNvSpPr txBox="1"/>
          <p:nvPr/>
        </p:nvSpPr>
        <p:spPr>
          <a:xfrm>
            <a:off x="640080"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Capture</a:t>
            </a:r>
            <a:endParaRPr lang="en-US" sz="1300" dirty="0"/>
          </a:p>
        </p:txBody>
      </p:sp>
      <p:sp>
        <p:nvSpPr>
          <p:cNvPr id="6" name="Text 4"/>
          <p:cNvSpPr txBox="1"/>
          <p:nvPr/>
        </p:nvSpPr>
        <p:spPr>
          <a:xfrm>
            <a:off x="640080"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transcripts, tool calls, queue log</a:t>
            </a:r>
            <a:endParaRPr lang="en-US" sz="950" dirty="0"/>
          </a:p>
        </p:txBody>
      </p:sp>
      <p:sp>
        <p:nvSpPr>
          <p:cNvPr id="7" name="Shape 5"/>
          <p:cNvSpPr/>
          <p:nvPr/>
        </p:nvSpPr>
        <p:spPr>
          <a:xfrm>
            <a:off x="2240280" y="2423160"/>
            <a:ext cx="188915" cy="0"/>
          </a:xfrm>
          <a:prstGeom prst="line">
            <a:avLst/>
          </a:prstGeom>
          <a:noFill/>
          <a:ln w="19050">
            <a:solidFill>
              <a:srgbClr val="5B6472"/>
            </a:solidFill>
            <a:prstDash val="solid"/>
            <a:tailEnd type="triangle"/>
          </a:ln>
        </p:spPr>
        <p:txBody>
          <a:bodyPr/>
          <a:p/>
        </p:txBody>
      </p:sp>
      <p:sp>
        <p:nvSpPr>
          <p:cNvPr id="8" name="Shape 6"/>
          <p:cNvSpPr/>
          <p:nvPr/>
        </p:nvSpPr>
        <p:spPr>
          <a:xfrm>
            <a:off x="2429195" y="1828800"/>
            <a:ext cx="1691640" cy="1188720"/>
          </a:xfrm>
          <a:prstGeom prst="roundRect">
            <a:avLst>
              <a:gd name="adj" fmla="val 4615"/>
            </a:avLst>
          </a:prstGeom>
          <a:solidFill>
            <a:srgbClr val="065A82"/>
          </a:solidFill>
          <a:ln w="12700">
            <a:solidFill>
              <a:srgbClr val="065A82"/>
            </a:solidFill>
            <a:prstDash val="solid"/>
          </a:ln>
        </p:spPr>
        <p:txBody>
          <a:bodyPr/>
          <a:p/>
        </p:txBody>
      </p:sp>
      <p:sp>
        <p:nvSpPr>
          <p:cNvPr id="9" name="Text 7"/>
          <p:cNvSpPr txBox="1"/>
          <p:nvPr/>
        </p:nvSpPr>
        <p:spPr>
          <a:xfrm>
            <a:off x="2520635" y="1938528"/>
            <a:ext cx="1508760" cy="36576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Classify</a:t>
            </a:r>
            <a:endParaRPr lang="en-US" sz="1300" dirty="0"/>
          </a:p>
        </p:txBody>
      </p:sp>
      <p:sp>
        <p:nvSpPr>
          <p:cNvPr id="10" name="Text 8"/>
          <p:cNvSpPr txBox="1"/>
          <p:nvPr/>
        </p:nvSpPr>
        <p:spPr>
          <a:xfrm>
            <a:off x="2520635" y="2331720"/>
            <a:ext cx="1508760" cy="457200"/>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calls Claude</a:t>
            </a:r>
            <a:endParaRPr lang="en-US" sz="950" dirty="0"/>
          </a:p>
        </p:txBody>
      </p:sp>
      <p:sp>
        <p:nvSpPr>
          <p:cNvPr id="11" name="Shape 9"/>
          <p:cNvSpPr/>
          <p:nvPr/>
        </p:nvSpPr>
        <p:spPr>
          <a:xfrm>
            <a:off x="4120835" y="2423160"/>
            <a:ext cx="188915" cy="0"/>
          </a:xfrm>
          <a:prstGeom prst="line">
            <a:avLst/>
          </a:prstGeom>
          <a:noFill/>
          <a:ln w="19050">
            <a:solidFill>
              <a:srgbClr val="5B6472"/>
            </a:solidFill>
            <a:prstDash val="solid"/>
            <a:tailEnd type="triangle"/>
          </a:ln>
        </p:spPr>
        <p:txBody>
          <a:bodyPr/>
          <a:p/>
        </p:txBody>
      </p:sp>
      <p:sp>
        <p:nvSpPr>
          <p:cNvPr id="12" name="Shape 10"/>
          <p:cNvSpPr/>
          <p:nvPr/>
        </p:nvSpPr>
        <p:spPr>
          <a:xfrm>
            <a:off x="4309750" y="1828800"/>
            <a:ext cx="1691640" cy="1188720"/>
          </a:xfrm>
          <a:prstGeom prst="roundRect">
            <a:avLst>
              <a:gd name="adj" fmla="val 4615"/>
            </a:avLst>
          </a:prstGeom>
          <a:solidFill>
            <a:srgbClr val="F4F7FA"/>
          </a:solidFill>
          <a:ln w="12700">
            <a:solidFill>
              <a:srgbClr val="D8E1EA"/>
            </a:solidFill>
            <a:prstDash val="solid"/>
          </a:ln>
        </p:spPr>
        <p:txBody>
          <a:bodyPr/>
          <a:p/>
        </p:txBody>
      </p:sp>
      <p:sp>
        <p:nvSpPr>
          <p:cNvPr id="13" name="Text 11"/>
          <p:cNvSpPr txBox="1"/>
          <p:nvPr/>
        </p:nvSpPr>
        <p:spPr>
          <a:xfrm>
            <a:off x="4401190"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Aggregate</a:t>
            </a:r>
            <a:endParaRPr lang="en-US" sz="1300" dirty="0"/>
          </a:p>
        </p:txBody>
      </p:sp>
      <p:sp>
        <p:nvSpPr>
          <p:cNvPr id="14" name="Text 12"/>
          <p:cNvSpPr txBox="1"/>
          <p:nvPr/>
        </p:nvSpPr>
        <p:spPr>
          <a:xfrm>
            <a:off x="4401190"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plain Python</a:t>
            </a:r>
            <a:endParaRPr lang="en-US" sz="950" dirty="0"/>
          </a:p>
        </p:txBody>
      </p:sp>
      <p:sp>
        <p:nvSpPr>
          <p:cNvPr id="15" name="Shape 13"/>
          <p:cNvSpPr/>
          <p:nvPr/>
        </p:nvSpPr>
        <p:spPr>
          <a:xfrm>
            <a:off x="6001390" y="2423160"/>
            <a:ext cx="188915" cy="0"/>
          </a:xfrm>
          <a:prstGeom prst="line">
            <a:avLst/>
          </a:prstGeom>
          <a:noFill/>
          <a:ln w="19050">
            <a:solidFill>
              <a:srgbClr val="5B6472"/>
            </a:solidFill>
            <a:prstDash val="solid"/>
            <a:tailEnd type="triangle"/>
          </a:ln>
        </p:spPr>
        <p:txBody>
          <a:bodyPr/>
          <a:p/>
        </p:txBody>
      </p:sp>
      <p:sp>
        <p:nvSpPr>
          <p:cNvPr id="16" name="Shape 14"/>
          <p:cNvSpPr/>
          <p:nvPr/>
        </p:nvSpPr>
        <p:spPr>
          <a:xfrm>
            <a:off x="6190305" y="1828800"/>
            <a:ext cx="1691640" cy="1188720"/>
          </a:xfrm>
          <a:prstGeom prst="roundRect">
            <a:avLst>
              <a:gd name="adj" fmla="val 4615"/>
            </a:avLst>
          </a:prstGeom>
          <a:solidFill>
            <a:srgbClr val="F4F7FA"/>
          </a:solidFill>
          <a:ln w="12700">
            <a:solidFill>
              <a:srgbClr val="D8E1EA"/>
            </a:solidFill>
            <a:prstDash val="solid"/>
          </a:ln>
        </p:spPr>
        <p:txBody>
          <a:bodyPr/>
          <a:p/>
        </p:txBody>
      </p:sp>
      <p:sp>
        <p:nvSpPr>
          <p:cNvPr id="17" name="Text 15"/>
          <p:cNvSpPr txBox="1"/>
          <p:nvPr/>
        </p:nvSpPr>
        <p:spPr>
          <a:xfrm>
            <a:off x="6281745"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Report</a:t>
            </a:r>
            <a:endParaRPr lang="en-US" sz="1300" dirty="0"/>
          </a:p>
        </p:txBody>
      </p:sp>
      <p:sp>
        <p:nvSpPr>
          <p:cNvPr id="18" name="Text 16"/>
          <p:cNvSpPr txBox="1"/>
          <p:nvPr/>
        </p:nvSpPr>
        <p:spPr>
          <a:xfrm>
            <a:off x="6281745"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report.md</a:t>
            </a:r>
            <a:endParaRPr lang="en-US" sz="950" dirty="0"/>
          </a:p>
        </p:txBody>
      </p:sp>
      <p:sp>
        <p:nvSpPr>
          <p:cNvPr id="19" name="Shape 17"/>
          <p:cNvSpPr/>
          <p:nvPr/>
        </p:nvSpPr>
        <p:spPr>
          <a:xfrm>
            <a:off x="7881945" y="2423160"/>
            <a:ext cx="188915" cy="0"/>
          </a:xfrm>
          <a:prstGeom prst="line">
            <a:avLst/>
          </a:prstGeom>
          <a:noFill/>
          <a:ln w="19050">
            <a:solidFill>
              <a:srgbClr val="5B6472"/>
            </a:solidFill>
            <a:prstDash val="solid"/>
            <a:tailEnd type="triangle"/>
          </a:ln>
        </p:spPr>
        <p:txBody>
          <a:bodyPr/>
          <a:p/>
        </p:txBody>
      </p:sp>
      <p:sp>
        <p:nvSpPr>
          <p:cNvPr id="20" name="Shape 18"/>
          <p:cNvSpPr/>
          <p:nvPr/>
        </p:nvSpPr>
        <p:spPr>
          <a:xfrm>
            <a:off x="8070860" y="1828800"/>
            <a:ext cx="1691640" cy="1188720"/>
          </a:xfrm>
          <a:prstGeom prst="roundRect">
            <a:avLst>
              <a:gd name="adj" fmla="val 4615"/>
            </a:avLst>
          </a:prstGeom>
          <a:solidFill>
            <a:srgbClr val="065A82"/>
          </a:solidFill>
          <a:ln w="12700">
            <a:solidFill>
              <a:srgbClr val="065A82"/>
            </a:solidFill>
            <a:prstDash val="solid"/>
          </a:ln>
        </p:spPr>
        <p:txBody>
          <a:bodyPr/>
          <a:p/>
        </p:txBody>
      </p:sp>
      <p:sp>
        <p:nvSpPr>
          <p:cNvPr id="21" name="Text 19"/>
          <p:cNvSpPr txBox="1"/>
          <p:nvPr/>
        </p:nvSpPr>
        <p:spPr>
          <a:xfrm>
            <a:off x="8162300" y="1938528"/>
            <a:ext cx="1508760" cy="36576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Diagnose</a:t>
            </a:r>
            <a:endParaRPr lang="en-US" sz="1300" dirty="0"/>
          </a:p>
        </p:txBody>
      </p:sp>
      <p:sp>
        <p:nvSpPr>
          <p:cNvPr id="22" name="Text 20"/>
          <p:cNvSpPr txBox="1"/>
          <p:nvPr/>
        </p:nvSpPr>
        <p:spPr>
          <a:xfrm>
            <a:off x="8162300" y="2331720"/>
            <a:ext cx="1508760" cy="457200"/>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calls Claude</a:t>
            </a:r>
            <a:endParaRPr lang="en-US" sz="950" dirty="0"/>
          </a:p>
        </p:txBody>
      </p:sp>
      <p:sp>
        <p:nvSpPr>
          <p:cNvPr id="23" name="Shape 21"/>
          <p:cNvSpPr/>
          <p:nvPr/>
        </p:nvSpPr>
        <p:spPr>
          <a:xfrm>
            <a:off x="9762500" y="2423160"/>
            <a:ext cx="188915" cy="0"/>
          </a:xfrm>
          <a:prstGeom prst="line">
            <a:avLst/>
          </a:prstGeom>
          <a:noFill/>
          <a:ln w="19050">
            <a:solidFill>
              <a:srgbClr val="5B6472"/>
            </a:solidFill>
            <a:prstDash val="solid"/>
            <a:tailEnd type="triangle"/>
          </a:ln>
        </p:spPr>
        <p:txBody>
          <a:bodyPr/>
          <a:p/>
        </p:txBody>
      </p:sp>
      <p:sp>
        <p:nvSpPr>
          <p:cNvPr id="24" name="Shape 22"/>
          <p:cNvSpPr/>
          <p:nvPr/>
        </p:nvSpPr>
        <p:spPr>
          <a:xfrm>
            <a:off x="9951415" y="1828800"/>
            <a:ext cx="1691640" cy="1188720"/>
          </a:xfrm>
          <a:prstGeom prst="roundRect">
            <a:avLst>
              <a:gd name="adj" fmla="val 4615"/>
            </a:avLst>
          </a:prstGeom>
          <a:solidFill>
            <a:srgbClr val="F4F7FA"/>
          </a:solidFill>
          <a:ln w="12700">
            <a:solidFill>
              <a:srgbClr val="D8E1EA"/>
            </a:solidFill>
            <a:prstDash val="solid"/>
          </a:ln>
        </p:spPr>
        <p:txBody>
          <a:bodyPr/>
          <a:p/>
        </p:txBody>
      </p:sp>
      <p:sp>
        <p:nvSpPr>
          <p:cNvPr id="25" name="Text 23"/>
          <p:cNvSpPr txBox="1"/>
          <p:nvPr/>
        </p:nvSpPr>
        <p:spPr>
          <a:xfrm>
            <a:off x="10042855"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Diagnosis</a:t>
            </a:r>
            <a:endParaRPr lang="en-US" sz="1300" dirty="0"/>
          </a:p>
        </p:txBody>
      </p:sp>
      <p:sp>
        <p:nvSpPr>
          <p:cNvPr id="26" name="Text 24"/>
          <p:cNvSpPr txBox="1"/>
          <p:nvPr/>
        </p:nvSpPr>
        <p:spPr>
          <a:xfrm>
            <a:off x="10042855"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the bottleneck, named</a:t>
            </a:r>
            <a:endParaRPr lang="en-US" sz="950" dirty="0"/>
          </a:p>
        </p:txBody>
      </p:sp>
      <p:sp>
        <p:nvSpPr>
          <p:cNvPr id="27" name="Shape 25"/>
          <p:cNvSpPr/>
          <p:nvPr/>
        </p:nvSpPr>
        <p:spPr>
          <a:xfrm>
            <a:off x="4215293" y="3017520"/>
            <a:ext cx="0" cy="685800"/>
          </a:xfrm>
          <a:prstGeom prst="line">
            <a:avLst/>
          </a:prstGeom>
          <a:noFill/>
          <a:ln w="19050">
            <a:solidFill>
              <a:srgbClr val="5B6472"/>
            </a:solidFill>
            <a:prstDash val="solid"/>
            <a:tailEnd type="triangle"/>
          </a:ln>
        </p:spPr>
        <p:txBody>
          <a:bodyPr/>
          <a:p/>
        </p:txBody>
      </p:sp>
      <p:sp>
        <p:nvSpPr>
          <p:cNvPr id="28" name="Shape 26"/>
          <p:cNvSpPr/>
          <p:nvPr/>
        </p:nvSpPr>
        <p:spPr>
          <a:xfrm>
            <a:off x="548640" y="3703320"/>
            <a:ext cx="2468880" cy="1188720"/>
          </a:xfrm>
          <a:prstGeom prst="roundRect">
            <a:avLst>
              <a:gd name="adj" fmla="val 4615"/>
            </a:avLst>
          </a:prstGeom>
          <a:solidFill>
            <a:srgbClr val="F4F7FA"/>
          </a:solidFill>
          <a:ln w="12700">
            <a:solidFill>
              <a:srgbClr val="D8E1EA"/>
            </a:solidFill>
            <a:prstDash val="solid"/>
          </a:ln>
        </p:spPr>
        <p:txBody>
          <a:bodyPr/>
          <a:p/>
        </p:txBody>
      </p:sp>
      <p:sp>
        <p:nvSpPr>
          <p:cNvPr id="29" name="Text 27"/>
          <p:cNvSpPr txBox="1"/>
          <p:nvPr/>
        </p:nvSpPr>
        <p:spPr>
          <a:xfrm>
            <a:off x="658368" y="3813048"/>
            <a:ext cx="2249424"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Candidates</a:t>
            </a:r>
            <a:endParaRPr lang="en-US" sz="1300" dirty="0"/>
          </a:p>
        </p:txBody>
      </p:sp>
      <p:sp>
        <p:nvSpPr>
          <p:cNvPr id="30" name="Text 28"/>
          <p:cNvSpPr txBox="1"/>
          <p:nvPr/>
        </p:nvSpPr>
        <p:spPr>
          <a:xfrm>
            <a:off x="658368" y="4206240"/>
            <a:ext cx="2249424"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unmet needs, counted</a:t>
            </a:r>
            <a:endParaRPr lang="en-US" sz="950" dirty="0"/>
          </a:p>
        </p:txBody>
      </p:sp>
      <p:sp>
        <p:nvSpPr>
          <p:cNvPr id="31" name="Shape 29"/>
          <p:cNvSpPr/>
          <p:nvPr/>
        </p:nvSpPr>
        <p:spPr>
          <a:xfrm>
            <a:off x="3017520" y="4297680"/>
            <a:ext cx="406298" cy="0"/>
          </a:xfrm>
          <a:prstGeom prst="line">
            <a:avLst/>
          </a:prstGeom>
          <a:noFill/>
          <a:ln w="19050">
            <a:solidFill>
              <a:srgbClr val="5B6472"/>
            </a:solidFill>
            <a:prstDash val="solid"/>
            <a:tailEnd type="triangle"/>
          </a:ln>
        </p:spPr>
        <p:txBody>
          <a:bodyPr/>
          <a:p/>
        </p:txBody>
      </p:sp>
      <p:sp>
        <p:nvSpPr>
          <p:cNvPr id="32" name="Shape 30"/>
          <p:cNvSpPr/>
          <p:nvPr/>
        </p:nvSpPr>
        <p:spPr>
          <a:xfrm>
            <a:off x="3423818" y="3703320"/>
            <a:ext cx="2468880" cy="1188720"/>
          </a:xfrm>
          <a:prstGeom prst="roundRect">
            <a:avLst>
              <a:gd name="adj" fmla="val 4615"/>
            </a:avLst>
          </a:prstGeom>
          <a:solidFill>
            <a:srgbClr val="F4F7FA"/>
          </a:solidFill>
          <a:ln w="12700">
            <a:solidFill>
              <a:srgbClr val="D8E1EA"/>
            </a:solidFill>
            <a:prstDash val="solid"/>
          </a:ln>
        </p:spPr>
        <p:txBody>
          <a:bodyPr/>
          <a:p/>
        </p:txBody>
      </p:sp>
      <p:sp>
        <p:nvSpPr>
          <p:cNvPr id="33" name="Text 31"/>
          <p:cNvSpPr txBox="1"/>
          <p:nvPr/>
        </p:nvSpPr>
        <p:spPr>
          <a:xfrm>
            <a:off x="3533546" y="3813048"/>
            <a:ext cx="2249424"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Propose</a:t>
            </a:r>
            <a:endParaRPr lang="en-US" sz="1300" dirty="0"/>
          </a:p>
        </p:txBody>
      </p:sp>
      <p:sp>
        <p:nvSpPr>
          <p:cNvPr id="34" name="Text 32"/>
          <p:cNvSpPr txBox="1"/>
          <p:nvPr/>
        </p:nvSpPr>
        <p:spPr>
          <a:xfrm>
            <a:off x="3533546" y="4206240"/>
            <a:ext cx="2249424"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calls a template</a:t>
            </a:r>
            <a:endParaRPr lang="en-US" sz="950" dirty="0"/>
          </a:p>
        </p:txBody>
      </p:sp>
      <p:sp>
        <p:nvSpPr>
          <p:cNvPr id="35" name="Shape 33"/>
          <p:cNvSpPr/>
          <p:nvPr/>
        </p:nvSpPr>
        <p:spPr>
          <a:xfrm>
            <a:off x="5892698" y="4297680"/>
            <a:ext cx="406298" cy="0"/>
          </a:xfrm>
          <a:prstGeom prst="line">
            <a:avLst/>
          </a:prstGeom>
          <a:noFill/>
          <a:ln w="19050">
            <a:solidFill>
              <a:srgbClr val="5B6472"/>
            </a:solidFill>
            <a:prstDash val="solid"/>
            <a:tailEnd type="triangle"/>
          </a:ln>
        </p:spPr>
        <p:txBody>
          <a:bodyPr/>
          <a:p/>
        </p:txBody>
      </p:sp>
      <p:sp>
        <p:nvSpPr>
          <p:cNvPr id="36" name="Shape 34"/>
          <p:cNvSpPr/>
          <p:nvPr/>
        </p:nvSpPr>
        <p:spPr>
          <a:xfrm>
            <a:off x="6298997" y="3703320"/>
            <a:ext cx="2468880" cy="1188720"/>
          </a:xfrm>
          <a:prstGeom prst="roundRect">
            <a:avLst>
              <a:gd name="adj" fmla="val 4615"/>
            </a:avLst>
          </a:prstGeom>
          <a:solidFill>
            <a:srgbClr val="F4F7FA"/>
          </a:solidFill>
          <a:ln w="12700">
            <a:solidFill>
              <a:srgbClr val="D8E1EA"/>
            </a:solidFill>
            <a:prstDash val="solid"/>
          </a:ln>
        </p:spPr>
        <p:txBody>
          <a:bodyPr/>
          <a:p/>
        </p:txBody>
      </p:sp>
      <p:sp>
        <p:nvSpPr>
          <p:cNvPr id="37" name="Text 35"/>
          <p:cNvSpPr txBox="1"/>
          <p:nvPr/>
        </p:nvSpPr>
        <p:spPr>
          <a:xfrm>
            <a:off x="6408725" y="3813048"/>
            <a:ext cx="2249424"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Proposals</a:t>
            </a:r>
            <a:endParaRPr lang="en-US" sz="1300" dirty="0"/>
          </a:p>
        </p:txBody>
      </p:sp>
      <p:sp>
        <p:nvSpPr>
          <p:cNvPr id="38" name="Text 36"/>
          <p:cNvSpPr txBox="1"/>
          <p:nvPr/>
        </p:nvSpPr>
        <p:spPr>
          <a:xfrm>
            <a:off x="6408725" y="4206240"/>
            <a:ext cx="2249424"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tool-*.md, agent-triage.md</a:t>
            </a:r>
            <a:endParaRPr lang="en-US" sz="950" dirty="0"/>
          </a:p>
        </p:txBody>
      </p:sp>
      <p:sp>
        <p:nvSpPr>
          <p:cNvPr id="39" name="Shape 37"/>
          <p:cNvSpPr/>
          <p:nvPr/>
        </p:nvSpPr>
        <p:spPr>
          <a:xfrm>
            <a:off x="8767877" y="4297680"/>
            <a:ext cx="406298" cy="0"/>
          </a:xfrm>
          <a:prstGeom prst="line">
            <a:avLst/>
          </a:prstGeom>
          <a:noFill/>
          <a:ln w="19050">
            <a:solidFill>
              <a:srgbClr val="5B6472"/>
            </a:solidFill>
            <a:prstDash val="solid"/>
            <a:tailEnd type="triangle"/>
          </a:ln>
        </p:spPr>
        <p:txBody>
          <a:bodyPr/>
          <a:p/>
        </p:txBody>
      </p:sp>
      <p:sp>
        <p:nvSpPr>
          <p:cNvPr id="40" name="Shape 38"/>
          <p:cNvSpPr/>
          <p:nvPr/>
        </p:nvSpPr>
        <p:spPr>
          <a:xfrm>
            <a:off x="9174175" y="3703320"/>
            <a:ext cx="2468880" cy="1188720"/>
          </a:xfrm>
          <a:prstGeom prst="roundRect">
            <a:avLst>
              <a:gd name="adj" fmla="val 4615"/>
            </a:avLst>
          </a:prstGeom>
          <a:solidFill>
            <a:srgbClr val="1C7293"/>
          </a:solidFill>
          <a:ln w="12700">
            <a:solidFill>
              <a:srgbClr val="1C7293"/>
            </a:solidFill>
            <a:prstDash val="solid"/>
          </a:ln>
        </p:spPr>
        <p:txBody>
          <a:bodyPr/>
          <a:p/>
        </p:txBody>
      </p:sp>
      <p:sp>
        <p:nvSpPr>
          <p:cNvPr id="41" name="Text 39"/>
          <p:cNvSpPr txBox="1"/>
          <p:nvPr/>
        </p:nvSpPr>
        <p:spPr>
          <a:xfrm>
            <a:off x="9283903" y="3813048"/>
            <a:ext cx="2249424" cy="36576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/northline-expand or /northline-deploy</a:t>
            </a:r>
            <a:endParaRPr lang="en-US" sz="1300" dirty="0"/>
          </a:p>
        </p:txBody>
      </p:sp>
      <p:sp>
        <p:nvSpPr>
          <p:cNvPr id="42" name="Text 40"/>
          <p:cNvSpPr txBox="1"/>
          <p:nvPr/>
        </p:nvSpPr>
        <p:spPr>
          <a:xfrm>
            <a:off x="9283903" y="4206240"/>
            <a:ext cx="2249424" cy="457200"/>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a human decides</a:t>
            </a:r>
            <a:endParaRPr lang="en-US" sz="950" dirty="0"/>
          </a:p>
        </p:txBody>
      </p:sp>
      <p:sp>
        <p:nvSpPr>
          <p:cNvPr id="43" name="Text 41"/>
          <p:cNvSpPr txBox="1"/>
          <p:nvPr/>
        </p:nvSpPr>
        <p:spPr>
          <a:xfrm>
            <a:off x="548640" y="5349240"/>
            <a:ext cx="11094415" cy="457200"/>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Blue = a model call (classify, diagnose). Grey = plain Python that counts things. The whole run takes about five minutes.</a:t>
            </a:r>
            <a:endParaRPr lang="en-US" sz="1250" dirty="0"/>
          </a:p>
        </p:txBody>
      </p:sp>
      <p:sp>
        <p:nvSpPr>
          <p:cNvPr id="44" name="Text 42"/>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/NORTHLINE-DEPLOY TRIAGE</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Four decisions, filled live</a:t>
            </a:r>
            <a:endParaRPr lang="en-US" sz="3200" dirty="0"/>
          </a:p>
        </p:txBody>
      </p:sp>
      <p:sp>
        <p:nvSpPr>
          <p:cNvPr id="4" name="Shape 2"/>
          <p:cNvSpPr/>
          <p:nvPr/>
        </p:nvSpPr>
        <p:spPr>
          <a:xfrm>
            <a:off x="548640" y="1600200"/>
            <a:ext cx="5318608" cy="1874520"/>
          </a:xfrm>
          <a:prstGeom prst="roundRect">
            <a:avLst>
              <a:gd name="adj" fmla="val 3415"/>
            </a:avLst>
          </a:prstGeom>
          <a:solidFill>
            <a:srgbClr val="F4F7FA"/>
          </a:solidFill>
          <a:ln w="12700">
            <a:solidFill>
              <a:srgbClr val="D8E1EA"/>
            </a:solidFill>
            <a:prstDash val="dash"/>
          </a:ln>
        </p:spPr>
        <p:txBody>
          <a:bodyPr/>
          <a:p/>
        </p:txBody>
      </p:sp>
      <p:sp>
        <p:nvSpPr>
          <p:cNvPr id="5" name="Text 3"/>
          <p:cNvSpPr txBox="1"/>
          <p:nvPr/>
        </p:nvSpPr>
        <p:spPr>
          <a:xfrm>
            <a:off x="822960" y="182880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1. Urgent thresholds</a:t>
            </a:r>
            <a:endParaRPr lang="en-US" sz="1700" dirty="0"/>
          </a:p>
        </p:txBody>
      </p:sp>
      <p:sp>
        <p:nvSpPr>
          <p:cNvPr id="6" name="Text 4"/>
          <p:cNvSpPr txBox="1"/>
          <p:nvPr/>
        </p:nvSpPr>
        <p:spPr>
          <a:xfrm>
            <a:off x="822960" y="228600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Blood pressure, glucose, and the always-urgent words.</a:t>
            </a:r>
            <a:endParaRPr lang="en-US" sz="1200" dirty="0"/>
          </a:p>
        </p:txBody>
      </p:sp>
      <p:sp>
        <p:nvSpPr>
          <p:cNvPr id="7" name="Text 5"/>
          <p:cNvSpPr txBox="1"/>
          <p:nvPr/>
        </p:nvSpPr>
        <p:spPr>
          <a:xfrm>
            <a:off x="822960" y="297180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8" name="Shape 6"/>
          <p:cNvSpPr/>
          <p:nvPr/>
        </p:nvSpPr>
        <p:spPr>
          <a:xfrm>
            <a:off x="6324448" y="1600200"/>
            <a:ext cx="5318608" cy="1874520"/>
          </a:xfrm>
          <a:prstGeom prst="roundRect">
            <a:avLst>
              <a:gd name="adj" fmla="val 3415"/>
            </a:avLst>
          </a:prstGeom>
          <a:solidFill>
            <a:srgbClr val="F4F7FA"/>
          </a:solidFill>
          <a:ln w="12700">
            <a:solidFill>
              <a:srgbClr val="D8E1EA"/>
            </a:solidFill>
            <a:prstDash val="dash"/>
          </a:ln>
        </p:spPr>
        <p:txBody>
          <a:bodyPr/>
          <a:p/>
        </p:txBody>
      </p:sp>
      <p:sp>
        <p:nvSpPr>
          <p:cNvPr id="9" name="Text 7"/>
          <p:cNvSpPr txBox="1"/>
          <p:nvPr/>
        </p:nvSpPr>
        <p:spPr>
          <a:xfrm>
            <a:off x="6598768" y="182880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2. Non-clinical handling</a:t>
            </a:r>
            <a:endParaRPr lang="en-US" sz="1700" dirty="0"/>
          </a:p>
        </p:txBody>
      </p:sp>
      <p:sp>
        <p:nvSpPr>
          <p:cNvPr id="10" name="Text 8"/>
          <p:cNvSpPr txBox="1"/>
          <p:nvPr/>
        </p:nvSpPr>
        <p:spPr>
          <a:xfrm>
            <a:off x="6598768" y="228600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admin, auto-reply, or hold for the morning.</a:t>
            </a:r>
            <a:endParaRPr lang="en-US" sz="1200" dirty="0"/>
          </a:p>
        </p:txBody>
      </p:sp>
      <p:sp>
        <p:nvSpPr>
          <p:cNvPr id="11" name="Text 9"/>
          <p:cNvSpPr txBox="1"/>
          <p:nvPr/>
        </p:nvSpPr>
        <p:spPr>
          <a:xfrm>
            <a:off x="6598768" y="297180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12" name="Shape 10"/>
          <p:cNvSpPr/>
          <p:nvPr/>
        </p:nvSpPr>
        <p:spPr>
          <a:xfrm>
            <a:off x="548640" y="3840480"/>
            <a:ext cx="5318608" cy="1874520"/>
          </a:xfrm>
          <a:prstGeom prst="roundRect">
            <a:avLst>
              <a:gd name="adj" fmla="val 3415"/>
            </a:avLst>
          </a:prstGeom>
          <a:solidFill>
            <a:srgbClr val="F4F7FA"/>
          </a:solidFill>
          <a:ln w="12700">
            <a:solidFill>
              <a:srgbClr val="D8E1EA"/>
            </a:solidFill>
            <a:prstDash val="dash"/>
          </a:ln>
        </p:spPr>
        <p:txBody>
          <a:bodyPr/>
          <a:p/>
        </p:txBody>
      </p:sp>
      <p:sp>
        <p:nvSpPr>
          <p:cNvPr id="13" name="Text 11"/>
          <p:cNvSpPr txBox="1"/>
          <p:nvPr/>
        </p:nvSpPr>
        <p:spPr>
          <a:xfrm>
            <a:off x="822960" y="406908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3. After-hours rule</a:t>
            </a:r>
            <a:endParaRPr lang="en-US" sz="1700" dirty="0"/>
          </a:p>
        </p:txBody>
      </p:sp>
      <p:sp>
        <p:nvSpPr>
          <p:cNvPr id="14" name="Text 12"/>
          <p:cNvSpPr txBox="1"/>
          <p:nvPr/>
        </p:nvSpPr>
        <p:spPr>
          <a:xfrm>
            <a:off x="822960" y="452628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Call 911, page on-call, or queue for morning.</a:t>
            </a:r>
            <a:endParaRPr lang="en-US" sz="1200" dirty="0"/>
          </a:p>
        </p:txBody>
      </p:sp>
      <p:sp>
        <p:nvSpPr>
          <p:cNvPr id="15" name="Text 13"/>
          <p:cNvSpPr txBox="1"/>
          <p:nvPr/>
        </p:nvSpPr>
        <p:spPr>
          <a:xfrm>
            <a:off x="822960" y="521208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16" name="Shape 14"/>
          <p:cNvSpPr/>
          <p:nvPr/>
        </p:nvSpPr>
        <p:spPr>
          <a:xfrm>
            <a:off x="6324448" y="3840480"/>
            <a:ext cx="5318608" cy="1874520"/>
          </a:xfrm>
          <a:prstGeom prst="roundRect">
            <a:avLst>
              <a:gd name="adj" fmla="val 3415"/>
            </a:avLst>
          </a:prstGeom>
          <a:solidFill>
            <a:srgbClr val="F4F7FA"/>
          </a:solidFill>
          <a:ln w="12700">
            <a:solidFill>
              <a:srgbClr val="D8E1EA"/>
            </a:solidFill>
            <a:prstDash val="dash"/>
          </a:ln>
        </p:spPr>
        <p:txBody>
          <a:bodyPr/>
          <a:p/>
        </p:txBody>
      </p:sp>
      <p:sp>
        <p:nvSpPr>
          <p:cNvPr id="17" name="Text 15"/>
          <p:cNvSpPr txBox="1"/>
          <p:nvPr/>
        </p:nvSpPr>
        <p:spPr>
          <a:xfrm>
            <a:off x="6598768" y="406908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4. Consent</a:t>
            </a:r>
            <a:endParaRPr lang="en-US" sz="1700" dirty="0"/>
          </a:p>
        </p:txBody>
      </p:sp>
      <p:sp>
        <p:nvSpPr>
          <p:cNvPr id="18" name="Text 16"/>
          <p:cNvSpPr txBox="1"/>
          <p:nvPr/>
        </p:nvSpPr>
        <p:spPr>
          <a:xfrm>
            <a:off x="6598768" y="452628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Honour “don’t tell the doctor”, or not.</a:t>
            </a:r>
            <a:endParaRPr lang="en-US" sz="1200" dirty="0"/>
          </a:p>
        </p:txBody>
      </p:sp>
      <p:sp>
        <p:nvSpPr>
          <p:cNvPr id="19" name="Text 17"/>
          <p:cNvSpPr txBox="1"/>
          <p:nvPr/>
        </p:nvSpPr>
        <p:spPr>
          <a:xfrm>
            <a:off x="6598768" y="521208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20" name="Text 18"/>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BOARD MEETING</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Pushback questions</a:t>
            </a:r>
            <a:endParaRPr lang="en-US" sz="3200" dirty="0"/>
          </a:p>
        </p:txBody>
      </p:sp>
      <p:sp>
        <p:nvSpPr>
          <p:cNvPr id="4" name="Shape 2"/>
          <p:cNvSpPr/>
          <p:nvPr/>
        </p:nvSpPr>
        <p:spPr>
          <a:xfrm>
            <a:off x="548640" y="1563624"/>
            <a:ext cx="457200" cy="457200"/>
          </a:xfrm>
          <a:prstGeom prst="ellipse">
            <a:avLst/>
          </a:prstGeom>
          <a:solidFill>
            <a:srgbClr val="065A82"/>
          </a:solidFill>
          <a:ln/>
        </p:spPr>
        <p:txBody>
          <a:bodyPr/>
          <a:p/>
        </p:txBody>
      </p:sp>
      <p:sp>
        <p:nvSpPr>
          <p:cNvPr id="5" name="Text 3"/>
          <p:cNvSpPr txBox="1"/>
          <p:nvPr/>
        </p:nvSpPr>
        <p:spPr>
          <a:xfrm>
            <a:off x="548640" y="1563624"/>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280160" y="1508760"/>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You'll fix operations in parallel. What specifically will be different on day 91, and how do you know?</a:t>
            </a:r>
            <a:endParaRPr lang="en-US" sz="1500" dirty="0"/>
          </a:p>
        </p:txBody>
      </p:sp>
      <p:sp>
        <p:nvSpPr>
          <p:cNvPr id="7" name="Shape 5"/>
          <p:cNvSpPr/>
          <p:nvPr/>
        </p:nvSpPr>
        <p:spPr>
          <a:xfrm>
            <a:off x="548640" y="2404872"/>
            <a:ext cx="457200" cy="457200"/>
          </a:xfrm>
          <a:prstGeom prst="ellipse">
            <a:avLst/>
          </a:prstGeom>
          <a:solidFill>
            <a:srgbClr val="065A82"/>
          </a:solidFill>
          <a:ln/>
        </p:spPr>
        <p:txBody>
          <a:bodyPr/>
          <a:p/>
        </p:txBody>
      </p:sp>
      <p:sp>
        <p:nvSpPr>
          <p:cNvPr id="8" name="Text 6"/>
          <p:cNvSpPr txBox="1"/>
          <p:nvPr/>
        </p:nvSpPr>
        <p:spPr>
          <a:xfrm>
            <a:off x="548640" y="240487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280160" y="2350008"/>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You raised the escalation threshold. Which patients are now not getting a call, and would you tell them?</a:t>
            </a:r>
            <a:endParaRPr lang="en-US" sz="1500" dirty="0"/>
          </a:p>
        </p:txBody>
      </p:sp>
      <p:sp>
        <p:nvSpPr>
          <p:cNvPr id="10" name="Shape 8"/>
          <p:cNvSpPr/>
          <p:nvPr/>
        </p:nvSpPr>
        <p:spPr>
          <a:xfrm>
            <a:off x="548640" y="3246120"/>
            <a:ext cx="457200" cy="457200"/>
          </a:xfrm>
          <a:prstGeom prst="ellipse">
            <a:avLst/>
          </a:prstGeom>
          <a:solidFill>
            <a:srgbClr val="065A82"/>
          </a:solidFill>
          <a:ln/>
        </p:spPr>
        <p:txBody>
          <a:bodyPr/>
          <a:p/>
        </p:txBody>
      </p:sp>
      <p:sp>
        <p:nvSpPr>
          <p:cNvPr id="11" name="Text 9"/>
          <p:cNvSpPr txBox="1"/>
          <p:nvPr/>
        </p:nvSpPr>
        <p:spPr>
          <a:xfrm>
            <a:off x="548640" y="32461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280160" y="3191256"/>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If we decline, Prairie goes to a competitor. What's our growth story for the next raise?</a:t>
            </a:r>
            <a:endParaRPr lang="en-US" sz="1500" dirty="0"/>
          </a:p>
        </p:txBody>
      </p:sp>
      <p:sp>
        <p:nvSpPr>
          <p:cNvPr id="13" name="Shape 11"/>
          <p:cNvSpPr/>
          <p:nvPr/>
        </p:nvSpPr>
        <p:spPr>
          <a:xfrm>
            <a:off x="548640" y="4087368"/>
            <a:ext cx="457200" cy="457200"/>
          </a:xfrm>
          <a:prstGeom prst="ellipse">
            <a:avLst/>
          </a:prstGeom>
          <a:solidFill>
            <a:srgbClr val="B3261E"/>
          </a:solidFill>
          <a:ln/>
        </p:spPr>
        <p:txBody>
          <a:bodyPr/>
          <a:p/>
        </p:txBody>
      </p:sp>
      <p:sp>
        <p:nvSpPr>
          <p:cNvPr id="14" name="Text 12"/>
          <p:cNvSpPr txBox="1"/>
          <p:nvPr/>
        </p:nvSpPr>
        <p:spPr>
          <a:xfrm>
            <a:off x="548640" y="408736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5" name="Text 13"/>
          <p:cNvSpPr txBox="1"/>
          <p:nvPr/>
        </p:nvSpPr>
        <p:spPr>
          <a:xfrm>
            <a:off x="1280160" y="4032504"/>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Your triage assistant looks great. What did it do with the 184/112 reading?</a:t>
            </a:r>
            <a:endParaRPr lang="en-US" sz="1500" dirty="0"/>
          </a:p>
        </p:txBody>
      </p:sp>
      <p:sp>
        <p:nvSpPr>
          <p:cNvPr id="16" name="Shape 14"/>
          <p:cNvSpPr/>
          <p:nvPr/>
        </p:nvSpPr>
        <p:spPr>
          <a:xfrm>
            <a:off x="548640" y="4928616"/>
            <a:ext cx="457200" cy="457200"/>
          </a:xfrm>
          <a:prstGeom prst="ellipse">
            <a:avLst/>
          </a:prstGeom>
          <a:solidFill>
            <a:srgbClr val="065A82"/>
          </a:solidFill>
          <a:ln/>
        </p:spPr>
        <p:txBody>
          <a:bodyPr/>
          <a:p/>
        </p:txBody>
      </p:sp>
      <p:sp>
        <p:nvSpPr>
          <p:cNvPr id="17" name="Text 15"/>
          <p:cNvSpPr txBox="1"/>
          <p:nvPr/>
        </p:nvSpPr>
        <p:spPr>
          <a:xfrm>
            <a:off x="548640" y="492861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18" name="Text 16"/>
          <p:cNvSpPr txBox="1"/>
          <p:nvPr/>
        </p:nvSpPr>
        <p:spPr>
          <a:xfrm>
            <a:off x="1280160" y="4873752"/>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Who is paying for the extra care the agent uncovered?</a:t>
            </a:r>
            <a:endParaRPr lang="en-US" sz="1500" dirty="0"/>
          </a:p>
        </p:txBody>
      </p:sp>
      <p:sp>
        <p:nvSpPr>
          <p:cNvPr id="19" name="Text 17"/>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B</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You didn't automate the bottleneck, you moved it</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206240"/>
                <a:gridCol w="3444088"/>
                <a:gridCol w="3444088"/>
              </a:tblGrid>
              <a:tr h="38404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Metric</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Before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Last quarter</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Nurses</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25</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22</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Readings / month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12,000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120,235</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Escalations / week</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300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2,400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After-hours share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Nurse response, median</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4.0h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31.1h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Overtime hrs / month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180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1,151</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Resignations</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Inactive after escalation</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340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Urgent cases missed / week</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06440"/>
            <a:ext cx="11094415" cy="365760"/>
          </a:xfrm>
          <a:prstGeom prst="rect">
            <a:avLst/>
          </a:prstGeom>
          <a:noFill/>
          <a:ln/>
        </p:spPr>
        <p:txBody>
          <a:bodyPr wrap="square" lIns="0" tIns="0" rIns="0" bIns="0" rtlCol="0" anchor="ctr"/>
          <a:lstStyle/>
          <a:p>
            <a:pPr indent="0" marL="0">
              <a:buNone/>
            </a:pPr>
            <a:r>
              <a:rPr lang="en-US" sz="1300" i="1" dirty="0">
                <a:solidFill>
                  <a:srgbClr val="5B6472"/>
                </a:solidFill>
                <a:latin typeface="Calibri" pitchFamily="34" charset="0"/>
                <a:ea typeface="Calibri" pitchFamily="34" charset="-122"/>
                <a:cs typeface="Calibri" pitchFamily="34" charset="-120"/>
              </a:rPr>
              <a:t>Readings up tenfold, engagement at 78% — the same motion produced this table.</a:t>
            </a:r>
            <a:endParaRPr lang="en-US" sz="1300" dirty="0"/>
          </a:p>
        </p:txBody>
      </p:sp>
      <p:sp>
        <p:nvSpPr>
          <p:cNvPr id="6" name="Text 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E · ACCEPTANCE RUN, THRESHOLDS AT 190/115</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2700" b="1" dirty="0">
                <a:solidFill>
                  <a:srgbClr val="1B1F27"/>
                </a:solidFill>
                <a:latin typeface="Cambria" pitchFamily="34" charset="0"/>
                <a:ea typeface="Cambria" pitchFamily="34" charset="-122"/>
                <a:cs typeface="Cambria" pitchFamily="34" charset="-120"/>
              </a:rPr>
              <a:t>Tuning parameters are strategy decisions in disguise</a:t>
            </a:r>
            <a:endParaRPr lang="en-US" sz="27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0241280" cy="914400"/>
        </p:xfrm>
        <a:graphic>
          <a:graphicData uri="http://schemas.openxmlformats.org/drawingml/2006/table">
            <a:tbl>
              <a:tblPr/>
              <a:tblGrid>
                <a:gridCol w="640080"/>
                <a:gridCol w="2834640"/>
                <a:gridCol w="2834640"/>
                <a:gridCol w="2194560"/>
                <a:gridCol w="1737360"/>
              </a:tblGrid>
              <a:tr h="256032">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Expected</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Got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Route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Flag</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nurse_urgent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nurse_urgent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8</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9</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nurse_urgent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11</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b="1" dirty="0">
                          <a:solidFill>
                            <a:srgbClr val="1B1F27"/>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B3261E"/>
                          </a:solidFill>
                          <a:latin typeface="Calibri" pitchFamily="34" charset="0"/>
                          <a:ea typeface="Calibri" pitchFamily="34" charset="-122"/>
                          <a:cs typeface="Calibri" pitchFamily="34" charset="-120"/>
                        </a:rPr>
                        <a:t>MISS · 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14</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15</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742432"/>
            <a:ext cx="10241280" cy="274320"/>
          </a:xfrm>
          <a:prstGeom prst="rect">
            <a:avLst/>
          </a:prstGeom>
          <a:noFill/>
          <a:ln/>
        </p:spPr>
        <p:txBody>
          <a:bodyPr wrap="square" lIns="0" tIns="0" rIns="0" bIns="0" rtlCol="0" anchor="ctr"/>
          <a:lstStyle/>
          <a:p>
            <a:pPr indent="0" marL="0">
              <a:buNone/>
            </a:pPr>
            <a:r>
              <a:rPr lang="en-US" sz="1250" b="1" dirty="0">
                <a:solidFill>
                  <a:srgbClr val="1B1F27"/>
                </a:solidFill>
                <a:latin typeface="Calibri" pitchFamily="34" charset="0"/>
                <a:ea typeface="Calibri" pitchFamily="34" charset="-122"/>
                <a:cs typeface="Calibri" pitchFamily="34" charset="-120"/>
              </a:rPr>
              <a:t>Accuracy 93%. Urgent recall 0.75. Missed urgent: [12]. Non-clinical routed away from nurses: 100%.</a:t>
            </a:r>
            <a:endParaRPr lang="en-US" sz="1250" dirty="0"/>
          </a:p>
        </p:txBody>
      </p:sp>
      <p:sp>
        <p:nvSpPr>
          <p:cNvPr id="6" name="Text 3"/>
          <p:cNvSpPr txBox="1"/>
          <p:nvPr/>
        </p:nvSpPr>
        <p:spPr>
          <a:xfrm>
            <a:off x="548640" y="6035040"/>
            <a:ext cx="10241280" cy="274320"/>
          </a:xfrm>
          <a:prstGeom prst="rect">
            <a:avLst/>
          </a:prstGeom>
          <a:noFill/>
          <a:ln/>
        </p:spPr>
        <p:txBody>
          <a:bodyPr wrap="square" lIns="0" tIns="0" rIns="0" bIns="0" rtlCol="0" anchor="ctr"/>
          <a:lstStyle/>
          <a:p>
            <a:pPr indent="0" marL="0">
              <a:buNone/>
            </a:pPr>
            <a:r>
              <a:rPr lang="en-US" sz="1200" i="1" dirty="0">
                <a:solidFill>
                  <a:srgbClr val="B3261E"/>
                </a:solidFill>
                <a:latin typeface="Calibri" pitchFamily="34" charset="0"/>
                <a:ea typeface="Calibri" pitchFamily="34" charset="-122"/>
                <a:cs typeface="Calibri" pitchFamily="34" charset="-120"/>
              </a:rPr>
              <a:t>184 is below the raised 190 threshold — the prompt reads 184/112 as routine, literally.</a:t>
            </a:r>
            <a:endParaRPr lang="en-US" sz="1200" dirty="0"/>
          </a:p>
        </p:txBody>
      </p:sp>
      <p:sp>
        <p:nvSpPr>
          <p:cNvPr id="7" name="Text 4"/>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TREND, WEEKS 1-52</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AI lets you pivot fast</a:t>
            </a:r>
            <a:endParaRPr lang="en-US" sz="3200" dirty="0"/>
          </a:p>
        </p:txBody>
      </p:sp>
      <p:graphicFrame>
        <p:nvGraphicFramePr>
          <p:cNvPr id="4" name="Chart 0" descr=""/>
          <p:cNvGraphicFramePr/>
          <p:nvPr/>
        </p:nvGraphicFramePr>
        <p:xfrm>
          <a:off x="548640" y="1508760"/>
          <a:ext cx="11094415"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486400"/>
            <a:ext cx="11094415" cy="292608"/>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Median nurse response: 31.1h → 4.0h — but 90.0 urgent cases a week are now missed.</a:t>
            </a:r>
            <a:endParaRPr lang="en-US" sz="1250" dirty="0"/>
          </a:p>
        </p:txBody>
      </p:sp>
      <p:sp>
        <p:nvSpPr>
          <p:cNvPr id="6" name="Text 3"/>
          <p:cNvSpPr txBox="1"/>
          <p:nvPr/>
        </p:nvSpPr>
        <p:spPr>
          <a:xfrm>
            <a:off x="548640" y="5806440"/>
            <a:ext cx="11094415" cy="292608"/>
          </a:xfrm>
          <a:prstGeom prst="rect">
            <a:avLst/>
          </a:prstGeom>
          <a:noFill/>
          <a:ln/>
        </p:spPr>
        <p:txBody>
          <a:bodyPr wrap="square" lIns="0" tIns="0" rIns="0" bIns="0" rtlCol="0" anchor="ctr"/>
          <a:lstStyle/>
          <a:p>
            <a:pPr indent="0" marL="0">
              <a:buNone/>
            </a:pPr>
            <a:r>
              <a:rPr lang="en-US" sz="1200" i="1" dirty="0">
                <a:solidFill>
                  <a:srgbClr val="1C7293"/>
                </a:solidFill>
                <a:latin typeface="Calibri" pitchFamily="34" charset="0"/>
                <a:ea typeface="Calibri" pitchFamily="34" charset="-122"/>
                <a:cs typeface="Calibri" pitchFamily="34" charset="-120"/>
              </a:rPr>
              <a:t>Numbers from a triage deployment made with the 190/115 decisions on this laptop; your room's numbers will differ. Show the live dashboard.</a:t>
            </a:r>
            <a:endParaRPr lang="en-US" sz="1200" dirty="0"/>
          </a:p>
        </p:txBody>
      </p:sp>
      <p:sp>
        <p:nvSpPr>
          <p:cNvPr id="7" name="Text 4"/>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NORTHLINE/AGENTS/TRIAGE/NURSE_KEY.JSON</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1B1F27"/>
                </a:solidFill>
                <a:latin typeface="Cambria" pitchFamily="34" charset="0"/>
                <a:ea typeface="Cambria" pitchFamily="34" charset="-122"/>
                <a:cs typeface="Cambria" pitchFamily="34" charset="-120"/>
              </a:rPr>
              <a:t>A fast fix still needs testing</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640080"/>
                <a:gridCol w="3931920"/>
                <a:gridCol w="6522415"/>
              </a:tblGrid>
              <a:tr h="749808">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Message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Why it's a trap</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Sugar was 62 before bed. Had some juice.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Sounds resolved — but nocturnal hypoglycemia still needs a same-night nurse follow-up.</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Sore on my foot, two weeks, doesn't hurt.</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Painless and downplayed — a two-week non-healing diabetic foot sore is a classic silent complication.</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BP 184/112, bit of a headache, probably nothing.</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The patient's own “probably nothing” invites under-triage of a hypertensive urgency.</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13</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Stopped the metformin. Don't tell the doctor.</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Medication nonadherence still has to reach a nurse; the request for secrecy cannot be honored.</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bl>
          </a:graphicData>
        </a:graphic>
      </p:graphicFrame>
      <p:sp>
        <p:nvSpPr>
          <p:cNvPr id="5" name="Text 2"/>
          <p:cNvSpPr txBox="1"/>
          <p:nvPr/>
        </p:nvSpPr>
        <p:spPr>
          <a:xfrm>
            <a:off x="548640" y="5623560"/>
            <a:ext cx="11094415" cy="365760"/>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Marked “draft”: illustrative, not a clinician's sign-off — good enough to argue about, not to route a patient.</a:t>
            </a:r>
            <a:endParaRPr lang="en-US" sz="1250" dirty="0"/>
          </a:p>
        </p:txBody>
      </p:sp>
      <p:sp>
        <p:nvSpPr>
          <p:cNvPr id="6" name="Text 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DASHBOARD · SIGN PRAIRIE TOGGLE</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Business model matters</a:t>
            </a:r>
            <a:endParaRPr lang="en-US" sz="3200" dirty="0"/>
          </a:p>
        </p:txBody>
      </p:sp>
      <p:graphicFrame>
        <p:nvGraphicFramePr>
          <p:cNvPr id="4" name="Chart 0" descr=""/>
          <p:cNvGraphicFramePr/>
          <p:nvPr/>
        </p:nvGraphicFramePr>
        <p:xfrm>
          <a:off x="548640" y="1463040"/>
          <a:ext cx="11094415" cy="3931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532120"/>
            <a:ext cx="11094415" cy="292608"/>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Same 100,000 patients, same contract — 336h capped without the deployment, 31h climbing to 57h with it. Triage buys a quarter, not headcount.</a:t>
            </a:r>
            <a:endParaRPr lang="en-US" sz="1250" dirty="0"/>
          </a:p>
        </p:txBody>
      </p:sp>
      <p:sp>
        <p:nvSpPr>
          <p:cNvPr id="6" name="Text 3"/>
          <p:cNvSpPr txBox="1"/>
          <p:nvPr/>
        </p:nvSpPr>
        <p:spPr>
          <a:xfrm>
            <a:off x="548640" y="5852160"/>
            <a:ext cx="11094415" cy="292608"/>
          </a:xfrm>
          <a:prstGeom prst="rect">
            <a:avLst/>
          </a:prstGeom>
          <a:noFill/>
          <a:ln/>
        </p:spPr>
        <p:txBody>
          <a:bodyPr wrap="square" lIns="0" tIns="0" rIns="0" bIns="0" rtlCol="0" anchor="ctr"/>
          <a:lstStyle/>
          <a:p>
            <a:pPr indent="0" marL="0">
              <a:buNone/>
            </a:pPr>
            <a:r>
              <a:rPr lang="en-US" sz="1200" i="1" dirty="0">
                <a:solidFill>
                  <a:srgbClr val="1C7293"/>
                </a:solidFill>
                <a:latin typeface="Calibri" pitchFamily="34" charset="0"/>
                <a:ea typeface="Calibri" pitchFamily="34" charset="-122"/>
                <a:cs typeface="Calibri" pitchFamily="34" charset="-120"/>
              </a:rPr>
              <a:t>Numbers from a triage deployment made with the 190/115 decisions on this laptop; your room's numbers will differ. Show the live dashboard.</a:t>
            </a:r>
            <a:endParaRPr lang="en-US" sz="1200" dirty="0"/>
          </a:p>
        </p:txBody>
      </p:sp>
      <p:sp>
        <p:nvSpPr>
          <p:cNvPr id="7" name="Text 4"/>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DOCS/01-FRONT-DOORS.MD</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1B1F27"/>
                </a:solidFill>
                <a:latin typeface="Cambria" pitchFamily="34" charset="0"/>
                <a:ea typeface="Cambria" pitchFamily="34" charset="-122"/>
                <a:cs typeface="Cambria" pitchFamily="34" charset="-120"/>
              </a:rPr>
              <a:t>Where each front door belongs</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468880"/>
                <a:gridCol w="4312768"/>
                <a:gridCol w="4312768"/>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Dimension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MCP given to the customer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Controlled agent you host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Who runs the loop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Their agent, their prompt, their model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Distribution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Wherever they already work</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They have to come to you</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What you see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Tool calls: name, arguments, status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Every word, including what you could not do</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Guardrails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Refuse inside a tool only</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Yours, end to end</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Who pays for tokens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They do</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 do</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Liability when it misspeaks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Shared and unclear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Yours, and clear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Build cost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 tool layer only</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Tool layer plus prompt, UI, hosting, logging</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Time to first user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Days, if they already have an agent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Weeks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What Prairie saw</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E9A8"/>
                    </a:solidFill>
                  </a:tcPr>
                </a:tc>
                <a:tc>
                  <a:txBody>
                    <a:bodyPr/>
                    <a:lstStyle/>
                    <a:p>
                      <a:pPr algn="ctr" indent="0" marL="0">
                        <a:buNone/>
                      </a:pPr>
                      <a:r>
                        <a:rPr lang="en-US" sz="1150" b="1" dirty="0">
                          <a:solidFill>
                            <a:srgbClr val="1B1F27"/>
                          </a:solidFill>
                          <a:latin typeface="Calibri" pitchFamily="34" charset="0"/>
                          <a:ea typeface="Calibri" pitchFamily="34" charset="-122"/>
                          <a:cs typeface="Calibri" pitchFamily="34" charset="-120"/>
                        </a:rPr>
                        <a:t>78% engagement, tenfold readings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E9A8"/>
                    </a:solidFill>
                  </a:tcPr>
                </a:tc>
                <a:tc>
                  <a:txBody>
                    <a:bodyPr/>
                    <a:lstStyle/>
                    <a:p>
                      <a:pPr algn="ctr" indent="0" marL="0">
                        <a:buNone/>
                      </a:pPr>
                      <a:r>
                        <a:rPr lang="en-US" sz="1150" b="1" dirty="0">
                          <a:solidFill>
                            <a:srgbClr val="1B1F27"/>
                          </a:solidFill>
                          <a:latin typeface="Calibri" pitchFamily="34" charset="0"/>
                          <a:ea typeface="Calibri" pitchFamily="34" charset="-122"/>
                          <a:cs typeface="Calibri" pitchFamily="34" charset="-120"/>
                        </a:rPr>
                        <a:t>Nothing; they never asked for escalations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E9A8"/>
                    </a:solidFill>
                  </a:tcPr>
                </a:tc>
              </a:tr>
            </a:tbl>
          </a:graphicData>
        </a:graphic>
      </p:graphicFrame>
      <p:sp>
        <p:nvSpPr>
          <p:cNvPr id="5" name="Text 2"/>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CASE ONE IN ONE SLIDE</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Build-versus-buy is a go-to-market question.</a:t>
            </a:r>
            <a:endParaRPr lang="en-US" sz="3200" dirty="0"/>
          </a:p>
        </p:txBody>
      </p:sp>
      <p:sp>
        <p:nvSpPr>
          <p:cNvPr id="4" name="Shape 2"/>
          <p:cNvSpPr/>
          <p:nvPr/>
        </p:nvSpPr>
        <p:spPr>
          <a:xfrm>
            <a:off x="548640" y="1874520"/>
            <a:ext cx="640080" cy="640080"/>
          </a:xfrm>
          <a:prstGeom prst="ellipse">
            <a:avLst/>
          </a:prstGeom>
          <a:solidFill>
            <a:srgbClr val="1C7293"/>
          </a:solidFill>
          <a:ln/>
        </p:spPr>
        <p:txBody>
          <a:bodyPr/>
          <a:p/>
        </p:txBody>
      </p:sp>
      <p:sp>
        <p:nvSpPr>
          <p:cNvPr id="5" name="Text 3"/>
          <p:cNvSpPr txBox="1"/>
          <p:nvPr/>
        </p:nvSpPr>
        <p:spPr>
          <a:xfrm>
            <a:off x="548640" y="1737360"/>
            <a:ext cx="64008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a:t>
            </a:r>
            <a:endParaRPr lang="en-US" sz="3400" dirty="0"/>
          </a:p>
        </p:txBody>
      </p:sp>
      <p:sp>
        <p:nvSpPr>
          <p:cNvPr id="6" name="Text 4"/>
          <p:cNvSpPr txBox="1"/>
          <p:nvPr/>
        </p:nvSpPr>
        <p:spPr>
          <a:xfrm>
            <a:off x="1463040" y="1783080"/>
            <a:ext cx="10180015" cy="1828800"/>
          </a:xfrm>
          <a:prstGeom prst="rect">
            <a:avLst/>
          </a:prstGeom>
          <a:noFill/>
          <a:ln/>
        </p:spPr>
        <p:txBody>
          <a:bodyPr wrap="square" lIns="0" tIns="0" rIns="0" bIns="0" rtlCol="0" anchor="ctr"/>
          <a:lstStyle/>
          <a:p>
            <a:pPr indent="0" marL="0">
              <a:lnSpc>
                <a:spcPct val="130000"/>
              </a:lnSpc>
              <a:buNone/>
            </a:pPr>
            <a:r>
              <a:rPr lang="en-US" sz="2200" i="1" dirty="0">
                <a:solidFill>
                  <a:srgbClr val="1B1F27"/>
                </a:solidFill>
                <a:latin typeface="Times New Roman" pitchFamily="34" charset="0"/>
                <a:ea typeface="Times New Roman" pitchFamily="34" charset="-122"/>
                <a:cs typeface="Times New Roman" pitchFamily="34" charset="-120"/>
              </a:rPr>
              <a:t>What is good enough to sell in one country may not be good enough in another: regulation, clinical standards, liability, and buyer expectations all differ.</a:t>
            </a:r>
            <a:endParaRPr lang="en-US" sz="2200" dirty="0"/>
          </a:p>
        </p:txBody>
      </p:sp>
      <p:sp>
        <p:nvSpPr>
          <p:cNvPr id="7" name="Text 5"/>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AFTER THE ROOM</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Take it home</a:t>
            </a:r>
            <a:endParaRPr lang="en-US" sz="3200" dirty="0"/>
          </a:p>
        </p:txBody>
      </p:sp>
      <p:sp>
        <p:nvSpPr>
          <p:cNvPr id="4" name="Shape 2"/>
          <p:cNvSpPr/>
          <p:nvPr/>
        </p:nvSpPr>
        <p:spPr>
          <a:xfrm>
            <a:off x="548640" y="1691640"/>
            <a:ext cx="2514600" cy="1371600"/>
          </a:xfrm>
          <a:prstGeom prst="roundRect">
            <a:avLst>
              <a:gd name="adj" fmla="val 23333"/>
            </a:avLst>
          </a:prstGeom>
          <a:solidFill>
            <a:srgbClr val="065A82"/>
          </a:solidFill>
          <a:ln/>
        </p:spPr>
        <p:txBody>
          <a:bodyPr/>
          <a:p/>
        </p:txBody>
      </p:sp>
      <p:sp>
        <p:nvSpPr>
          <p:cNvPr id="5" name="Text 3"/>
          <p:cNvSpPr txBox="1"/>
          <p:nvPr/>
        </p:nvSpPr>
        <p:spPr>
          <a:xfrm>
            <a:off x="685800"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1</a:t>
            </a:r>
            <a:endParaRPr lang="en-US" sz="1600" dirty="0"/>
          </a:p>
        </p:txBody>
      </p:sp>
      <p:sp>
        <p:nvSpPr>
          <p:cNvPr id="6" name="Text 4"/>
          <p:cNvSpPr txBox="1"/>
          <p:nvPr/>
        </p:nvSpPr>
        <p:spPr>
          <a:xfrm>
            <a:off x="731520"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Unzip</a:t>
            </a:r>
            <a:endParaRPr lang="en-US" sz="1500" dirty="0"/>
          </a:p>
        </p:txBody>
      </p:sp>
      <p:sp>
        <p:nvSpPr>
          <p:cNvPr id="7" name="Text 5"/>
          <p:cNvSpPr txBox="1"/>
          <p:nvPr/>
        </p:nvSpPr>
        <p:spPr>
          <a:xfrm>
            <a:off x="731520"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the course folder, on your own machine</a:t>
            </a:r>
            <a:endParaRPr lang="en-US" sz="1050" dirty="0"/>
          </a:p>
        </p:txBody>
      </p:sp>
      <p:sp>
        <p:nvSpPr>
          <p:cNvPr id="8" name="Shape 6"/>
          <p:cNvSpPr/>
          <p:nvPr/>
        </p:nvSpPr>
        <p:spPr>
          <a:xfrm>
            <a:off x="3063240" y="2377440"/>
            <a:ext cx="345338" cy="0"/>
          </a:xfrm>
          <a:prstGeom prst="line">
            <a:avLst/>
          </a:prstGeom>
          <a:noFill/>
          <a:ln w="19050">
            <a:solidFill>
              <a:srgbClr val="5B6472"/>
            </a:solidFill>
            <a:prstDash val="solid"/>
            <a:tailEnd type="triangle"/>
          </a:ln>
        </p:spPr>
        <p:txBody>
          <a:bodyPr/>
          <a:p/>
        </p:txBody>
      </p:sp>
      <p:sp>
        <p:nvSpPr>
          <p:cNvPr id="9" name="Shape 7"/>
          <p:cNvSpPr/>
          <p:nvPr/>
        </p:nvSpPr>
        <p:spPr>
          <a:xfrm>
            <a:off x="3408578" y="1691640"/>
            <a:ext cx="2514600" cy="1371600"/>
          </a:xfrm>
          <a:prstGeom prst="roundRect">
            <a:avLst>
              <a:gd name="adj" fmla="val 23333"/>
            </a:avLst>
          </a:prstGeom>
          <a:solidFill>
            <a:srgbClr val="1C7293"/>
          </a:solidFill>
          <a:ln/>
        </p:spPr>
        <p:txBody>
          <a:bodyPr/>
          <a:p/>
        </p:txBody>
      </p:sp>
      <p:sp>
        <p:nvSpPr>
          <p:cNvPr id="10" name="Text 8"/>
          <p:cNvSpPr txBox="1"/>
          <p:nvPr/>
        </p:nvSpPr>
        <p:spPr>
          <a:xfrm>
            <a:off x="3545738"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2</a:t>
            </a:r>
            <a:endParaRPr lang="en-US" sz="1600" dirty="0"/>
          </a:p>
        </p:txBody>
      </p:sp>
      <p:sp>
        <p:nvSpPr>
          <p:cNvPr id="11" name="Text 9"/>
          <p:cNvSpPr txBox="1"/>
          <p:nvPr/>
        </p:nvSpPr>
        <p:spPr>
          <a:xfrm>
            <a:off x="3591458"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/northline-setup</a:t>
            </a:r>
            <a:endParaRPr lang="en-US" sz="1500" dirty="0"/>
          </a:p>
        </p:txBody>
      </p:sp>
      <p:sp>
        <p:nvSpPr>
          <p:cNvPr id="12" name="Text 10"/>
          <p:cNvSpPr txBox="1"/>
          <p:nvPr/>
        </p:nvSpPr>
        <p:spPr>
          <a:xfrm>
            <a:off x="3591458"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installs nothing else; macOS, Linux, Windows</a:t>
            </a:r>
            <a:endParaRPr lang="en-US" sz="1050" dirty="0"/>
          </a:p>
        </p:txBody>
      </p:sp>
      <p:sp>
        <p:nvSpPr>
          <p:cNvPr id="13" name="Shape 11"/>
          <p:cNvSpPr/>
          <p:nvPr/>
        </p:nvSpPr>
        <p:spPr>
          <a:xfrm>
            <a:off x="5923178" y="2377440"/>
            <a:ext cx="345338" cy="0"/>
          </a:xfrm>
          <a:prstGeom prst="line">
            <a:avLst/>
          </a:prstGeom>
          <a:noFill/>
          <a:ln w="19050">
            <a:solidFill>
              <a:srgbClr val="5B6472"/>
            </a:solidFill>
            <a:prstDash val="solid"/>
            <a:tailEnd type="triangle"/>
          </a:ln>
        </p:spPr>
        <p:txBody>
          <a:bodyPr/>
          <a:p/>
        </p:txBody>
      </p:sp>
      <p:sp>
        <p:nvSpPr>
          <p:cNvPr id="14" name="Shape 12"/>
          <p:cNvSpPr/>
          <p:nvPr/>
        </p:nvSpPr>
        <p:spPr>
          <a:xfrm>
            <a:off x="6268517" y="1691640"/>
            <a:ext cx="2514600" cy="1371600"/>
          </a:xfrm>
          <a:prstGeom prst="roundRect">
            <a:avLst>
              <a:gd name="adj" fmla="val 23333"/>
            </a:avLst>
          </a:prstGeom>
          <a:solidFill>
            <a:srgbClr val="065A82"/>
          </a:solidFill>
          <a:ln/>
        </p:spPr>
        <p:txBody>
          <a:bodyPr/>
          <a:p/>
        </p:txBody>
      </p:sp>
      <p:sp>
        <p:nvSpPr>
          <p:cNvPr id="15" name="Text 13"/>
          <p:cNvSpPr txBox="1"/>
          <p:nvPr/>
        </p:nvSpPr>
        <p:spPr>
          <a:xfrm>
            <a:off x="6405677"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3</a:t>
            </a:r>
            <a:endParaRPr lang="en-US" sz="1600" dirty="0"/>
          </a:p>
        </p:txBody>
      </p:sp>
      <p:sp>
        <p:nvSpPr>
          <p:cNvPr id="16" name="Text 14"/>
          <p:cNvSpPr txBox="1"/>
          <p:nvPr/>
        </p:nvSpPr>
        <p:spPr>
          <a:xfrm>
            <a:off x="6451397"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/northline-new-experience</a:t>
            </a:r>
            <a:endParaRPr lang="en-US" sz="1500" dirty="0"/>
          </a:p>
        </p:txBody>
      </p:sp>
      <p:sp>
        <p:nvSpPr>
          <p:cNvPr id="17" name="Text 15"/>
          <p:cNvSpPr txBox="1"/>
          <p:nvPr/>
        </p:nvSpPr>
        <p:spPr>
          <a:xfrm>
            <a:off x="6451397"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build a third front door for a persona this repo doesn't cover</a:t>
            </a:r>
            <a:endParaRPr lang="en-US" sz="1050" dirty="0"/>
          </a:p>
        </p:txBody>
      </p:sp>
      <p:sp>
        <p:nvSpPr>
          <p:cNvPr id="18" name="Shape 16"/>
          <p:cNvSpPr/>
          <p:nvPr/>
        </p:nvSpPr>
        <p:spPr>
          <a:xfrm>
            <a:off x="8783117" y="2377440"/>
            <a:ext cx="345338" cy="0"/>
          </a:xfrm>
          <a:prstGeom prst="line">
            <a:avLst/>
          </a:prstGeom>
          <a:noFill/>
          <a:ln w="19050">
            <a:solidFill>
              <a:srgbClr val="5B6472"/>
            </a:solidFill>
            <a:prstDash val="solid"/>
            <a:tailEnd type="triangle"/>
          </a:ln>
        </p:spPr>
        <p:txBody>
          <a:bodyPr/>
          <a:p/>
        </p:txBody>
      </p:sp>
      <p:sp>
        <p:nvSpPr>
          <p:cNvPr id="19" name="Shape 17"/>
          <p:cNvSpPr/>
          <p:nvPr/>
        </p:nvSpPr>
        <p:spPr>
          <a:xfrm>
            <a:off x="9128455" y="1691640"/>
            <a:ext cx="2514600" cy="1371600"/>
          </a:xfrm>
          <a:prstGeom prst="roundRect">
            <a:avLst>
              <a:gd name="adj" fmla="val 23333"/>
            </a:avLst>
          </a:prstGeom>
          <a:solidFill>
            <a:srgbClr val="1C7293"/>
          </a:solidFill>
          <a:ln/>
        </p:spPr>
        <p:txBody>
          <a:bodyPr/>
          <a:p/>
        </p:txBody>
      </p:sp>
      <p:sp>
        <p:nvSpPr>
          <p:cNvPr id="20" name="Text 18"/>
          <p:cNvSpPr txBox="1"/>
          <p:nvPr/>
        </p:nvSpPr>
        <p:spPr>
          <a:xfrm>
            <a:off x="9265615"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4</a:t>
            </a:r>
            <a:endParaRPr lang="en-US" sz="1600" dirty="0"/>
          </a:p>
        </p:txBody>
      </p:sp>
      <p:sp>
        <p:nvSpPr>
          <p:cNvPr id="21" name="Text 19"/>
          <p:cNvSpPr txBox="1"/>
          <p:nvPr/>
        </p:nvSpPr>
        <p:spPr>
          <a:xfrm>
            <a:off x="9311335"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Three exercises</a:t>
            </a:r>
            <a:endParaRPr lang="en-US" sz="1500" dirty="0"/>
          </a:p>
        </p:txBody>
      </p:sp>
      <p:sp>
        <p:nvSpPr>
          <p:cNvPr id="22" name="Text 20"/>
          <p:cNvSpPr txBox="1"/>
          <p:nvPr/>
        </p:nvSpPr>
        <p:spPr>
          <a:xfrm>
            <a:off x="9311335"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in the exercises folder, same skills as today</a:t>
            </a:r>
            <a:endParaRPr lang="en-US" sz="1050" dirty="0"/>
          </a:p>
        </p:txBody>
      </p:sp>
      <p:sp>
        <p:nvSpPr>
          <p:cNvPr id="23" name="Shape 21"/>
          <p:cNvSpPr/>
          <p:nvPr/>
        </p:nvSpPr>
        <p:spPr>
          <a:xfrm>
            <a:off x="548640" y="3611880"/>
            <a:ext cx="11094415" cy="1234440"/>
          </a:xfrm>
          <a:prstGeom prst="roundRect">
            <a:avLst>
              <a:gd name="adj" fmla="val 5926"/>
            </a:avLst>
          </a:prstGeom>
          <a:solidFill>
            <a:srgbClr val="F4F7FA"/>
          </a:solidFill>
          <a:ln w="12700">
            <a:solidFill>
              <a:srgbClr val="D8E1EA"/>
            </a:solidFill>
            <a:prstDash val="solid"/>
          </a:ln>
        </p:spPr>
        <p:txBody>
          <a:bodyPr/>
          <a:p/>
        </p:txBody>
      </p:sp>
      <p:sp>
        <p:nvSpPr>
          <p:cNvPr id="24" name="Text 22"/>
          <p:cNvSpPr txBox="1"/>
          <p:nvPr/>
        </p:nvSpPr>
        <p:spPr>
          <a:xfrm>
            <a:off x="914400" y="3840480"/>
            <a:ext cx="10362895" cy="777240"/>
          </a:xfrm>
          <a:prstGeom prst="rect">
            <a:avLst/>
          </a:prstGeom>
          <a:noFill/>
          <a:ln/>
        </p:spPr>
        <p:txBody>
          <a:bodyPr wrap="square" lIns="0" tIns="0" rIns="0" bIns="0" rtlCol="0" anchor="ctr"/>
          <a:lstStyle/>
          <a:p>
            <a:pPr indent="0" marL="0">
              <a:buNone/>
            </a:pPr>
            <a:r>
              <a:rPr lang="en-US" sz="2400" b="1" dirty="0">
                <a:solidFill>
                  <a:srgbClr val="21295C"/>
                </a:solidFill>
                <a:latin typeface="Cambria" pitchFamily="34" charset="0"/>
                <a:ea typeface="Cambria" pitchFamily="34" charset="-122"/>
                <a:cs typeface="Cambria" pitchFamily="34" charset="-120"/>
              </a:rPr>
              <a:t>Where is this bottleneck hiding in your market?</a:t>
            </a:r>
            <a:endParaRPr lang="en-US" sz="2400" dirty="0"/>
          </a:p>
        </p:txBody>
      </p:sp>
      <p:sp>
        <p:nvSpPr>
          <p:cNvPr id="25" name="Text 2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2026-09-16T21:12:59Z</dcterms:created>
  <dcterms:modified xsi:type="dcterms:W3CDTF">2026-09-16T21:12:59Z</dcterms:modified>
</cp:coreProperties>
</file>
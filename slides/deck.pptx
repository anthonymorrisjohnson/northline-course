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1"/>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Sheet1!$A$2:$A$53</c:f>
              <c:strCache>
                <c:ptCount val="5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strCache>
            </c:strRef>
          </c:cat>
          <c:val>
            <c:numRef>
              <c:f>Sheet1!$B$2:$B$53</c:f>
              <c:numCache>
                <c:formatCode>General</c:formatCode>
                <c:ptCount val="52"/>
                <c:pt idx="0">
                  <c:v>22.2</c:v>
                </c:pt>
                <c:pt idx="1">
                  <c:v>22.2</c:v>
                </c:pt>
                <c:pt idx="2">
                  <c:v>22.2</c:v>
                </c:pt>
                <c:pt idx="3">
                  <c:v>22.2</c:v>
                </c:pt>
                <c:pt idx="4">
                  <c:v>22.2</c:v>
                </c:pt>
                <c:pt idx="5">
                  <c:v>22.2</c:v>
                </c:pt>
                <c:pt idx="6">
                  <c:v>22.2</c:v>
                </c:pt>
                <c:pt idx="7">
                  <c:v>22.2</c:v>
                </c:pt>
                <c:pt idx="8">
                  <c:v>22.2</c:v>
                </c:pt>
                <c:pt idx="9">
                  <c:v>22.2</c:v>
                </c:pt>
                <c:pt idx="10">
                  <c:v>22.2</c:v>
                </c:pt>
                <c:pt idx="11">
                  <c:v>22.2</c:v>
                </c:pt>
                <c:pt idx="12">
                  <c:v>22.2</c:v>
                </c:pt>
                <c:pt idx="13">
                  <c:v>22.2</c:v>
                </c:pt>
                <c:pt idx="14">
                  <c:v>22.2</c:v>
                </c:pt>
                <c:pt idx="15">
                  <c:v>22.2</c:v>
                </c:pt>
                <c:pt idx="16">
                  <c:v>22.2</c:v>
                </c:pt>
                <c:pt idx="17">
                  <c:v>22.2</c:v>
                </c:pt>
                <c:pt idx="18">
                  <c:v>22.2</c:v>
                </c:pt>
                <c:pt idx="19">
                  <c:v>22.2</c:v>
                </c:pt>
                <c:pt idx="20">
                  <c:v>22.2</c:v>
                </c:pt>
                <c:pt idx="21">
                  <c:v>22.2</c:v>
                </c:pt>
                <c:pt idx="22">
                  <c:v>22.2</c:v>
                </c:pt>
                <c:pt idx="23">
                  <c:v>22.2</c:v>
                </c:pt>
                <c:pt idx="24">
                  <c:v>22.2</c:v>
                </c:pt>
                <c:pt idx="25">
                  <c:v>22.2</c:v>
                </c:pt>
                <c:pt idx="26">
                  <c:v>22.2</c:v>
                </c:pt>
                <c:pt idx="27">
                  <c:v>22.2</c:v>
                </c:pt>
                <c:pt idx="28">
                  <c:v>22.2</c:v>
                </c:pt>
                <c:pt idx="29">
                  <c:v>28.3</c:v>
                </c:pt>
                <c:pt idx="30">
                  <c:v>28.3</c:v>
                </c:pt>
                <c:pt idx="31">
                  <c:v>28.3</c:v>
                </c:pt>
                <c:pt idx="32">
                  <c:v>28.3</c:v>
                </c:pt>
                <c:pt idx="33">
                  <c:v>28.3</c:v>
                </c:pt>
                <c:pt idx="34">
                  <c:v>36.7</c:v>
                </c:pt>
                <c:pt idx="35">
                  <c:v>36.7</c:v>
                </c:pt>
                <c:pt idx="36">
                  <c:v>36.7</c:v>
                </c:pt>
                <c:pt idx="37">
                  <c:v>36.7</c:v>
                </c:pt>
                <c:pt idx="38">
                  <c:v>48.9</c:v>
                </c:pt>
                <c:pt idx="39">
                  <c:v>4.0</c:v>
                </c:pt>
                <c:pt idx="40">
                  <c:v>4.0</c:v>
                </c:pt>
                <c:pt idx="41">
                  <c:v>4.0</c:v>
                </c:pt>
                <c:pt idx="42">
                  <c:v>4.0</c:v>
                </c:pt>
                <c:pt idx="43">
                  <c:v>4.0</c:v>
                </c:pt>
                <c:pt idx="44">
                  <c:v>4.0</c:v>
                </c:pt>
                <c:pt idx="45">
                  <c:v>4.0</c:v>
                </c:pt>
                <c:pt idx="46">
                  <c:v>4.0</c:v>
                </c:pt>
                <c:pt idx="47">
                  <c:v>4.0</c:v>
                </c:pt>
                <c:pt idx="48">
                  <c:v>4.0</c:v>
                </c:pt>
                <c:pt idx="49">
                  <c:v>4.0</c:v>
                </c:pt>
                <c:pt idx="50">
                  <c:v>4.0</c:v>
                </c:pt>
                <c:pt idx="51">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Sheet1!$B$2:$B$14</c:f>
              <c:numCache>
                <c:formatCode>General</c:formatCode>
                <c:ptCount val="13"/>
                <c:pt idx="0">
                  <c:v>30.8</c:v>
                </c:pt>
                <c:pt idx="1">
                  <c:v>30.8</c:v>
                </c:pt>
                <c:pt idx="2">
                  <c:v>30.8</c:v>
                </c:pt>
                <c:pt idx="3">
                  <c:v>30.8</c:v>
                </c:pt>
                <c:pt idx="4">
                  <c:v>30.8</c:v>
                </c:pt>
                <c:pt idx="5">
                  <c:v>41.2</c:v>
                </c:pt>
                <c:pt idx="6">
                  <c:v>41.2</c:v>
                </c:pt>
                <c:pt idx="7">
                  <c:v>41.2</c:v>
                </c:pt>
                <c:pt idx="8">
                  <c:v>41.2</c:v>
                </c:pt>
                <c:pt idx="9">
                  <c:v>56.7</c:v>
                </c:pt>
                <c:pt idx="10">
                  <c:v>56.7</c:v>
                </c:pt>
                <c:pt idx="11">
                  <c:v>56.7</c:v>
                </c:pt>
                <c:pt idx="12">
                  <c:v>56.7</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Sheet1!$C$2:$C$14</c:f>
              <c:numCache>
                <c:formatCode>General</c:formatCode>
                <c:ptCount val="13"/>
                <c:pt idx="0">
                  <c:v>336.0</c:v>
                </c:pt>
                <c:pt idx="1">
                  <c:v>336.0</c:v>
                </c:pt>
                <c:pt idx="2">
                  <c:v>336.0</c:v>
                </c:pt>
                <c:pt idx="3">
                  <c:v>336.0</c:v>
                </c:pt>
                <c:pt idx="4">
                  <c:v>336.0</c:v>
                </c:pt>
                <c:pt idx="5">
                  <c:v>336.0</c:v>
                </c:pt>
                <c:pt idx="6">
                  <c:v>336.0</c:v>
                </c:pt>
                <c:pt idx="7">
                  <c:v>336.0</c:v>
                </c:pt>
                <c:pt idx="8">
                  <c:v>336.0</c:v>
                </c:pt>
                <c:pt idx="9">
                  <c:v>336.0</c:v>
                </c:pt>
                <c:pt idx="10">
                  <c:v>336.0</c:v>
                </c:pt>
                <c:pt idx="11">
                  <c:v>336.0</c:v>
                </c:pt>
                <c:pt idx="12">
                  <c:v>336.0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/northline-deploy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64592"/>
            <a:ext cx="11094415" cy="274320"/>
          </a:xfrm>
          <a:prstGeom prst="rect">
            <a:avLst/>
          </a:prstGeom>
          <a:noFill/>
        </p:spPr>
        <p:txBody>
          <a:bodyPr wrap="square" lIns="0" rIns="0" tIns="0" bIns="0">
            <a:spAutoFit/>
          </a:bodyPr>
          <a:lstStyle/>
          <a:p>
            <a:r>
              <a:rPr sz="1200" b="1">
                <a:solidFill>
                  <a:srgbClr val="1C7293"/>
                </a:solidFill>
                <a:latin typeface="Calibri"/>
              </a:rPr>
              <a:t>BEFORE WE START</a:t>
            </a:r>
          </a:p>
        </p:txBody>
      </p:sp>
      <p:sp>
        <p:nvSpPr>
          <p:cNvPr id="3" name="TextBox 2"/>
          <p:cNvSpPr txBox="1"/>
          <p:nvPr/>
        </p:nvSpPr>
        <p:spPr>
          <a:xfrm>
            <a:off x="548640" y="411480"/>
            <a:ext cx="11094415" cy="822960"/>
          </a:xfrm>
          <a:prstGeom prst="rect">
            <a:avLst/>
          </a:prstGeom>
          <a:noFill/>
        </p:spPr>
        <p:txBody>
          <a:bodyPr wrap="square" lIns="0" rIns="0" tIns="0" bIns="0">
            <a:spAutoFit/>
          </a:bodyPr>
          <a:lstStyle/>
          <a:p>
            <a:r>
              <a:rPr sz="3200" b="1">
                <a:solidFill>
                  <a:srgbClr val="1B1F27"/>
                </a:solidFill>
                <a:latin typeface="Cambria"/>
              </a:rPr>
              <a:t>Three things, then wait for us</a:t>
            </a:r>
          </a:p>
        </p:txBody>
      </p:sp>
      <p:sp>
        <p:nvSpPr>
          <p:cNvPr id="4" name="Rounded Rectangle 3"/>
          <p:cNvSpPr/>
          <p:nvPr/>
        </p:nvSpPr>
        <p:spPr>
          <a:xfrm>
            <a:off x="54864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2987040" cy="457200"/>
          </a:xfrm>
          <a:prstGeom prst="rect">
            <a:avLst/>
          </a:prstGeom>
          <a:noFill/>
        </p:spPr>
        <p:txBody>
          <a:bodyPr wrap="square" lIns="0" rIns="0" tIns="0" bIns="0">
            <a:spAutoFit/>
          </a:bodyPr>
          <a:lstStyle/>
          <a:p>
            <a:r>
              <a:rPr sz="3000" b="1">
                <a:solidFill>
                  <a:srgbClr val="1C7293"/>
                </a:solidFill>
                <a:latin typeface="Cambria"/>
              </a:rPr>
              <a:t>1</a:t>
            </a:r>
          </a:p>
        </p:txBody>
      </p:sp>
      <p:sp>
        <p:nvSpPr>
          <p:cNvPr id="6" name="TextBox 5"/>
          <p:cNvSpPr txBox="1"/>
          <p:nvPr/>
        </p:nvSpPr>
        <p:spPr>
          <a:xfrm>
            <a:off x="822960" y="2331720"/>
            <a:ext cx="2987040" cy="411480"/>
          </a:xfrm>
          <a:prstGeom prst="rect">
            <a:avLst/>
          </a:prstGeom>
          <a:noFill/>
        </p:spPr>
        <p:txBody>
          <a:bodyPr wrap="square" lIns="0" rIns="0" tIns="0" bIns="0">
            <a:spAutoFit/>
          </a:bodyPr>
          <a:lstStyle/>
          <a:p>
            <a:r>
              <a:rPr sz="2000" b="1">
                <a:solidFill>
                  <a:srgbClr val="21295C"/>
                </a:solidFill>
                <a:latin typeface="Cambria"/>
              </a:rPr>
              <a:t>Open Claude Code</a:t>
            </a:r>
          </a:p>
        </p:txBody>
      </p:sp>
      <p:sp>
        <p:nvSpPr>
          <p:cNvPr id="7" name="TextBox 6"/>
          <p:cNvSpPr txBox="1"/>
          <p:nvPr/>
        </p:nvSpPr>
        <p:spPr>
          <a:xfrm>
            <a:off x="82296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The desktop app. Sign in if it asks.</a:t>
            </a:r>
          </a:p>
          <a:p>
            <a:pPr>
              <a:spcAft>
                <a:spcPts val="800"/>
              </a:spcAft>
            </a:pPr>
            <a:r>
              <a:rPr sz="1400">
                <a:solidFill>
                  <a:srgbClr val="5B6472"/>
                </a:solidFill>
                <a:latin typeface="Calibri"/>
              </a:rPr>
              <a:t>Click </a:t>
            </a:r>
            <a:r>
              <a:rPr sz="1400" b="1">
                <a:solidFill>
                  <a:srgbClr val="5B6472"/>
                </a:solidFill>
                <a:latin typeface="Calibri"/>
              </a:rPr>
              <a:t>New project</a:t>
            </a:r>
            <a:r>
              <a:rPr sz="1400">
                <a:solidFill>
                  <a:srgbClr val="5B6472"/>
                </a:solidFill>
                <a:latin typeface="Calibri"/>
              </a:rPr>
              <a:t>, make a new empty folder, and name it </a:t>
            </a:r>
            <a:r>
              <a:rPr sz="1300" b="1">
                <a:solidFill>
                  <a:srgbClr val="1C7293"/>
                </a:solidFill>
                <a:latin typeface="Consolas"/>
              </a:rPr>
              <a:t>northline</a:t>
            </a:r>
            <a:r>
              <a:rPr sz="1400">
                <a:solidFill>
                  <a:srgbClr val="5B6472"/>
                </a:solidFill>
                <a:latin typeface="Calibri"/>
              </a:rPr>
              <a:t>.</a:t>
            </a:r>
          </a:p>
        </p:txBody>
      </p:sp>
      <p:sp>
        <p:nvSpPr>
          <p:cNvPr id="8" name="Rounded Rectangle 7"/>
          <p:cNvSpPr/>
          <p:nvPr/>
        </p:nvSpPr>
        <p:spPr>
          <a:xfrm>
            <a:off x="432816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2480" y="1783080"/>
            <a:ext cx="2987040" cy="457200"/>
          </a:xfrm>
          <a:prstGeom prst="rect">
            <a:avLst/>
          </a:prstGeom>
          <a:noFill/>
        </p:spPr>
        <p:txBody>
          <a:bodyPr wrap="square" lIns="0" rIns="0" tIns="0" bIns="0">
            <a:spAutoFit/>
          </a:bodyPr>
          <a:lstStyle/>
          <a:p>
            <a:r>
              <a:rPr sz="3000" b="1">
                <a:solidFill>
                  <a:srgbClr val="1C7293"/>
                </a:solidFill>
                <a:latin typeface="Cambria"/>
              </a:rPr>
              <a:t>2</a:t>
            </a:r>
          </a:p>
        </p:txBody>
      </p:sp>
      <p:sp>
        <p:nvSpPr>
          <p:cNvPr id="10" name="TextBox 9"/>
          <p:cNvSpPr txBox="1"/>
          <p:nvPr/>
        </p:nvSpPr>
        <p:spPr>
          <a:xfrm>
            <a:off x="4602480" y="2331720"/>
            <a:ext cx="2987040" cy="411480"/>
          </a:xfrm>
          <a:prstGeom prst="rect">
            <a:avLst/>
          </a:prstGeom>
          <a:noFill/>
        </p:spPr>
        <p:txBody>
          <a:bodyPr wrap="square" lIns="0" rIns="0" tIns="0" bIns="0">
            <a:spAutoFit/>
          </a:bodyPr>
          <a:lstStyle/>
          <a:p>
            <a:r>
              <a:rPr sz="2000" b="1">
                <a:solidFill>
                  <a:srgbClr val="21295C"/>
                </a:solidFill>
                <a:latin typeface="Cambria"/>
              </a:rPr>
              <a:t>Paste the line below</a:t>
            </a:r>
          </a:p>
        </p:txBody>
      </p:sp>
      <p:sp>
        <p:nvSpPr>
          <p:cNvPr id="11" name="TextBox 10"/>
          <p:cNvSpPr txBox="1"/>
          <p:nvPr/>
        </p:nvSpPr>
        <p:spPr>
          <a:xfrm>
            <a:off x="460248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Claude downloads the course and unpacks it into your folder.</a:t>
            </a:r>
          </a:p>
          <a:p>
            <a:pPr>
              <a:spcAft>
                <a:spcPts val="800"/>
              </a:spcAft>
            </a:pPr>
            <a:r>
              <a:rPr sz="1400">
                <a:solidFill>
                  <a:srgbClr val="5B6472"/>
                </a:solidFill>
                <a:latin typeface="Calibri"/>
              </a:rPr>
              <a:t>When it says it is done, close the project and open it again.</a:t>
            </a:r>
          </a:p>
        </p:txBody>
      </p:sp>
      <p:sp>
        <p:nvSpPr>
          <p:cNvPr id="12" name="Rounded Rectangle 11"/>
          <p:cNvSpPr/>
          <p:nvPr/>
        </p:nvSpPr>
        <p:spPr>
          <a:xfrm>
            <a:off x="810768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783080"/>
            <a:ext cx="2987040" cy="457200"/>
          </a:xfrm>
          <a:prstGeom prst="rect">
            <a:avLst/>
          </a:prstGeom>
          <a:noFill/>
        </p:spPr>
        <p:txBody>
          <a:bodyPr wrap="square" lIns="0" rIns="0" tIns="0" bIns="0">
            <a:spAutoFit/>
          </a:bodyPr>
          <a:lstStyle/>
          <a:p>
            <a:r>
              <a:rPr sz="3000" b="1">
                <a:solidFill>
                  <a:srgbClr val="1C7293"/>
                </a:solidFill>
                <a:latin typeface="Cambria"/>
              </a:rPr>
              <a:t>3</a:t>
            </a:r>
          </a:p>
        </p:txBody>
      </p:sp>
      <p:sp>
        <p:nvSpPr>
          <p:cNvPr id="14" name="TextBox 13"/>
          <p:cNvSpPr txBox="1"/>
          <p:nvPr/>
        </p:nvSpPr>
        <p:spPr>
          <a:xfrm>
            <a:off x="8382000" y="2331720"/>
            <a:ext cx="2987040" cy="411480"/>
          </a:xfrm>
          <a:prstGeom prst="rect">
            <a:avLst/>
          </a:prstGeom>
          <a:noFill/>
        </p:spPr>
        <p:txBody>
          <a:bodyPr wrap="square" lIns="0" rIns="0" tIns="0" bIns="0">
            <a:spAutoFit/>
          </a:bodyPr>
          <a:lstStyle/>
          <a:p>
            <a:r>
              <a:rPr sz="2000" b="1">
                <a:solidFill>
                  <a:srgbClr val="21295C"/>
                </a:solidFill>
                <a:latin typeface="Cambria"/>
              </a:rPr>
              <a:t>/northline-setup</a:t>
            </a:r>
          </a:p>
        </p:txBody>
      </p:sp>
      <p:sp>
        <p:nvSpPr>
          <p:cNvPr id="15" name="TextBox 14"/>
          <p:cNvSpPr txBox="1"/>
          <p:nvPr/>
        </p:nvSpPr>
        <p:spPr>
          <a:xfrm>
            <a:off x="838200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Type </a:t>
            </a:r>
            <a:r>
              <a:rPr sz="1300" b="1">
                <a:solidFill>
                  <a:srgbClr val="1C7293"/>
                </a:solidFill>
                <a:latin typeface="Consolas"/>
              </a:rPr>
              <a:t>/northline-setup</a:t>
            </a:r>
            <a:r>
              <a:rPr sz="1400">
                <a:solidFill>
                  <a:srgbClr val="5B6472"/>
                </a:solidFill>
                <a:latin typeface="Calibri"/>
              </a:rPr>
              <a:t>. Do what it says.</a:t>
            </a:r>
          </a:p>
          <a:p>
            <a:pPr>
              <a:spcAft>
                <a:spcPts val="800"/>
              </a:spcAft>
            </a:pPr>
            <a:r>
              <a:rPr sz="1400">
                <a:solidFill>
                  <a:srgbClr val="5B6472"/>
                </a:solidFill>
                <a:latin typeface="Calibri"/>
              </a:rPr>
              <a:t>Stop when you see </a:t>
            </a:r>
            <a:r>
              <a:rPr sz="1300" b="1">
                <a:solidFill>
                  <a:srgbClr val="1C7293"/>
                </a:solidFill>
                <a:latin typeface="Consolas"/>
              </a:rPr>
              <a:t>READY</a:t>
            </a:r>
            <a:r>
              <a:rPr sz="1400">
                <a:solidFill>
                  <a:srgbClr val="5B6472"/>
                </a:solidFill>
                <a:latin typeface="Calibri"/>
              </a:rPr>
              <a:t>.</a:t>
            </a:r>
          </a:p>
        </p:txBody>
      </p:sp>
      <p:sp>
        <p:nvSpPr>
          <p:cNvPr id="16" name="Rounded Rectangle 15"/>
          <p:cNvSpPr/>
          <p:nvPr/>
        </p:nvSpPr>
        <p:spPr>
          <a:xfrm>
            <a:off x="548640" y="4480560"/>
            <a:ext cx="11094415" cy="1234440"/>
          </a:xfrm>
          <a:prstGeom prst="roundRect">
            <a:avLst>
              <a:gd name="adj" fmla="val 34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608576"/>
            <a:ext cx="10454320" cy="320040"/>
          </a:xfrm>
          <a:prstGeom prst="rect">
            <a:avLst/>
          </a:prstGeom>
          <a:noFill/>
        </p:spPr>
        <p:txBody>
          <a:bodyPr wrap="square" lIns="0" rIns="0" tIns="0" bIns="0">
            <a:spAutoFit/>
          </a:bodyPr>
          <a:lstStyle/>
          <a:p>
            <a:r>
              <a:rPr sz="1100" b="1">
                <a:solidFill>
                  <a:srgbClr val="CADCFC"/>
                </a:solidFill>
                <a:latin typeface="Calibri"/>
              </a:rPr>
              <a:t>Paste this into Claude Code (step 2)</a:t>
            </a:r>
          </a:p>
        </p:txBody>
      </p:sp>
      <p:sp>
        <p:nvSpPr>
          <p:cNvPr id="18" name="TextBox 17"/>
          <p:cNvSpPr txBox="1"/>
          <p:nvPr/>
        </p:nvSpPr>
        <p:spPr>
          <a:xfrm>
            <a:off x="868680" y="4901184"/>
            <a:ext cx="10454320" cy="822960"/>
          </a:xfrm>
          <a:prstGeom prst="rect">
            <a:avLst/>
          </a:prstGeom>
          <a:noFill/>
        </p:spPr>
        <p:txBody>
          <a:bodyPr wrap="square" lIns="0" rIns="0" tIns="0" bIns="0">
            <a:spAutoFit/>
          </a:bodyPr>
          <a:lstStyle/>
          <a:p>
            <a:r>
              <a:rPr sz="1600" b="1">
                <a:solidFill>
                  <a:srgbClr val="FFFFFF"/>
                </a:solidFill>
                <a:latin typeface="Consolas"/>
              </a:rPr>
              <a:t>Download github.com/anthonymorrisjohnson/northline-course as a ZIP, unzip it so the files sit directly in this folder, then delete the zip.</a:t>
            </a:r>
          </a:p>
        </p:txBody>
      </p:sp>
      <p:sp>
        <p:nvSpPr>
          <p:cNvPr id="19" name="TextBox 18"/>
          <p:cNvSpPr txBox="1"/>
          <p:nvPr/>
        </p:nvSpPr>
        <p:spPr>
          <a:xfrm>
            <a:off x="9265615" y="6400800"/>
            <a:ext cx="2377440" cy="274320"/>
          </a:xfrm>
          <a:prstGeom prst="rect">
            <a:avLst/>
          </a:prstGeom>
          <a:noFill/>
        </p:spPr>
        <p:txBody>
          <a:bodyPr wrap="square" lIns="0" rIns="0" tIns="0" bIns="0">
            <a:spAutoFit/>
          </a:bodyPr>
          <a:lstStyle/>
          <a:p>
            <a:pPr algn="r"/>
            <a:r>
              <a:rPr sz="1000">
                <a:solidFill>
                  <a:srgbClr val="5B6472"/>
                </a:solidFill>
                <a:latin typeface="Calibri"/>
              </a:rPr>
              <a:t>Northline Care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/northline-pm-run and /northline-deploy triage, all session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txBody>
          <a:bodyPr/>
          <a:p/>
        </p:txBody>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txBody>
          <a:bodyPr/>
          <a:p/>
        </p:txBody>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txBody>
          <a:bodyPr/>
          <a:p/>
        </p:txBody>
      </p:sp>
      <p:sp>
        <p:nvSpPr>
          <p:cNvPr id="11" name="Shape 9"/>
          <p:cNvSpPr/>
          <p:nvPr/>
        </p:nvSpPr>
        <p:spPr>
          <a:xfrm>
            <a:off x="9722815" y="2606040"/>
            <a:ext cx="0" cy="548640"/>
          </a:xfrm>
          <a:prstGeom prst="line">
            <a:avLst/>
          </a:prstGeom>
          <a:noFill/>
          <a:ln w="25400">
            <a:solidFill>
              <a:srgbClr val="065A82"/>
            </a:solidFill>
            <a:prstDash val="solid"/>
            <a:tailEnd type="triangle"/>
          </a:ln>
        </p:spPr>
        <p:txBody>
          <a:bodyPr/>
          <a:p/>
        </p:txBody>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txBody>
          <a:bodyPr/>
          <a:p/>
        </p:txBody>
      </p:sp>
      <p:sp>
        <p:nvSpPr>
          <p:cNvPr id="19" name="Shape 17"/>
          <p:cNvSpPr/>
          <p:nvPr/>
        </p:nvSpPr>
        <p:spPr>
          <a:xfrm>
            <a:off x="9722815" y="4069080"/>
            <a:ext cx="0" cy="685800"/>
          </a:xfrm>
          <a:prstGeom prst="line">
            <a:avLst/>
          </a:prstGeom>
          <a:noFill/>
          <a:ln w="25400">
            <a:solidFill>
              <a:srgbClr val="1C7293"/>
            </a:solidFill>
            <a:prstDash val="solid"/>
            <a:tailEnd type="triangle"/>
          </a:ln>
        </p:spPr>
        <p:txBody>
          <a:bodyPr/>
          <a:p/>
        </p:txBody>
      </p:sp>
      <p:sp>
        <p:nvSpPr>
          <p:cNvPr id="20" name="Shape 18"/>
          <p:cNvSpPr/>
          <p:nvPr/>
        </p:nvSpPr>
        <p:spPr>
          <a:xfrm>
            <a:off x="2468880" y="4754880"/>
            <a:ext cx="1706728" cy="0"/>
          </a:xfrm>
          <a:prstGeom prst="line">
            <a:avLst/>
          </a:prstGeom>
          <a:noFill/>
          <a:ln w="25400">
            <a:solidFill>
              <a:srgbClr val="21295C"/>
            </a:solidFill>
            <a:prstDash val="solid"/>
          </a:ln>
        </p:spPr>
        <p:txBody>
          <a:bodyPr/>
          <a:p/>
        </p:txBody>
      </p:sp>
      <p:sp>
        <p:nvSpPr>
          <p:cNvPr id="21" name="Shape 19"/>
          <p:cNvSpPr/>
          <p:nvPr/>
        </p:nvSpPr>
        <p:spPr>
          <a:xfrm>
            <a:off x="8016088" y="4754880"/>
            <a:ext cx="1706728" cy="0"/>
          </a:xfrm>
          <a:prstGeom prst="line">
            <a:avLst/>
          </a:prstGeom>
          <a:noFill/>
          <a:ln w="25400">
            <a:solidFill>
              <a:srgbClr val="21295C"/>
            </a:solidFill>
            <a:prstDash val="solid"/>
          </a:ln>
        </p:spPr>
        <p:txBody>
          <a:bodyPr/>
          <a:p/>
        </p:txBody>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txBody>
          <a:bodyPr/>
          <a:p/>
        </p:txBody>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txBody>
          <a:bodyPr/>
          <a:p/>
        </p:txBody>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txBody>
          <a:bodyPr/>
          <a:p/>
        </p:txBody>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txBody>
          <a:bodyPr/>
          <a:p/>
        </p:txBody>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txBody>
          <a:bodyPr/>
          <a:p/>
        </p:txBody>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txBody>
          <a:bodyPr/>
          <a:p/>
        </p:txBody>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txBody>
          <a:bodyPr/>
          <a:p/>
        </p:txBody>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txBody>
          <a:bodyPr/>
          <a:p/>
        </p:txBody>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txBody>
          <a:bodyPr/>
          <a:p/>
        </p:txBody>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txBody>
          <a:bodyPr/>
          <a:p/>
        </p:txBody>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txBody>
          <a:bodyPr/>
          <a:p/>
        </p:txBody>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/northline-expand or /northline-deploy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txBody>
          <a:bodyPr/>
          <a:p/>
        </p:txBody>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txBody>
          <a:bodyPr/>
          <a:p/>
        </p:txBody>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txBody>
          <a:bodyPr/>
          <a:p/>
        </p:txBody>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txBody>
          <a:bodyPr/>
          <a:p/>
        </p:txBody>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txBody>
          <a:bodyPr/>
          <a:p/>
        </p:txBody>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31.1h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1,151</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340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31.1h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31h climbing to 57h with it. Triage buys a quarter, not headcount.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txBody>
          <a:bodyPr/>
          <a:p/>
        </p:txBody>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txBody>
          <a:bodyPr/>
          <a:p/>
        </p:txBody>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txBody>
          <a:bodyPr/>
          <a:p/>
        </p:txBody>
      </p:sp>
      <p:sp>
        <p:nvSpPr>
          <p:cNvPr id="9" name="Shape 7"/>
          <p:cNvSpPr/>
          <p:nvPr/>
        </p:nvSpPr>
        <p:spPr>
          <a:xfrm>
            <a:off x="3408578" y="1691640"/>
            <a:ext cx="2514600" cy="1371600"/>
          </a:xfrm>
          <a:prstGeom prst="roundRect">
            <a:avLst>
              <a:gd name="adj" fmla="val 23333"/>
            </a:avLst>
          </a:prstGeom>
          <a:solidFill>
            <a:srgbClr val="1C7293"/>
          </a:solidFill>
          <a:ln/>
        </p:spPr>
        <p:txBody>
          <a:bodyPr/>
          <a:p/>
        </p:txBody>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txBody>
          <a:bodyPr/>
          <a:p/>
        </p:txBody>
      </p:sp>
      <p:sp>
        <p:nvSpPr>
          <p:cNvPr id="14" name="Shape 12"/>
          <p:cNvSpPr/>
          <p:nvPr/>
        </p:nvSpPr>
        <p:spPr>
          <a:xfrm>
            <a:off x="6268517" y="1691640"/>
            <a:ext cx="2514600" cy="1371600"/>
          </a:xfrm>
          <a:prstGeom prst="roundRect">
            <a:avLst>
              <a:gd name="adj" fmla="val 23333"/>
            </a:avLst>
          </a:prstGeom>
          <a:solidFill>
            <a:srgbClr val="065A82"/>
          </a:solidFill>
          <a:ln/>
        </p:spPr>
        <p:txBody>
          <a:bodyPr/>
          <a:p/>
        </p:txBody>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txBody>
          <a:bodyPr/>
          <a:p/>
        </p:txBody>
      </p:sp>
      <p:sp>
        <p:nvSpPr>
          <p:cNvPr id="19" name="Shape 17"/>
          <p:cNvSpPr/>
          <p:nvPr/>
        </p:nvSpPr>
        <p:spPr>
          <a:xfrm>
            <a:off x="9128455" y="1691640"/>
            <a:ext cx="2514600" cy="1371600"/>
          </a:xfrm>
          <a:prstGeom prst="roundRect">
            <a:avLst>
              <a:gd name="adj" fmla="val 23333"/>
            </a:avLst>
          </a:prstGeom>
          <a:solidFill>
            <a:srgbClr val="1C7293"/>
          </a:solidFill>
          <a:ln/>
        </p:spPr>
        <p:txBody>
          <a:bodyPr/>
          <a:p/>
        </p:txBody>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txBody>
          <a:bodyPr/>
          <a:p/>
        </p:txBody>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
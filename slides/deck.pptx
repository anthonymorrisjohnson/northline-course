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txBody>
          <a:bodyPr/>
          <a:p/>
        </p:txBody>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txBody>
          <a:bodyPr/>
          <a:p/>
        </p:txBody>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txBody>
          <a:bodyPr/>
          <a:p/>
        </p:txBody>
      </p:sp>
      <p:sp>
        <p:nvSpPr>
          <p:cNvPr id="11" name="Shape 9"/>
          <p:cNvSpPr/>
          <p:nvPr/>
        </p:nvSpPr>
        <p:spPr>
          <a:xfrm>
            <a:off x="9722815" y="2606040"/>
            <a:ext cx="0" cy="548640"/>
          </a:xfrm>
          <a:prstGeom prst="line">
            <a:avLst/>
          </a:prstGeom>
          <a:noFill/>
          <a:ln w="25400">
            <a:solidFill>
              <a:srgbClr val="065A82"/>
            </a:solidFill>
            <a:prstDash val="solid"/>
            <a:tailEnd type="triangle"/>
          </a:ln>
        </p:spPr>
        <p:txBody>
          <a:bodyPr/>
          <a:p/>
        </p:txBody>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txBody>
          <a:bodyPr/>
          <a:p/>
        </p:txBody>
      </p:sp>
      <p:sp>
        <p:nvSpPr>
          <p:cNvPr id="19" name="Shape 17"/>
          <p:cNvSpPr/>
          <p:nvPr/>
        </p:nvSpPr>
        <p:spPr>
          <a:xfrm>
            <a:off x="9722815" y="4069080"/>
            <a:ext cx="0" cy="685800"/>
          </a:xfrm>
          <a:prstGeom prst="line">
            <a:avLst/>
          </a:prstGeom>
          <a:noFill/>
          <a:ln w="25400">
            <a:solidFill>
              <a:srgbClr val="1C7293"/>
            </a:solidFill>
            <a:prstDash val="solid"/>
            <a:tailEnd type="triangle"/>
          </a:ln>
        </p:spPr>
        <p:txBody>
          <a:bodyPr/>
          <a:p/>
        </p:txBody>
      </p:sp>
      <p:sp>
        <p:nvSpPr>
          <p:cNvPr id="20" name="Shape 18"/>
          <p:cNvSpPr/>
          <p:nvPr/>
        </p:nvSpPr>
        <p:spPr>
          <a:xfrm>
            <a:off x="2468880" y="4754880"/>
            <a:ext cx="1706728" cy="0"/>
          </a:xfrm>
          <a:prstGeom prst="line">
            <a:avLst/>
          </a:prstGeom>
          <a:noFill/>
          <a:ln w="25400">
            <a:solidFill>
              <a:srgbClr val="21295C"/>
            </a:solidFill>
            <a:prstDash val="solid"/>
          </a:ln>
        </p:spPr>
        <p:txBody>
          <a:bodyPr/>
          <a:p/>
        </p:txBody>
      </p:sp>
      <p:sp>
        <p:nvSpPr>
          <p:cNvPr id="21" name="Shape 19"/>
          <p:cNvSpPr/>
          <p:nvPr/>
        </p:nvSpPr>
        <p:spPr>
          <a:xfrm>
            <a:off x="8016088" y="4754880"/>
            <a:ext cx="1706728" cy="0"/>
          </a:xfrm>
          <a:prstGeom prst="line">
            <a:avLst/>
          </a:prstGeom>
          <a:noFill/>
          <a:ln w="25400">
            <a:solidFill>
              <a:srgbClr val="21295C"/>
            </a:solidFill>
            <a:prstDash val="solid"/>
          </a:ln>
        </p:spPr>
        <p:txBody>
          <a:bodyPr/>
          <a:p/>
        </p:txBody>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txBody>
          <a:bodyPr/>
          <a:p/>
        </p:txBody>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txBody>
          <a:bodyPr/>
          <a:p/>
        </p:txBody>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txBody>
          <a:bodyPr/>
          <a:p/>
        </p:txBody>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txBody>
          <a:bodyPr/>
          <a:p/>
        </p:txBody>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txBody>
          <a:bodyPr/>
          <a:p/>
        </p:txBody>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txBody>
          <a:bodyPr/>
          <a:p/>
        </p:txBody>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txBody>
          <a:bodyPr/>
          <a:p/>
        </p:txBody>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txBody>
          <a:bodyPr/>
          <a:p/>
        </p:txBody>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txBody>
          <a:bodyPr/>
          <a:p/>
        </p:txBody>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txBody>
          <a:bodyPr/>
          <a:p/>
        </p:txBody>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txBody>
          <a:bodyPr/>
          <a:p/>
        </p:txBody>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txBody>
          <a:bodyPr/>
          <a:p/>
        </p:txBody>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txBody>
          <a:bodyPr/>
          <a:p/>
        </p:txBody>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txBody>
          <a:bodyPr/>
          <a:p/>
        </p:txBody>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txBody>
          <a:bodyPr/>
          <a:p/>
        </p:txBody>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txBody>
          <a:bodyPr/>
          <a:p/>
        </p:txBody>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txBody>
          <a:bodyPr/>
          <a:p/>
        </p:txBody>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txBody>
          <a:bodyPr/>
          <a:p/>
        </p:txBody>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txBody>
          <a:bodyPr/>
          <a:p/>
        </p:txBody>
      </p:sp>
      <p:sp>
        <p:nvSpPr>
          <p:cNvPr id="9" name="Shape 7"/>
          <p:cNvSpPr/>
          <p:nvPr/>
        </p:nvSpPr>
        <p:spPr>
          <a:xfrm>
            <a:off x="3408578" y="1691640"/>
            <a:ext cx="2514600" cy="1371600"/>
          </a:xfrm>
          <a:prstGeom prst="roundRect">
            <a:avLst>
              <a:gd name="adj" fmla="val 23333"/>
            </a:avLst>
          </a:prstGeom>
          <a:solidFill>
            <a:srgbClr val="1C7293"/>
          </a:solidFill>
          <a:ln/>
        </p:spPr>
        <p:txBody>
          <a:bodyPr/>
          <a:p/>
        </p:txBody>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txBody>
          <a:bodyPr/>
          <a:p/>
        </p:txBody>
      </p:sp>
      <p:sp>
        <p:nvSpPr>
          <p:cNvPr id="14" name="Shape 12"/>
          <p:cNvSpPr/>
          <p:nvPr/>
        </p:nvSpPr>
        <p:spPr>
          <a:xfrm>
            <a:off x="6268517" y="1691640"/>
            <a:ext cx="2514600" cy="1371600"/>
          </a:xfrm>
          <a:prstGeom prst="roundRect">
            <a:avLst>
              <a:gd name="adj" fmla="val 23333"/>
            </a:avLst>
          </a:prstGeom>
          <a:solidFill>
            <a:srgbClr val="065A82"/>
          </a:solidFill>
          <a:ln/>
        </p:spPr>
        <p:txBody>
          <a:bodyPr/>
          <a:p/>
        </p:txBody>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txBody>
          <a:bodyPr/>
          <a:p/>
        </p:txBody>
      </p:sp>
      <p:sp>
        <p:nvSpPr>
          <p:cNvPr id="19" name="Shape 17"/>
          <p:cNvSpPr/>
          <p:nvPr/>
        </p:nvSpPr>
        <p:spPr>
          <a:xfrm>
            <a:off x="9128455" y="1691640"/>
            <a:ext cx="2514600" cy="1371600"/>
          </a:xfrm>
          <a:prstGeom prst="roundRect">
            <a:avLst>
              <a:gd name="adj" fmla="val 23333"/>
            </a:avLst>
          </a:prstGeom>
          <a:solidFill>
            <a:srgbClr val="1C7293"/>
          </a:solidFill>
          <a:ln/>
        </p:spPr>
        <p:txBody>
          <a:bodyPr/>
          <a:p/>
        </p:txBody>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txBody>
          <a:bodyPr/>
          <a:p/>
        </p:txBody>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15</a:t>
            </a:r>
            <a:endParaRPr lang="en-US" sz="1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64592"/>
            <a:ext cx="11094415" cy="274320"/>
          </a:xfrm>
          <a:prstGeom prst="rect">
            <a:avLst/>
          </a:prstGeom>
          <a:noFill/>
        </p:spPr>
        <p:txBody>
          <a:bodyPr wrap="square" lIns="0" rIns="0" tIns="0" bIns="0">
            <a:spAutoFit/>
          </a:bodyPr>
          <a:lstStyle/>
          <a:p>
            <a:r>
              <a:rPr sz="1200" b="1">
                <a:solidFill>
                  <a:srgbClr val="1C7293"/>
                </a:solidFill>
                <a:latin typeface="Calibri"/>
              </a:rPr>
              <a:t>BEFORE WE START  ·  ABOUT 10 MINUTES</a:t>
            </a:r>
          </a:p>
        </p:txBody>
      </p:sp>
      <p:sp>
        <p:nvSpPr>
          <p:cNvPr id="3" name="TextBox 2"/>
          <p:cNvSpPr txBox="1"/>
          <p:nvPr/>
        </p:nvSpPr>
        <p:spPr>
          <a:xfrm>
            <a:off x="548640" y="411480"/>
            <a:ext cx="11094415" cy="822960"/>
          </a:xfrm>
          <a:prstGeom prst="rect">
            <a:avLst/>
          </a:prstGeom>
          <a:noFill/>
        </p:spPr>
        <p:txBody>
          <a:bodyPr wrap="square" lIns="0" rIns="0" tIns="0" bIns="0">
            <a:spAutoFit/>
          </a:bodyPr>
          <a:lstStyle/>
          <a:p>
            <a:r>
              <a:rPr sz="3200" b="1">
                <a:solidFill>
                  <a:srgbClr val="1B1F27"/>
                </a:solidFill>
                <a:latin typeface="Cambria"/>
              </a:rPr>
              <a:t>Get set up</a:t>
            </a:r>
          </a:p>
        </p:txBody>
      </p:sp>
      <p:sp>
        <p:nvSpPr>
          <p:cNvPr id="4" name="Rounded Rectangle 3"/>
          <p:cNvSpPr/>
          <p:nvPr/>
        </p:nvSpPr>
        <p:spPr>
          <a:xfrm>
            <a:off x="548640" y="1417320"/>
            <a:ext cx="5318608" cy="178308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18488"/>
            <a:ext cx="4769968" cy="365760"/>
          </a:xfrm>
          <a:prstGeom prst="rect">
            <a:avLst/>
          </a:prstGeom>
          <a:noFill/>
        </p:spPr>
        <p:txBody>
          <a:bodyPr wrap="square" lIns="0" rIns="0" tIns="0" bIns="0">
            <a:spAutoFit/>
          </a:bodyPr>
          <a:lstStyle/>
          <a:p>
            <a:r>
              <a:rPr sz="1700" b="1">
                <a:solidFill>
                  <a:srgbClr val="21295C"/>
                </a:solidFill>
                <a:latin typeface="Cambria"/>
              </a:rPr>
              <a:t>1. Claude Code, signed in</a:t>
            </a:r>
          </a:p>
        </p:txBody>
      </p:sp>
      <p:sp>
        <p:nvSpPr>
          <p:cNvPr id="6" name="TextBox 5"/>
          <p:cNvSpPr txBox="1"/>
          <p:nvPr/>
        </p:nvSpPr>
        <p:spPr>
          <a:xfrm>
            <a:off x="822960" y="2029968"/>
            <a:ext cx="4769968" cy="1078992"/>
          </a:xfrm>
          <a:prstGeom prst="rect">
            <a:avLst/>
          </a:prstGeom>
          <a:noFill/>
        </p:spPr>
        <p:txBody>
          <a:bodyPr wrap="square" lIns="0" rIns="0" tIns="0" bIns="0">
            <a:spAutoFit/>
          </a:bodyPr>
          <a:lstStyle/>
          <a:p>
            <a:pPr>
              <a:spcAft>
                <a:spcPts val="600"/>
              </a:spcAft>
            </a:pPr>
            <a:r>
              <a:rPr sz="1200">
                <a:solidFill>
                  <a:srgbClr val="5B6472"/>
                </a:solidFill>
                <a:latin typeface="Calibri"/>
              </a:rPr>
              <a:t>Install the command-line tool and sign in with your Claude account. In a terminal, </a:t>
            </a:r>
            <a:r>
              <a:rPr sz="1200" b="1">
                <a:solidFill>
                  <a:srgbClr val="1C7293"/>
                </a:solidFill>
                <a:latin typeface="Consolas"/>
              </a:rPr>
              <a:t>claude --version</a:t>
            </a:r>
            <a:r>
              <a:rPr sz="1200">
                <a:solidFill>
                  <a:srgbClr val="5B6472"/>
                </a:solidFill>
                <a:latin typeface="Calibri"/>
              </a:rPr>
              <a:t> should print a version.</a:t>
            </a:r>
          </a:p>
          <a:p>
            <a:pPr>
              <a:spcAft>
                <a:spcPts val="600"/>
              </a:spcAft>
            </a:pPr>
            <a:r>
              <a:rPr sz="1200">
                <a:solidFill>
                  <a:srgbClr val="5B6472"/>
                </a:solidFill>
                <a:latin typeface="Calibri"/>
              </a:rPr>
              <a:t>Windows: use the native installer, not npm. Use PowerShell for the commands below.</a:t>
            </a:r>
          </a:p>
        </p:txBody>
      </p:sp>
      <p:sp>
        <p:nvSpPr>
          <p:cNvPr id="7" name="Rounded Rectangle 6"/>
          <p:cNvSpPr/>
          <p:nvPr/>
        </p:nvSpPr>
        <p:spPr>
          <a:xfrm>
            <a:off x="6324448" y="1417320"/>
            <a:ext cx="5318608" cy="178308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98768" y="1618488"/>
            <a:ext cx="4769968" cy="365760"/>
          </a:xfrm>
          <a:prstGeom prst="rect">
            <a:avLst/>
          </a:prstGeom>
          <a:noFill/>
        </p:spPr>
        <p:txBody>
          <a:bodyPr wrap="square" lIns="0" rIns="0" tIns="0" bIns="0">
            <a:spAutoFit/>
          </a:bodyPr>
          <a:lstStyle/>
          <a:p>
            <a:r>
              <a:rPr sz="1700" b="1">
                <a:solidFill>
                  <a:srgbClr val="21295C"/>
                </a:solidFill>
                <a:latin typeface="Cambria"/>
              </a:rPr>
              <a:t>2. The course folder</a:t>
            </a:r>
          </a:p>
        </p:txBody>
      </p:sp>
      <p:sp>
        <p:nvSpPr>
          <p:cNvPr id="9" name="TextBox 8"/>
          <p:cNvSpPr txBox="1"/>
          <p:nvPr/>
        </p:nvSpPr>
        <p:spPr>
          <a:xfrm>
            <a:off x="6598768" y="2029968"/>
            <a:ext cx="4769968" cy="1078992"/>
          </a:xfrm>
          <a:prstGeom prst="rect">
            <a:avLst/>
          </a:prstGeom>
          <a:noFill/>
        </p:spPr>
        <p:txBody>
          <a:bodyPr wrap="square" lIns="0" rIns="0" tIns="0" bIns="0">
            <a:spAutoFit/>
          </a:bodyPr>
          <a:lstStyle/>
          <a:p>
            <a:pPr>
              <a:spcAft>
                <a:spcPts val="600"/>
              </a:spcAft>
            </a:pPr>
            <a:r>
              <a:rPr sz="1200">
                <a:solidFill>
                  <a:srgbClr val="5B6472"/>
                </a:solidFill>
                <a:latin typeface="Calibri"/>
              </a:rPr>
              <a:t>Open the link at the bottom, click </a:t>
            </a:r>
            <a:r>
              <a:rPr sz="1200" b="1">
                <a:solidFill>
                  <a:srgbClr val="5B6472"/>
                </a:solidFill>
                <a:latin typeface="Calibri"/>
              </a:rPr>
              <a:t>Code → Download ZIP</a:t>
            </a:r>
            <a:r>
              <a:rPr sz="1200">
                <a:solidFill>
                  <a:srgbClr val="5B6472"/>
                </a:solidFill>
                <a:latin typeface="Calibri"/>
              </a:rPr>
              <a:t>, and unzip it into your home folder. It should be called </a:t>
            </a:r>
            <a:r>
              <a:rPr sz="1200" b="1">
                <a:solidFill>
                  <a:srgbClr val="1C7293"/>
                </a:solidFill>
                <a:latin typeface="Consolas"/>
              </a:rPr>
              <a:t>northline-course</a:t>
            </a:r>
            <a:r>
              <a:rPr sz="1200">
                <a:solidFill>
                  <a:srgbClr val="5B6472"/>
                </a:solidFill>
                <a:latin typeface="Calibri"/>
              </a:rPr>
              <a:t>.</a:t>
            </a:r>
          </a:p>
          <a:p>
            <a:pPr>
              <a:spcAft>
                <a:spcPts val="600"/>
              </a:spcAft>
            </a:pPr>
            <a:r>
              <a:rPr sz="1200">
                <a:solidFill>
                  <a:srgbClr val="5B6472"/>
                </a:solidFill>
                <a:latin typeface="Calibri"/>
              </a:rPr>
              <a:t>Or, if you have git: </a:t>
            </a:r>
            <a:r>
              <a:rPr sz="1200" b="1">
                <a:solidFill>
                  <a:srgbClr val="1C7293"/>
                </a:solidFill>
                <a:latin typeface="Consolas"/>
              </a:rPr>
              <a:t>git clone &lt;the link&gt;</a:t>
            </a:r>
          </a:p>
        </p:txBody>
      </p:sp>
      <p:sp>
        <p:nvSpPr>
          <p:cNvPr id="10" name="Rounded Rectangle 9"/>
          <p:cNvSpPr/>
          <p:nvPr/>
        </p:nvSpPr>
        <p:spPr>
          <a:xfrm>
            <a:off x="548640" y="3429000"/>
            <a:ext cx="5318608" cy="178308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630168"/>
            <a:ext cx="4769968" cy="365760"/>
          </a:xfrm>
          <a:prstGeom prst="rect">
            <a:avLst/>
          </a:prstGeom>
          <a:noFill/>
        </p:spPr>
        <p:txBody>
          <a:bodyPr wrap="square" lIns="0" rIns="0" tIns="0" bIns="0">
            <a:spAutoFit/>
          </a:bodyPr>
          <a:lstStyle/>
          <a:p>
            <a:r>
              <a:rPr sz="1700" b="1">
                <a:solidFill>
                  <a:srgbClr val="21295C"/>
                </a:solidFill>
                <a:latin typeface="Cambria"/>
              </a:rPr>
              <a:t>3. /setup</a:t>
            </a:r>
          </a:p>
        </p:txBody>
      </p:sp>
      <p:sp>
        <p:nvSpPr>
          <p:cNvPr id="12" name="TextBox 11"/>
          <p:cNvSpPr txBox="1"/>
          <p:nvPr/>
        </p:nvSpPr>
        <p:spPr>
          <a:xfrm>
            <a:off x="822960" y="4041648"/>
            <a:ext cx="4769968" cy="1078992"/>
          </a:xfrm>
          <a:prstGeom prst="rect">
            <a:avLst/>
          </a:prstGeom>
          <a:noFill/>
        </p:spPr>
        <p:txBody>
          <a:bodyPr wrap="square" lIns="0" rIns="0" tIns="0" bIns="0">
            <a:spAutoFit/>
          </a:bodyPr>
          <a:lstStyle/>
          <a:p>
            <a:pPr>
              <a:spcAft>
                <a:spcPts val="600"/>
              </a:spcAft>
            </a:pPr>
            <a:r>
              <a:rPr sz="1200">
                <a:solidFill>
                  <a:srgbClr val="5B6472"/>
                </a:solidFill>
                <a:latin typeface="Calibri"/>
              </a:rPr>
              <a:t>Terminal: </a:t>
            </a:r>
            <a:r>
              <a:rPr sz="1200" b="1">
                <a:solidFill>
                  <a:srgbClr val="1C7293"/>
                </a:solidFill>
                <a:latin typeface="Consolas"/>
              </a:rPr>
              <a:t>cd ~/northline-course</a:t>
            </a:r>
            <a:r>
              <a:rPr sz="1200">
                <a:solidFill>
                  <a:srgbClr val="5B6472"/>
                </a:solidFill>
                <a:latin typeface="Calibri"/>
              </a:rPr>
              <a:t> then </a:t>
            </a:r>
            <a:r>
              <a:rPr sz="1200" b="1">
                <a:solidFill>
                  <a:srgbClr val="1C7293"/>
                </a:solidFill>
                <a:latin typeface="Consolas"/>
              </a:rPr>
              <a:t>claude</a:t>
            </a:r>
            <a:r>
              <a:rPr sz="1200">
                <a:solidFill>
                  <a:srgbClr val="5B6472"/>
                </a:solidFill>
                <a:latin typeface="Calibri"/>
              </a:rPr>
              <a:t>. Type </a:t>
            </a:r>
            <a:r>
              <a:rPr sz="1200" b="1">
                <a:solidFill>
                  <a:srgbClr val="1C7293"/>
                </a:solidFill>
                <a:latin typeface="Consolas"/>
              </a:rPr>
              <a:t>/setup</a:t>
            </a:r>
            <a:r>
              <a:rPr sz="1200">
                <a:solidFill>
                  <a:srgbClr val="5B6472"/>
                </a:solidFill>
                <a:latin typeface="Calibri"/>
              </a:rPr>
              <a:t>. It installs uv, runs the checks, and prints a </a:t>
            </a:r>
            <a:r>
              <a:rPr sz="1200" b="1">
                <a:solidFill>
                  <a:srgbClr val="1C7293"/>
                </a:solidFill>
                <a:latin typeface="Consolas"/>
              </a:rPr>
              <a:t>READY:</a:t>
            </a:r>
            <a:r>
              <a:rPr sz="1200">
                <a:solidFill>
                  <a:srgbClr val="5B6472"/>
                </a:solidFill>
                <a:latin typeface="Calibri"/>
              </a:rPr>
              <a:t> line.</a:t>
            </a:r>
          </a:p>
          <a:p>
            <a:pPr>
              <a:spcAft>
                <a:spcPts val="600"/>
              </a:spcAft>
            </a:pPr>
            <a:r>
              <a:rPr sz="1200">
                <a:solidFill>
                  <a:srgbClr val="5B6472"/>
                </a:solidFill>
                <a:latin typeface="Calibri"/>
              </a:rPr>
              <a:t>Then quit, run </a:t>
            </a:r>
            <a:r>
              <a:rPr sz="1200" b="1">
                <a:solidFill>
                  <a:srgbClr val="1C7293"/>
                </a:solidFill>
                <a:latin typeface="Consolas"/>
              </a:rPr>
              <a:t>claude</a:t>
            </a:r>
            <a:r>
              <a:rPr sz="1200">
                <a:solidFill>
                  <a:srgbClr val="5B6472"/>
                </a:solidFill>
                <a:latin typeface="Calibri"/>
              </a:rPr>
              <a:t> again in the same folder, and approve the </a:t>
            </a:r>
            <a:r>
              <a:rPr sz="1200" b="1">
                <a:solidFill>
                  <a:srgbClr val="1C7293"/>
                </a:solidFill>
                <a:latin typeface="Consolas"/>
              </a:rPr>
              <a:t>northline</a:t>
            </a:r>
            <a:r>
              <a:rPr sz="1200">
                <a:solidFill>
                  <a:srgbClr val="5B6472"/>
                </a:solidFill>
                <a:latin typeface="Calibri"/>
              </a:rPr>
              <a:t> server when asked.</a:t>
            </a:r>
          </a:p>
        </p:txBody>
      </p:sp>
      <p:sp>
        <p:nvSpPr>
          <p:cNvPr id="13" name="Rounded Rectangle 12"/>
          <p:cNvSpPr/>
          <p:nvPr/>
        </p:nvSpPr>
        <p:spPr>
          <a:xfrm>
            <a:off x="6324448" y="3429000"/>
            <a:ext cx="5318608" cy="178308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98768" y="3630168"/>
            <a:ext cx="4769968" cy="365760"/>
          </a:xfrm>
          <a:prstGeom prst="rect">
            <a:avLst/>
          </a:prstGeom>
          <a:noFill/>
        </p:spPr>
        <p:txBody>
          <a:bodyPr wrap="square" lIns="0" rIns="0" tIns="0" bIns="0">
            <a:spAutoFit/>
          </a:bodyPr>
          <a:lstStyle/>
          <a:p>
            <a:r>
              <a:rPr sz="1700" b="1">
                <a:solidFill>
                  <a:srgbClr val="21295C"/>
                </a:solidFill>
                <a:latin typeface="Cambria"/>
              </a:rPr>
              <a:t>4. The server, in a second window</a:t>
            </a:r>
          </a:p>
        </p:txBody>
      </p:sp>
      <p:sp>
        <p:nvSpPr>
          <p:cNvPr id="15" name="TextBox 14"/>
          <p:cNvSpPr txBox="1"/>
          <p:nvPr/>
        </p:nvSpPr>
        <p:spPr>
          <a:xfrm>
            <a:off x="6598768" y="4041648"/>
            <a:ext cx="4769968" cy="1078992"/>
          </a:xfrm>
          <a:prstGeom prst="rect">
            <a:avLst/>
          </a:prstGeom>
          <a:noFill/>
        </p:spPr>
        <p:txBody>
          <a:bodyPr wrap="square" lIns="0" rIns="0" tIns="0" bIns="0">
            <a:spAutoFit/>
          </a:bodyPr>
          <a:lstStyle/>
          <a:p>
            <a:pPr>
              <a:spcAft>
                <a:spcPts val="600"/>
              </a:spcAft>
            </a:pPr>
            <a:r>
              <a:rPr sz="1200">
                <a:solidFill>
                  <a:srgbClr val="5B6472"/>
                </a:solidFill>
                <a:latin typeface="Calibri"/>
              </a:rPr>
              <a:t>New terminal window: </a:t>
            </a:r>
            <a:r>
              <a:rPr sz="1200" b="1">
                <a:solidFill>
                  <a:srgbClr val="1C7293"/>
                </a:solidFill>
                <a:latin typeface="Consolas"/>
              </a:rPr>
              <a:t>cd ~/northline-course</a:t>
            </a:r>
            <a:r>
              <a:rPr sz="1200">
                <a:solidFill>
                  <a:srgbClr val="5B6472"/>
                </a:solidFill>
                <a:latin typeface="Calibri"/>
              </a:rPr>
              <a:t> then </a:t>
            </a:r>
            <a:r>
              <a:rPr sz="1200" b="1">
                <a:solidFill>
                  <a:srgbClr val="1C7293"/>
                </a:solidFill>
                <a:latin typeface="Consolas"/>
              </a:rPr>
              <a:t>uv run python -m northline.agent.server</a:t>
            </a:r>
            <a:r>
              <a:rPr sz="1200">
                <a:solidFill>
                  <a:srgbClr val="5B6472"/>
                </a:solidFill>
                <a:latin typeface="Calibri"/>
              </a:rPr>
              <a:t>. Leave it open.</a:t>
            </a:r>
          </a:p>
          <a:p>
            <a:pPr>
              <a:spcAft>
                <a:spcPts val="600"/>
              </a:spcAft>
            </a:pPr>
            <a:r>
              <a:rPr sz="1200">
                <a:solidFill>
                  <a:srgbClr val="5B6472"/>
                </a:solidFill>
                <a:latin typeface="Calibri"/>
              </a:rPr>
              <a:t>Open </a:t>
            </a:r>
            <a:r>
              <a:rPr sz="1200" b="1">
                <a:solidFill>
                  <a:srgbClr val="1C7293"/>
                </a:solidFill>
                <a:latin typeface="Consolas"/>
              </a:rPr>
              <a:t>127.0.0.1:8765</a:t>
            </a:r>
            <a:r>
              <a:rPr sz="1200">
                <a:solidFill>
                  <a:srgbClr val="5B6472"/>
                </a:solidFill>
                <a:latin typeface="Calibri"/>
              </a:rPr>
              <a:t> and text the agent </a:t>
            </a:r>
            <a:r>
              <a:rPr sz="1200" b="1">
                <a:solidFill>
                  <a:srgbClr val="5B6472"/>
                </a:solidFill>
                <a:latin typeface="Calibri"/>
              </a:rPr>
              <a:t>“my BP was 184/112”</a:t>
            </a:r>
            <a:r>
              <a:rPr sz="1200">
                <a:solidFill>
                  <a:srgbClr val="5B6472"/>
                </a:solidFill>
                <a:latin typeface="Calibri"/>
              </a:rPr>
              <a:t>. Dashboard: </a:t>
            </a:r>
            <a:r>
              <a:rPr sz="1200" b="1">
                <a:solidFill>
                  <a:srgbClr val="1C7293"/>
                </a:solidFill>
                <a:latin typeface="Consolas"/>
              </a:rPr>
              <a:t>127.0.0.1:8765/dashboard</a:t>
            </a:r>
          </a:p>
        </p:txBody>
      </p:sp>
      <p:sp>
        <p:nvSpPr>
          <p:cNvPr id="16" name="Rounded Rectangle 15"/>
          <p:cNvSpPr/>
          <p:nvPr/>
        </p:nvSpPr>
        <p:spPr>
          <a:xfrm>
            <a:off x="548640" y="5440680"/>
            <a:ext cx="11094415" cy="822960"/>
          </a:xfrm>
          <a:prstGeom prst="roundRect">
            <a:avLst>
              <a:gd name="adj" fmla="val 34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568696"/>
            <a:ext cx="7040880" cy="320040"/>
          </a:xfrm>
          <a:prstGeom prst="rect">
            <a:avLst/>
          </a:prstGeom>
          <a:noFill/>
        </p:spPr>
        <p:txBody>
          <a:bodyPr wrap="square" lIns="0" rIns="0" tIns="0" bIns="0">
            <a:spAutoFit/>
          </a:bodyPr>
          <a:lstStyle/>
          <a:p>
            <a:r>
              <a:rPr sz="1100" b="1">
                <a:solidFill>
                  <a:srgbClr val="CADCFC"/>
                </a:solidFill>
                <a:latin typeface="Calibri"/>
              </a:rPr>
              <a:t>The folder</a:t>
            </a:r>
          </a:p>
        </p:txBody>
      </p:sp>
      <p:sp>
        <p:nvSpPr>
          <p:cNvPr id="18" name="TextBox 17"/>
          <p:cNvSpPr txBox="1"/>
          <p:nvPr/>
        </p:nvSpPr>
        <p:spPr>
          <a:xfrm>
            <a:off x="868680" y="5843016"/>
            <a:ext cx="7040880" cy="411480"/>
          </a:xfrm>
          <a:prstGeom prst="rect">
            <a:avLst/>
          </a:prstGeom>
          <a:noFill/>
        </p:spPr>
        <p:txBody>
          <a:bodyPr wrap="square" lIns="0" rIns="0" tIns="0" bIns="0">
            <a:spAutoFit/>
          </a:bodyPr>
          <a:lstStyle/>
          <a:p>
            <a:r>
              <a:rPr sz="1800" b="1">
                <a:solidFill>
                  <a:srgbClr val="FFFFFF"/>
                </a:solidFill>
                <a:latin typeface="Consolas"/>
              </a:rPr>
              <a:t>github.com/anthonymorrisjohnson/northline-course</a:t>
            </a:r>
          </a:p>
        </p:txBody>
      </p:sp>
      <p:sp>
        <p:nvSpPr>
          <p:cNvPr id="19" name="TextBox 18"/>
          <p:cNvSpPr txBox="1"/>
          <p:nvPr/>
        </p:nvSpPr>
        <p:spPr>
          <a:xfrm>
            <a:off x="8138160" y="5568696"/>
            <a:ext cx="3200400" cy="320040"/>
          </a:xfrm>
          <a:prstGeom prst="rect">
            <a:avLst/>
          </a:prstGeom>
          <a:noFill/>
        </p:spPr>
        <p:txBody>
          <a:bodyPr wrap="square" lIns="0" rIns="0" tIns="0" bIns="0">
            <a:spAutoFit/>
          </a:bodyPr>
          <a:lstStyle/>
          <a:p>
            <a:r>
              <a:rPr sz="1100" b="1">
                <a:solidFill>
                  <a:srgbClr val="CADCFC"/>
                </a:solidFill>
                <a:latin typeface="Calibri"/>
              </a:rPr>
              <a:t>In the room</a:t>
            </a:r>
          </a:p>
        </p:txBody>
      </p:sp>
      <p:sp>
        <p:nvSpPr>
          <p:cNvPr id="20" name="TextBox 19"/>
          <p:cNvSpPr txBox="1"/>
          <p:nvPr/>
        </p:nvSpPr>
        <p:spPr>
          <a:xfrm>
            <a:off x="8138160" y="5843016"/>
            <a:ext cx="3200400" cy="411480"/>
          </a:xfrm>
          <a:prstGeom prst="rect">
            <a:avLst/>
          </a:prstGeom>
          <a:noFill/>
        </p:spPr>
        <p:txBody>
          <a:bodyPr wrap="square" lIns="0" rIns="0" tIns="0" bIns="0">
            <a:spAutoFit/>
          </a:bodyPr>
          <a:lstStyle/>
          <a:p>
            <a:r>
              <a:rPr sz="1500" b="1">
                <a:solidFill>
                  <a:srgbClr val="FFFFFF"/>
                </a:solidFill>
                <a:latin typeface="Consolas"/>
              </a:rPr>
              <a:t>/pm-run</a:t>
            </a:r>
            <a:r>
              <a:rPr sz="1200">
                <a:solidFill>
                  <a:srgbClr val="CADCFC"/>
                </a:solidFill>
                <a:latin typeface="Calibri"/>
              </a:rPr>
              <a:t>   then   </a:t>
            </a:r>
            <a:r>
              <a:rPr sz="1500" b="1">
                <a:solidFill>
                  <a:srgbClr val="FFFFFF"/>
                </a:solidFill>
                <a:latin typeface="Consolas"/>
              </a:rPr>
              <a:t>/deploy triage</a:t>
            </a:r>
          </a:p>
        </p:txBody>
      </p:sp>
      <p:sp>
        <p:nvSpPr>
          <p:cNvPr id="21" name="TextBox 20"/>
          <p:cNvSpPr txBox="1"/>
          <p:nvPr/>
        </p:nvSpPr>
        <p:spPr>
          <a:xfrm>
            <a:off x="9265615" y="6400800"/>
            <a:ext cx="2377440" cy="274320"/>
          </a:xfrm>
          <a:prstGeom prst="rect">
            <a:avLst/>
          </a:prstGeom>
          <a:noFill/>
        </p:spPr>
        <p:txBody>
          <a:bodyPr wrap="square" lIns="0" rIns="0" tIns="0" bIns="0">
            <a:spAutoFit/>
          </a:bodyPr>
          <a:lstStyle/>
          <a:p>
            <a:pPr algn="r"/>
            <a:r>
              <a:rPr sz="1000">
                <a:solidFill>
                  <a:srgbClr val="5B6472"/>
                </a:solidFill>
                <a:latin typeface="Calibri"/>
              </a:rPr>
              <a:t>Northline Care  ·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
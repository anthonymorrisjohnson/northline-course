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multiLvlStrRef>
              <c:f>Sheet1!$A$2:$A$53</c:f>
              <c:multiLvlStrCache>
                <c:ptCount val="5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lvl>
              </c:multiLvlStrCache>
            </c:multiLvlStrRef>
          </c:cat>
          <c:val>
            <c:numRef>
              <c:f>Sheet1!$B$2:$B$53</c:f>
              <c:numCache>
                <c:formatCode>General</c:formatCode>
                <c:ptCount val="52"/>
                <c:pt idx="0">
                  <c:v>18.1</c:v>
                </c:pt>
                <c:pt idx="1">
                  <c:v>18.6</c:v>
                </c:pt>
                <c:pt idx="2">
                  <c:v>19.2</c:v>
                </c:pt>
                <c:pt idx="3">
                  <c:v>19.7</c:v>
                </c:pt>
                <c:pt idx="4">
                  <c:v>20.3</c:v>
                </c:pt>
                <c:pt idx="5">
                  <c:v>20.8</c:v>
                </c:pt>
                <c:pt idx="6">
                  <c:v>21.4</c:v>
                </c:pt>
                <c:pt idx="7">
                  <c:v>21.9</c:v>
                </c:pt>
                <c:pt idx="8">
                  <c:v>22.5</c:v>
                </c:pt>
                <c:pt idx="9">
                  <c:v>23</c:v>
                </c:pt>
                <c:pt idx="10">
                  <c:v>23.6</c:v>
                </c:pt>
                <c:pt idx="11">
                  <c:v>24.1</c:v>
                </c:pt>
                <c:pt idx="12">
                  <c:v>24.7</c:v>
                </c:pt>
                <c:pt idx="13">
                  <c:v>25.2</c:v>
                </c:pt>
                <c:pt idx="14">
                  <c:v>25.8</c:v>
                </c:pt>
                <c:pt idx="15">
                  <c:v>26.3</c:v>
                </c:pt>
                <c:pt idx="16">
                  <c:v>26.9</c:v>
                </c:pt>
                <c:pt idx="17">
                  <c:v>27.4</c:v>
                </c:pt>
                <c:pt idx="18">
                  <c:v>28</c:v>
                </c:pt>
                <c:pt idx="19">
                  <c:v>28.5</c:v>
                </c:pt>
                <c:pt idx="20">
                  <c:v>29.1</c:v>
                </c:pt>
                <c:pt idx="21">
                  <c:v>29.6</c:v>
                </c:pt>
                <c:pt idx="22">
                  <c:v>26.5</c:v>
                </c:pt>
                <c:pt idx="23">
                  <c:v>27</c:v>
                </c:pt>
                <c:pt idx="24">
                  <c:v>27.5</c:v>
                </c:pt>
                <c:pt idx="25">
                  <c:v>28</c:v>
                </c:pt>
                <c:pt idx="26">
                  <c:v>28.5</c:v>
                </c:pt>
                <c:pt idx="27">
                  <c:v>29</c:v>
                </c:pt>
                <c:pt idx="28">
                  <c:v>29.5</c:v>
                </c:pt>
                <c:pt idx="29">
                  <c:v>30</c:v>
                </c:pt>
                <c:pt idx="30">
                  <c:v>30.5</c:v>
                </c:pt>
                <c:pt idx="31">
                  <c:v>31</c:v>
                </c:pt>
                <c:pt idx="32">
                  <c:v>31.5</c:v>
                </c:pt>
                <c:pt idx="33">
                  <c:v>32</c:v>
                </c:pt>
                <c:pt idx="34">
                  <c:v>32.5</c:v>
                </c:pt>
                <c:pt idx="35">
                  <c:v>33.5</c:v>
                </c:pt>
                <c:pt idx="36">
                  <c:v>34.5</c:v>
                </c:pt>
                <c:pt idx="37">
                  <c:v>35.5</c:v>
                </c:pt>
                <c:pt idx="38">
                  <c:v>36.4</c:v>
                </c:pt>
                <c:pt idx="39">
                  <c:v>4</c:v>
                </c:pt>
                <c:pt idx="40">
                  <c:v>4</c:v>
                </c:pt>
                <c:pt idx="41">
                  <c:v>4</c:v>
                </c:pt>
                <c:pt idx="42">
                  <c:v>4</c:v>
                </c:pt>
                <c:pt idx="43">
                  <c:v>4</c:v>
                </c:pt>
                <c:pt idx="44">
                  <c:v>4</c:v>
                </c:pt>
                <c:pt idx="45">
                  <c:v>4</c:v>
                </c:pt>
                <c:pt idx="46">
                  <c:v>4</c:v>
                </c:pt>
                <c:pt idx="47">
                  <c:v>4</c:v>
                </c:pt>
                <c:pt idx="48">
                  <c:v>4</c:v>
                </c:pt>
                <c:pt idx="49">
                  <c:v>4</c:v>
                </c:pt>
                <c:pt idx="50">
                  <c:v>4</c:v>
                </c:pt>
                <c:pt idx="51">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multiLvlStrRef>
              <c:f>Sheet1!$A$2:$A$14</c:f>
              <c:multiLvlStrCache>
                <c:ptCount val="13"/>
                <c:lvl>
                  <c:pt idx="0">
                    <c:v>40</c:v>
                  </c:pt>
                  <c:pt idx="1">
                    <c:v>41</c:v>
                  </c:pt>
                  <c:pt idx="2">
                    <c:v>42</c:v>
                  </c:pt>
                  <c:pt idx="3">
                    <c:v>43</c:v>
                  </c:pt>
                  <c:pt idx="4">
                    <c:v>44</c:v>
                  </c:pt>
                  <c:pt idx="5">
                    <c:v>45</c:v>
                  </c:pt>
                  <c:pt idx="6">
                    <c:v>46</c:v>
                  </c:pt>
                  <c:pt idx="7">
                    <c:v>47</c:v>
                  </c:pt>
                  <c:pt idx="8">
                    <c:v>48</c:v>
                  </c:pt>
                  <c:pt idx="9">
                    <c:v>49</c:v>
                  </c:pt>
                  <c:pt idx="10">
                    <c:v>50</c:v>
                  </c:pt>
                  <c:pt idx="11">
                    <c:v>51</c:v>
                  </c:pt>
                  <c:pt idx="12">
                    <c:v>52</c:v>
                  </c:pt>
                </c:lvl>
              </c:multiLvlStrCache>
            </c:multiLvlStrRef>
          </c:cat>
          <c:val>
            <c:numRef>
              <c:f>Sheet1!$B$2:$B$14</c:f>
              <c:numCache>
                <c:formatCode>General</c:formatCode>
                <c:ptCount val="13"/>
                <c:pt idx="0">
                  <c:v>24.2</c:v>
                </c:pt>
                <c:pt idx="1">
                  <c:v>24.2</c:v>
                </c:pt>
                <c:pt idx="2">
                  <c:v>24.2</c:v>
                </c:pt>
                <c:pt idx="3">
                  <c:v>24.2</c:v>
                </c:pt>
                <c:pt idx="4">
                  <c:v>24.2</c:v>
                </c:pt>
                <c:pt idx="5">
                  <c:v>24.2</c:v>
                </c:pt>
                <c:pt idx="6">
                  <c:v>24.2</c:v>
                </c:pt>
                <c:pt idx="7">
                  <c:v>24.2</c:v>
                </c:pt>
                <c:pt idx="8">
                  <c:v>24.2</c:v>
                </c:pt>
                <c:pt idx="9">
                  <c:v>24.2</c:v>
                </c:pt>
                <c:pt idx="10">
                  <c:v>24.2</c:v>
                </c:pt>
                <c:pt idx="11">
                  <c:v>24.2</c:v>
                </c:pt>
                <c:pt idx="12">
                  <c:v>31.3</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multiLvlStrRef>
              <c:f>Sheet1!$A$2:$A$14</c:f>
              <c:multiLvlStrCache>
                <c:ptCount val="13"/>
                <c:lvl>
                  <c:pt idx="0">
                    <c:v>40</c:v>
                  </c:pt>
                  <c:pt idx="1">
                    <c:v>41</c:v>
                  </c:pt>
                  <c:pt idx="2">
                    <c:v>42</c:v>
                  </c:pt>
                  <c:pt idx="3">
                    <c:v>43</c:v>
                  </c:pt>
                  <c:pt idx="4">
                    <c:v>44</c:v>
                  </c:pt>
                  <c:pt idx="5">
                    <c:v>45</c:v>
                  </c:pt>
                  <c:pt idx="6">
                    <c:v>46</c:v>
                  </c:pt>
                  <c:pt idx="7">
                    <c:v>47</c:v>
                  </c:pt>
                  <c:pt idx="8">
                    <c:v>48</c:v>
                  </c:pt>
                  <c:pt idx="9">
                    <c:v>49</c:v>
                  </c:pt>
                  <c:pt idx="10">
                    <c:v>50</c:v>
                  </c:pt>
                  <c:pt idx="11">
                    <c:v>51</c:v>
                  </c:pt>
                  <c:pt idx="12">
                    <c:v>52</c:v>
                  </c:pt>
                </c:lvl>
              </c:multiLvlStrCache>
            </c:multiLvlStrRef>
          </c:cat>
          <c:val>
            <c:numRef>
              <c:f>Sheet1!$C$2:$C$14</c:f>
              <c:numCache>
                <c:formatCode>General</c:formatCode>
                <c:ptCount val="13"/>
                <c:pt idx="0">
                  <c:v>336</c:v>
                </c:pt>
                <c:pt idx="1">
                  <c:v>336</c:v>
                </c:pt>
                <c:pt idx="2">
                  <c:v>336</c:v>
                </c:pt>
                <c:pt idx="3">
                  <c:v>336</c:v>
                </c:pt>
                <c:pt idx="4">
                  <c:v>336</c:v>
                </c:pt>
                <c:pt idx="5">
                  <c:v>336</c:v>
                </c:pt>
                <c:pt idx="6">
                  <c:v>336</c:v>
                </c:pt>
                <c:pt idx="7">
                  <c:v>336</c:v>
                </c:pt>
                <c:pt idx="8">
                  <c:v>336</c:v>
                </c:pt>
                <c:pt idx="9">
                  <c:v>336</c:v>
                </c:pt>
                <c:pt idx="10">
                  <c:v>336</c:v>
                </c:pt>
                <c:pt idx="11">
                  <c:v>336</c:v>
                </c:pt>
                <c:pt idx="12">
                  <c:v>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/pm-run and /deploy triage, all session</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sp>
      <p:sp>
        <p:nvSpPr>
          <p:cNvPr id="11" name="Shape 9"/>
          <p:cNvSpPr/>
          <p:nvPr/>
        </p:nvSpPr>
        <p:spPr>
          <a:xfrm>
            <a:off x="9722815" y="2606040"/>
            <a:ext cx="0" cy="548640"/>
          </a:xfrm>
          <a:prstGeom prst="line">
            <a:avLst/>
          </a:prstGeom>
          <a:noFill/>
          <a:ln w="25400">
            <a:solidFill>
              <a:srgbClr val="065A82"/>
            </a:solidFill>
            <a:prstDash val="solid"/>
            <a:tailEnd type="triangle"/>
          </a:ln>
        </p:spPr>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sp>
      <p:sp>
        <p:nvSpPr>
          <p:cNvPr id="19" name="Shape 17"/>
          <p:cNvSpPr/>
          <p:nvPr/>
        </p:nvSpPr>
        <p:spPr>
          <a:xfrm>
            <a:off x="9722815" y="4069080"/>
            <a:ext cx="0" cy="685800"/>
          </a:xfrm>
          <a:prstGeom prst="line">
            <a:avLst/>
          </a:prstGeom>
          <a:noFill/>
          <a:ln w="25400">
            <a:solidFill>
              <a:srgbClr val="1C7293"/>
            </a:solidFill>
            <a:prstDash val="solid"/>
            <a:tailEnd type="triangle"/>
          </a:ln>
        </p:spPr>
      </p:sp>
      <p:sp>
        <p:nvSpPr>
          <p:cNvPr id="20" name="Shape 18"/>
          <p:cNvSpPr/>
          <p:nvPr/>
        </p:nvSpPr>
        <p:spPr>
          <a:xfrm>
            <a:off x="2468880" y="4754880"/>
            <a:ext cx="1706728" cy="0"/>
          </a:xfrm>
          <a:prstGeom prst="line">
            <a:avLst/>
          </a:prstGeom>
          <a:noFill/>
          <a:ln w="25400">
            <a:solidFill>
              <a:srgbClr val="21295C"/>
            </a:solidFill>
            <a:prstDash val="solid"/>
          </a:ln>
        </p:spPr>
      </p:sp>
      <p:sp>
        <p:nvSpPr>
          <p:cNvPr id="21" name="Shape 19"/>
          <p:cNvSpPr/>
          <p:nvPr/>
        </p:nvSpPr>
        <p:spPr>
          <a:xfrm>
            <a:off x="8016088" y="4754880"/>
            <a:ext cx="1706728" cy="0"/>
          </a:xfrm>
          <a:prstGeom prst="line">
            <a:avLst/>
          </a:prstGeom>
          <a:noFill/>
          <a:ln w="25400">
            <a:solidFill>
              <a:srgbClr val="21295C"/>
            </a:solidFill>
            <a:prstDash val="solid"/>
          </a:ln>
        </p:spPr>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/expand or /deploy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29.7h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1,154</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334</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54480"/>
          <a:ext cx="11094415"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Median nurse response: 29.7h → 4.0h — but 90.0 urgent cases a week are now missed.</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554480"/>
          <a:ext cx="11094415"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89788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Same 100,000 patients, same contract — 336h capped without the deployment, ~24–31h with it.</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22960" y="822960"/>
            <a:ext cx="822960" cy="822960"/>
          </a:xfrm>
          <a:prstGeom prst="roundRect">
            <a:avLst>
              <a:gd name="adj" fmla="val 50000"/>
            </a:avLst>
          </a:prstGeom>
          <a:solidFill>
            <a:srgbClr val="1C7293"/>
          </a:solidFill>
          <a:ln/>
        </p:spPr>
      </p:sp>
      <p:sp>
        <p:nvSpPr>
          <p:cNvPr id="3" name="Text 1"/>
          <p:cNvSpPr txBox="1"/>
          <p:nvPr/>
        </p:nvSpPr>
        <p:spPr>
          <a:xfrm>
            <a:off x="822960" y="658368"/>
            <a:ext cx="822960" cy="822960"/>
          </a:xfrm>
          <a:prstGeom prst="rect">
            <a:avLst/>
          </a:prstGeom>
          <a:noFill/>
          <a:ln/>
        </p:spPr>
        <p:txBody>
          <a:bodyPr wrap="square" lIns="0" tIns="0" rIns="0" bIns="0" rtlCol="0" anchor="ctr"/>
          <a:lstStyle/>
          <a:p>
            <a:pPr algn="ctr" indent="0" marL="0">
              <a:buNone/>
            </a:pPr>
            <a:r>
              <a:rPr lang="en-US" sz="4600" b="1" dirty="0">
                <a:solidFill>
                  <a:srgbClr val="FFFFFF"/>
                </a:solidFill>
                <a:latin typeface="Cambria" pitchFamily="34" charset="0"/>
                <a:ea typeface="Cambria" pitchFamily="34" charset="-122"/>
                <a:cs typeface="Cambria" pitchFamily="34" charset="-120"/>
              </a:rPr>
              <a:t>“</a:t>
            </a:r>
            <a:endParaRPr lang="en-US" sz="4600" dirty="0"/>
          </a:p>
        </p:txBody>
      </p:sp>
      <p:sp>
        <p:nvSpPr>
          <p:cNvPr id="4" name="Text 2"/>
          <p:cNvSpPr txBox="1"/>
          <p:nvPr/>
        </p:nvSpPr>
        <p:spPr>
          <a:xfrm>
            <a:off x="548640" y="1828800"/>
            <a:ext cx="11094415" cy="457200"/>
          </a:xfrm>
          <a:prstGeom prst="rect">
            <a:avLst/>
          </a:prstGeom>
          <a:noFill/>
          <a:ln/>
        </p:spPr>
        <p:txBody>
          <a:bodyPr wrap="square" lIns="0" tIns="0" rIns="0" bIns="0" rtlCol="0" anchor="ctr"/>
          <a:lstStyle/>
          <a:p>
            <a:pPr indent="0" marL="0">
              <a:buNone/>
            </a:pPr>
            <a:r>
              <a:rPr lang="en-US" sz="1400" b="1" spc="200" kern="0" dirty="0">
                <a:solidFill>
                  <a:srgbClr val="CADCFC"/>
                </a:solidFill>
                <a:latin typeface="Calibri" pitchFamily="34" charset="0"/>
                <a:ea typeface="Calibri" pitchFamily="34" charset="-122"/>
                <a:cs typeface="Calibri" pitchFamily="34" charset="-120"/>
              </a:rPr>
              <a:t>Case one in one slide</a:t>
            </a:r>
            <a:endParaRPr lang="en-US" sz="1400" dirty="0"/>
          </a:p>
        </p:txBody>
      </p:sp>
      <p:sp>
        <p:nvSpPr>
          <p:cNvPr id="5" name="Text 3"/>
          <p:cNvSpPr txBox="1"/>
          <p:nvPr/>
        </p:nvSpPr>
        <p:spPr>
          <a:xfrm>
            <a:off x="548640" y="2331720"/>
            <a:ext cx="11094415" cy="9144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Build-versus-buy is a go-to-market question.</a:t>
            </a:r>
            <a:endParaRPr lang="en-US" sz="3400" dirty="0"/>
          </a:p>
        </p:txBody>
      </p:sp>
      <p:sp>
        <p:nvSpPr>
          <p:cNvPr id="6" name="Text 4"/>
          <p:cNvSpPr txBox="1"/>
          <p:nvPr/>
        </p:nvSpPr>
        <p:spPr>
          <a:xfrm>
            <a:off x="548640" y="3337560"/>
            <a:ext cx="10180015" cy="1463040"/>
          </a:xfrm>
          <a:prstGeom prst="rect">
            <a:avLst/>
          </a:prstGeom>
          <a:noFill/>
          <a:ln/>
        </p:spPr>
        <p:txBody>
          <a:bodyPr wrap="square" lIns="0" tIns="0" rIns="0" bIns="0" rtlCol="0" anchor="ctr"/>
          <a:lstStyle/>
          <a:p>
            <a:pPr indent="0" marL="0">
              <a:lnSpc>
                <a:spcPct val="130000"/>
              </a:lnSpc>
              <a:buNone/>
            </a:pPr>
            <a:r>
              <a:rPr lang="en-US" sz="2200" i="1" dirty="0">
                <a:solidFill>
                  <a:srgbClr val="CADCFC"/>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sp>
      <p:sp>
        <p:nvSpPr>
          <p:cNvPr id="9" name="Shape 7"/>
          <p:cNvSpPr/>
          <p:nvPr/>
        </p:nvSpPr>
        <p:spPr>
          <a:xfrm>
            <a:off x="3408578" y="1691640"/>
            <a:ext cx="2514600" cy="1371600"/>
          </a:xfrm>
          <a:prstGeom prst="roundRect">
            <a:avLst>
              <a:gd name="adj" fmla="val 23333"/>
            </a:avLst>
          </a:prstGeom>
          <a:solidFill>
            <a:srgbClr val="1C7293"/>
          </a:solidFill>
          <a:ln/>
        </p:spPr>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sp>
      <p:sp>
        <p:nvSpPr>
          <p:cNvPr id="14" name="Shape 12"/>
          <p:cNvSpPr/>
          <p:nvPr/>
        </p:nvSpPr>
        <p:spPr>
          <a:xfrm>
            <a:off x="6268517" y="1691640"/>
            <a:ext cx="2514600" cy="1371600"/>
          </a:xfrm>
          <a:prstGeom prst="roundRect">
            <a:avLst>
              <a:gd name="adj" fmla="val 23333"/>
            </a:avLst>
          </a:prstGeom>
          <a:solidFill>
            <a:srgbClr val="065A82"/>
          </a:solidFill>
          <a:ln/>
        </p:spPr>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sp>
      <p:sp>
        <p:nvSpPr>
          <p:cNvPr id="19" name="Shape 17"/>
          <p:cNvSpPr/>
          <p:nvPr/>
        </p:nvSpPr>
        <p:spPr>
          <a:xfrm>
            <a:off x="9128455" y="1691640"/>
            <a:ext cx="2514600" cy="1371600"/>
          </a:xfrm>
          <a:prstGeom prst="roundRect">
            <a:avLst>
              <a:gd name="adj" fmla="val 23333"/>
            </a:avLst>
          </a:prstGeom>
          <a:solidFill>
            <a:srgbClr val="1C7293"/>
          </a:solidFill>
          <a:ln/>
        </p:spPr>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2026-09-16T20:55:57Z</dcterms:created>
  <dcterms:modified xsi:type="dcterms:W3CDTF">2026-09-16T20:55:57Z</dcterms:modified>
</cp:coreProperties>
</file>
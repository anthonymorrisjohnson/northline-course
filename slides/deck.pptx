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Three things, then wait for us</a:t>
            </a:r>
          </a:p>
        </p:txBody>
      </p:sp>
      <p:sp>
        <p:nvSpPr>
          <p:cNvPr id="4" name="Rounded Rectangle 3"/>
          <p:cNvSpPr/>
          <p:nvPr/>
        </p:nvSpPr>
        <p:spPr>
          <a:xfrm>
            <a:off x="54864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987040" cy="457200"/>
          </a:xfrm>
          <a:prstGeom prst="rect">
            <a:avLst/>
          </a:prstGeom>
          <a:noFill/>
        </p:spPr>
        <p:txBody>
          <a:bodyPr wrap="square" lIns="0" rIns="0" tIns="0" bIns="0">
            <a:spAutoFit/>
          </a:bodyPr>
          <a:lstStyle/>
          <a:p>
            <a:r>
              <a:rPr sz="3000" b="1">
                <a:solidFill>
                  <a:srgbClr val="1C7293"/>
                </a:solidFill>
                <a:latin typeface="Cambria"/>
              </a:rPr>
              <a:t>1</a:t>
            </a:r>
          </a:p>
        </p:txBody>
      </p:sp>
      <p:sp>
        <p:nvSpPr>
          <p:cNvPr id="6" name="TextBox 5"/>
          <p:cNvSpPr txBox="1"/>
          <p:nvPr/>
        </p:nvSpPr>
        <p:spPr>
          <a:xfrm>
            <a:off x="822960" y="2331720"/>
            <a:ext cx="2987040" cy="411480"/>
          </a:xfrm>
          <a:prstGeom prst="rect">
            <a:avLst/>
          </a:prstGeom>
          <a:noFill/>
        </p:spPr>
        <p:txBody>
          <a:bodyPr wrap="square" lIns="0" rIns="0" tIns="0" bIns="0">
            <a:spAutoFit/>
          </a:bodyPr>
          <a:lstStyle/>
          <a:p>
            <a:r>
              <a:rPr sz="2000" b="1">
                <a:solidFill>
                  <a:srgbClr val="21295C"/>
                </a:solidFill>
                <a:latin typeface="Cambria"/>
              </a:rPr>
              <a:t>Open Claude Code</a:t>
            </a:r>
          </a:p>
        </p:txBody>
      </p:sp>
      <p:sp>
        <p:nvSpPr>
          <p:cNvPr id="7" name="TextBox 6"/>
          <p:cNvSpPr txBox="1"/>
          <p:nvPr/>
        </p:nvSpPr>
        <p:spPr>
          <a:xfrm>
            <a:off x="82296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The desktop app. Sign in if it asks.</a:t>
            </a:r>
          </a:p>
          <a:p>
            <a:pPr>
              <a:spcAft>
                <a:spcPts val="800"/>
              </a:spcAft>
            </a:pPr>
            <a:r>
              <a:rPr sz="1400">
                <a:solidFill>
                  <a:srgbClr val="5B6472"/>
                </a:solidFill>
                <a:latin typeface="Calibri"/>
              </a:rPr>
              <a:t>Click </a:t>
            </a:r>
            <a:r>
              <a:rPr sz="1400" b="1">
                <a:solidFill>
                  <a:srgbClr val="5B6472"/>
                </a:solidFill>
                <a:latin typeface="Calibri"/>
              </a:rPr>
              <a:t>New project</a:t>
            </a:r>
            <a:r>
              <a:rPr sz="1400">
                <a:solidFill>
                  <a:srgbClr val="5B6472"/>
                </a:solidFill>
                <a:latin typeface="Calibri"/>
              </a:rPr>
              <a:t>, make a new empty folder, and name it </a:t>
            </a:r>
            <a:r>
              <a:rPr sz="1300" b="1">
                <a:solidFill>
                  <a:srgbClr val="1C7293"/>
                </a:solidFill>
                <a:latin typeface="Consolas"/>
              </a:rPr>
              <a:t>northline</a:t>
            </a:r>
            <a:r>
              <a:rPr sz="1400">
                <a:solidFill>
                  <a:srgbClr val="5B6472"/>
                </a:solidFill>
                <a:latin typeface="Calibri"/>
              </a:rPr>
              <a:t>.</a:t>
            </a:r>
          </a:p>
        </p:txBody>
      </p:sp>
      <p:sp>
        <p:nvSpPr>
          <p:cNvPr id="8" name="Rounded Rectangle 7"/>
          <p:cNvSpPr/>
          <p:nvPr/>
        </p:nvSpPr>
        <p:spPr>
          <a:xfrm>
            <a:off x="432816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2480" y="1783080"/>
            <a:ext cx="2987040" cy="457200"/>
          </a:xfrm>
          <a:prstGeom prst="rect">
            <a:avLst/>
          </a:prstGeom>
          <a:noFill/>
        </p:spPr>
        <p:txBody>
          <a:bodyPr wrap="square" lIns="0" rIns="0" tIns="0" bIns="0">
            <a:spAutoFit/>
          </a:bodyPr>
          <a:lstStyle/>
          <a:p>
            <a:r>
              <a:rPr sz="3000" b="1">
                <a:solidFill>
                  <a:srgbClr val="1C7293"/>
                </a:solidFill>
                <a:latin typeface="Cambria"/>
              </a:rPr>
              <a:t>2</a:t>
            </a:r>
          </a:p>
        </p:txBody>
      </p:sp>
      <p:sp>
        <p:nvSpPr>
          <p:cNvPr id="10" name="TextBox 9"/>
          <p:cNvSpPr txBox="1"/>
          <p:nvPr/>
        </p:nvSpPr>
        <p:spPr>
          <a:xfrm>
            <a:off x="4602480" y="2331720"/>
            <a:ext cx="2987040" cy="411480"/>
          </a:xfrm>
          <a:prstGeom prst="rect">
            <a:avLst/>
          </a:prstGeom>
          <a:noFill/>
        </p:spPr>
        <p:txBody>
          <a:bodyPr wrap="square" lIns="0" rIns="0" tIns="0" bIns="0">
            <a:spAutoFit/>
          </a:bodyPr>
          <a:lstStyle/>
          <a:p>
            <a:r>
              <a:rPr sz="2000" b="1">
                <a:solidFill>
                  <a:srgbClr val="21295C"/>
                </a:solidFill>
                <a:latin typeface="Cambria"/>
              </a:rPr>
              <a:t>Paste the line below</a:t>
            </a:r>
          </a:p>
        </p:txBody>
      </p:sp>
      <p:sp>
        <p:nvSpPr>
          <p:cNvPr id="11" name="TextBox 10"/>
          <p:cNvSpPr txBox="1"/>
          <p:nvPr/>
        </p:nvSpPr>
        <p:spPr>
          <a:xfrm>
            <a:off x="460248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Claude downloads the course and unpacks it into your folder.</a:t>
            </a:r>
          </a:p>
          <a:p>
            <a:pPr>
              <a:spcAft>
                <a:spcPts val="800"/>
              </a:spcAft>
            </a:pPr>
            <a:r>
              <a:rPr sz="1400">
                <a:solidFill>
                  <a:srgbClr val="5B6472"/>
                </a:solidFill>
                <a:latin typeface="Calibri"/>
              </a:rPr>
              <a:t>When it says it is done, close the project and open it again.</a:t>
            </a:r>
          </a:p>
        </p:txBody>
      </p:sp>
      <p:sp>
        <p:nvSpPr>
          <p:cNvPr id="12" name="Rounded Rectangle 11"/>
          <p:cNvSpPr/>
          <p:nvPr/>
        </p:nvSpPr>
        <p:spPr>
          <a:xfrm>
            <a:off x="810768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783080"/>
            <a:ext cx="2987040" cy="457200"/>
          </a:xfrm>
          <a:prstGeom prst="rect">
            <a:avLst/>
          </a:prstGeom>
          <a:noFill/>
        </p:spPr>
        <p:txBody>
          <a:bodyPr wrap="square" lIns="0" rIns="0" tIns="0" bIns="0">
            <a:spAutoFit/>
          </a:bodyPr>
          <a:lstStyle/>
          <a:p>
            <a:r>
              <a:rPr sz="3000" b="1">
                <a:solidFill>
                  <a:srgbClr val="1C7293"/>
                </a:solidFill>
                <a:latin typeface="Cambria"/>
              </a:rPr>
              <a:t>3</a:t>
            </a:r>
          </a:p>
        </p:txBody>
      </p:sp>
      <p:sp>
        <p:nvSpPr>
          <p:cNvPr id="14" name="TextBox 13"/>
          <p:cNvSpPr txBox="1"/>
          <p:nvPr/>
        </p:nvSpPr>
        <p:spPr>
          <a:xfrm>
            <a:off x="8382000" y="2331720"/>
            <a:ext cx="2987040" cy="411480"/>
          </a:xfrm>
          <a:prstGeom prst="rect">
            <a:avLst/>
          </a:prstGeom>
          <a:noFill/>
        </p:spPr>
        <p:txBody>
          <a:bodyPr wrap="square" lIns="0" rIns="0" tIns="0" bIns="0">
            <a:spAutoFit/>
          </a:bodyPr>
          <a:lstStyle/>
          <a:p>
            <a:r>
              <a:rPr sz="2000" b="1">
                <a:solidFill>
                  <a:srgbClr val="21295C"/>
                </a:solidFill>
                <a:latin typeface="Cambria"/>
              </a:rPr>
              <a:t>/northline-setup</a:t>
            </a:r>
          </a:p>
        </p:txBody>
      </p:sp>
      <p:sp>
        <p:nvSpPr>
          <p:cNvPr id="15" name="TextBox 14"/>
          <p:cNvSpPr txBox="1"/>
          <p:nvPr/>
        </p:nvSpPr>
        <p:spPr>
          <a:xfrm>
            <a:off x="838200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Type </a:t>
            </a:r>
            <a:r>
              <a:rPr sz="1300" b="1">
                <a:solidFill>
                  <a:srgbClr val="1C7293"/>
                </a:solidFill>
                <a:latin typeface="Consolas"/>
              </a:rPr>
              <a:t>/northline-setup</a:t>
            </a:r>
            <a:r>
              <a:rPr sz="1400">
                <a:solidFill>
                  <a:srgbClr val="5B6472"/>
                </a:solidFill>
                <a:latin typeface="Calibri"/>
              </a:rPr>
              <a:t>. Do what it says.</a:t>
            </a:r>
          </a:p>
          <a:p>
            <a:pPr>
              <a:spcAft>
                <a:spcPts val="800"/>
              </a:spcAft>
            </a:pPr>
            <a:r>
              <a:rPr sz="1400">
                <a:solidFill>
                  <a:srgbClr val="5B6472"/>
                </a:solidFill>
                <a:latin typeface="Calibri"/>
              </a:rPr>
              <a:t>Stop when you see </a:t>
            </a:r>
            <a:r>
              <a:rPr sz="1300" b="1">
                <a:solidFill>
                  <a:srgbClr val="1C7293"/>
                </a:solidFill>
                <a:latin typeface="Consolas"/>
              </a:rPr>
              <a:t>READY</a:t>
            </a:r>
            <a:r>
              <a:rPr sz="1400">
                <a:solidFill>
                  <a:srgbClr val="5B6472"/>
                </a:solidFill>
                <a:latin typeface="Calibri"/>
              </a:rPr>
              <a:t>.</a:t>
            </a:r>
          </a:p>
        </p:txBody>
      </p:sp>
      <p:sp>
        <p:nvSpPr>
          <p:cNvPr id="16" name="Rounded Rectangle 15"/>
          <p:cNvSpPr/>
          <p:nvPr/>
        </p:nvSpPr>
        <p:spPr>
          <a:xfrm>
            <a:off x="548640" y="4480560"/>
            <a:ext cx="11094415" cy="123444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08576"/>
            <a:ext cx="10454320" cy="320040"/>
          </a:xfrm>
          <a:prstGeom prst="rect">
            <a:avLst/>
          </a:prstGeom>
          <a:noFill/>
        </p:spPr>
        <p:txBody>
          <a:bodyPr wrap="square" lIns="0" rIns="0" tIns="0" bIns="0">
            <a:spAutoFit/>
          </a:bodyPr>
          <a:lstStyle/>
          <a:p>
            <a:r>
              <a:rPr sz="1100" b="1">
                <a:solidFill>
                  <a:srgbClr val="CADCFC"/>
                </a:solidFill>
                <a:latin typeface="Calibri"/>
              </a:rPr>
              <a:t>Paste this into Claude Code (step 2)</a:t>
            </a:r>
          </a:p>
        </p:txBody>
      </p:sp>
      <p:sp>
        <p:nvSpPr>
          <p:cNvPr id="18" name="TextBox 17"/>
          <p:cNvSpPr txBox="1"/>
          <p:nvPr/>
        </p:nvSpPr>
        <p:spPr>
          <a:xfrm>
            <a:off x="868680" y="4901184"/>
            <a:ext cx="10454320" cy="822960"/>
          </a:xfrm>
          <a:prstGeom prst="rect">
            <a:avLst/>
          </a:prstGeom>
          <a:noFill/>
        </p:spPr>
        <p:txBody>
          <a:bodyPr wrap="square" lIns="0" rIns="0" tIns="0" bIns="0">
            <a:spAutoFit/>
          </a:bodyPr>
          <a:lstStyle/>
          <a:p>
            <a:r>
              <a:rPr sz="1600" b="1">
                <a:solidFill>
                  <a:srgbClr val="FFFFFF"/>
                </a:solidFill>
                <a:latin typeface="Consolas"/>
              </a:rPr>
              <a:t>Download github.com/anthonymorrisjohnson/northline-course as a ZIP, unzip it so the files sit directly in this folder, then delete the zip.</a:t>
            </a:r>
          </a:p>
        </p:txBody>
      </p:sp>
      <p:sp>
        <p:nvSpPr>
          <p:cNvPr id="19" name="TextBox 18"/>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
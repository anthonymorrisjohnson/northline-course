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Do not present this slide. Point at it. Leave it up until the last READY line.</a:t>
            </a:r>
          </a:p>
          <a:p/>
          <a:p>
            <a:r>
              <a:t>ROOM: Walk the room. Anyone stuck on step 1 is the person to help before anything else.</a:t>
            </a:r>
          </a:p>
          <a:p/>
          <a:p>
            <a:r>
              <a:t>KNOW: Each laptop makes 40 to 70 model calls over the hour on its own Claude account. The two commands are cued from the front at minute 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Welcome. Say what the next 75 minutes are: read a case in role, argue one decision, then open laptops and type two commands. Nobody writes code.</a:t>
            </a:r>
          </a:p>
          <a:p/>
          <a:p>
            <a:r>
              <a:t>DO NOT: Name the lesson. The room has to find it.</a:t>
            </a:r>
          </a:p>
          <a:p/>
          <a:p>
            <a:r>
              <a:t>SCREEN: Dashboard in the next tab, server running, only the check-in agent deployed.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Read the email aloud, slowly, exactly as written.</a:t>
            </a:r>
          </a:p>
          <a:p/>
          <a:p>
            <a:r>
              <a:t>ASK: "Hands up. Sign, sign with conditions, or decline?" Count each out loud and remember the numbers. You bring them back at the board meeting.</a:t>
            </a:r>
          </a:p>
          <a:p/>
          <a:p>
            <a:r>
              <a:t>TIME: You should be at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Teams of four or five, mixed across companies. Role cards against type: a CTO plays the clinical lead. The question is neutral on purpose.</a:t>
            </a:r>
          </a:p>
          <a:p/>
          <a:p>
            <a:r>
              <a:t>MINUTES 3 TO 15: They read the exhibits, printed from docs/exhibits.pdf. Screen switches the projector to the dashboard; it is Exhibit B, live. Pocket memo (Exhibit D, the last page, printed separately) at minute 12 to any team that has not found the problem.</a:t>
            </a:r>
          </a:p>
          <a:p/>
          <a:p>
            <a:r>
              <a:t>MINUTES 15 TO 25: Board recommendation on paper, no laptops. Listen for line 2, "the problem the board doesn't see". Blank or generic means they missed it; note who to call on. Land: "Hold on to your recommendation. You are about to check it against the logs."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Show Claude Code, not this slide, first. Type: "You are Prairie Health Plan's analyst. Using the northline tools, report engagement and outcome evidence for plan-prairie." Then come to this slide to name what they saw.</a:t>
            </a:r>
          </a:p>
          <a:p/>
          <a:p>
            <a:r>
              <a:t>EXPECT: 78% weekly response, satisfaction 72, readings up tenfold. Use the id plan-prairie exactly. Three minutes, no more.</a:t>
            </a:r>
          </a:p>
          <a:p/>
          <a:p>
            <a:r>
              <a:t>LAND: "That is the customer's agent, not ours. We built the tools; they run the loop. Her agent may well report 2,400 flags a week, and it reads as the agent working. Nothing we handed her says they wait 31 hours."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Show Claude Code and type /pm-run, out loud, so the room can follow. Then put this slide up for the wait. About five minutes end to end; classification is the first two and a half.</a:t>
            </a:r>
          </a:p>
          <a:p/>
          <a:p>
            <a:r>
              <a:t>ROOM: This wait is the best two and a half minutes you have. Talk, do not type. It is reading 160 conversations and 31,215 rows of the nurse queue. "Judgment goes to the model. Arithmetic goes to Python. You never ask a model to count."</a:t>
            </a:r>
          </a:p>
          <a:p/>
          <a:p>
            <a:r>
              <a:t>EXAMPLE: One record: a patient reports 181 over 104, then asks for a lisinopril refill. The agent logs the reading, escalates, and says plainly it cannot do refills. The record says: intent refill, outcome escalated, unmet need yes, proposed tool request_refill. Notice where the refill went: also to a nurse.</a:t>
            </a:r>
          </a:p>
          <a:p/>
          <a:p>
            <a:r>
              <a:t>IF A LAPTOP FALLS BEHIND: They watch the screen. Nobody debugs during this block.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Read the left column first. "The board was not wrong. Every number it has is true."</a:t>
            </a:r>
          </a:p>
          <a:p/>
          <a:p>
            <a:r>
              <a:t>THEN: The two red rows. An urgent case waits 29 hours, the same as a routine one. Four in ten things a nurse touches are not clinical at all.</a:t>
            </a:r>
          </a:p>
          <a:p/>
          <a:p>
            <a:r>
              <a:t>DO NOT: Draw the conclusion. The next slide asks them 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The tool is asking the same thing on every laptop. Take three answers from the room. Do not grade them. Call on a team whose line 2 was blank and ask what changed their mind.</a:t>
            </a:r>
          </a:p>
          <a:p/>
          <a:p>
            <a:r>
              <a:t>SCREEN: Type the room's best answer into Claude Code and show the diagnosis it reveals. Its headline: nurses become the bottleneck at scale, and today's load is small enough to hide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Ask for a vote and a reason. Steer toward triage by asking which card changes the two red rows.</a:t>
            </a:r>
          </a:p>
          <a:p/>
          <a:p>
            <a:r>
              <a:t>IF THEY PICK A TOOL: The skill pushes back once: "Refills are 12% of conversations. Median nurse response is 30 hours. Which metric does a refill tool move?" Let it. Then accept what they say.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Type /deploy triage in Claude Code, then bring this slide up while the room votes. Go back to Claude Code to type each answer.</a:t>
            </a:r>
          </a:p>
          <a:p/>
          <a:p>
            <a:r>
              <a:t>ROOM: Vote each one. Do not let all four defaults pass without a hand count. Taking the default is a decision and it is recorded as one.</a:t>
            </a:r>
          </a:p>
          <a:p/>
          <a:p>
            <a:r>
              <a:t>LINGER: On thresholds. Ask the CFO role and the clinical role to defend different numbers. Someone will argue a higher bar saves nurse time. Let them win if the room agrees.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THE TEST RUNS: About a minute. It scores the triage on the fifteen night texts in Exhibit E against a nurse's key. Ask: "Which of these scares you?" Most say 10. Wait for 12, 9, or 5. The traps are 5, 9, 12, and 13.</a:t>
            </a:r>
          </a:p>
          <a:p/>
          <a:p>
            <a:r>
              <a:t>SCREEN: Show the table Claude Code prints. Stop and read the misses before anything else. If the room voted the defaults and nothing missed, say "a cost-minded team might raise the bar to 190/115" and re-test once. Then this slide.</a:t>
            </a:r>
          </a:p>
          <a:p/>
          <a:p>
            <a:r>
              <a:t>ASK: "You just made a clinical decision with a parameter. Who signs off on that number in your company?"</a:t>
            </a:r>
          </a:p>
          <a:p/>
          <a:p>
            <a:r>
              <a:t>THEN THE DASHBOARD: In this order: the urgent-cases-missed tile, the nurse response line after week 40, then Sign Prairie, without and then with. At the defaults: next quarter falls from about 84 hours to about 4; under Prairie about 42 hours instead of the two-week cap with 19 nurses left. You should be at minute 42.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You are the board chair. Pick one team that caught the bottleneck and one that did not. One question per click.</a:t>
            </a:r>
          </a:p>
          <a:p/>
          <a:p>
            <a:r>
              <a:t>SCREEN: Between questions, put the presenting team's Sign Prairie projection on the dashboard.</a:t>
            </a:r>
          </a:p>
          <a:p/>
          <a:p>
            <a:r>
              <a:t>BRING BACK: The hand count from minute two. "Eleven of you said sign. How many still would, unchanged?"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Now you may name it. One line per click, and a beat on each. Nothing on the board deck was false. It was the wrong half of the system.</a:t>
            </a:r>
          </a:p>
          <a:p/>
          <a:p>
            <a:r>
              <a:t>ON LINE 2: Call back to whoever argued for the higher bar. It was a reasonable cost argument. That is the point.</a:t>
            </a:r>
          </a:p>
          <a:p/>
          <a:p>
            <a:r>
              <a:t>ON LINE 5: Name the teams that proposed renegotiating with Prairie. docs/04-operating.md has the fee argument.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The tools were the same. Who ran the loop decided who could see the problem.</a:t>
            </a:r>
          </a:p>
          <a:p/>
          <a:p>
            <a:r>
              <a:t>SAY: "Most of you will do both. Build the tools once. Decide per customer who runs the loop, and know what you stop seeing when it is not you."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Go around the room. One sentence each. The US setting kept the case neutral; this question makes it theirs.</a:t>
            </a:r>
          </a:p>
          <a:p/>
          <a:p>
            <a:r>
              <a:t>PROMPT: "When your AI works, whose queue grows? Who is watching that number this week?"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Everything they used today is in their folder. A new experience has no corpus on purpose: the loop runs on their first real conversations.</a:t>
            </a:r>
          </a:p>
          <a:p/>
          <a:p>
            <a:r>
              <a:t>IF THERE IS TIME, CASE ONE IN A SENTENCE: "Build versus buy is a go-to-market question. Good enough to sell in one country may not be good enough in another, so sequence your markets around what your product can credibly meet."</a:t>
            </a:r>
          </a:p>
          <a:p/>
          <a:p>
            <a:r>
              <a:t>CLOSE: "The agent worked. The operating model around it did not, and that was a decision, not a fact about the technology."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853440" y="655320"/>
            <a:ext cx="10485120" cy="228600"/>
          </a:xfrm>
          <a:prstGeom prst="rect">
            <a:avLst/>
          </a:prstGeom>
          <a:noFill/>
        </p:spPr>
        <p:txBody>
          <a:bodyPr wrap="square" lIns="0" rIns="0" tIns="0" bIns="0" anchor="t">
            <a:spAutoFit/>
          </a:bodyPr>
          <a:lstStyle/>
          <a:p>
            <a:pPr algn="l">
              <a:lnSpc>
                <a:spcPts val="1320"/>
              </a:lnSpc>
            </a:pPr>
            <a:r>
              <a:rPr sz="1300" b="0" spc="200">
                <a:solidFill>
                  <a:srgbClr val="0B6E8A"/>
                </a:solidFill>
                <a:latin typeface="Courier New"/>
              </a:rPr>
              <a:t>WHILE YOU ARRIVE</a:t>
            </a:r>
          </a:p>
        </p:txBody>
      </p:sp>
      <p:sp>
        <p:nvSpPr>
          <p:cNvPr id="3" name="TextBox 2"/>
          <p:cNvSpPr txBox="1"/>
          <p:nvPr/>
        </p:nvSpPr>
        <p:spPr>
          <a:xfrm>
            <a:off x="853440" y="1066800"/>
            <a:ext cx="10485120" cy="553212"/>
          </a:xfrm>
          <a:prstGeom prst="rect">
            <a:avLst/>
          </a:prstGeom>
          <a:noFill/>
        </p:spPr>
        <p:txBody>
          <a:bodyPr wrap="square" lIns="0" rIns="0" tIns="0" bIns="0" anchor="t">
            <a:spAutoFit/>
          </a:bodyPr>
          <a:lstStyle/>
          <a:p>
            <a:pPr algn="l">
              <a:lnSpc>
                <a:spcPts val="4118"/>
              </a:lnSpc>
            </a:pPr>
            <a:r>
              <a:rPr sz="3950" b="1">
                <a:solidFill>
                  <a:srgbClr val="13212C"/>
                </a:solidFill>
                <a:latin typeface="Arial"/>
              </a:rPr>
              <a:t>Three things, then wait for us</a:t>
            </a:r>
          </a:p>
        </p:txBody>
      </p:sp>
      <p:sp>
        <p:nvSpPr>
          <p:cNvPr id="4" name="Rounded Rectangle 3"/>
          <p:cNvSpPr/>
          <p:nvPr/>
        </p:nvSpPr>
        <p:spPr>
          <a:xfrm>
            <a:off x="853440" y="1848612"/>
            <a:ext cx="3312160" cy="1885188"/>
          </a:xfrm>
          <a:prstGeom prst="roundRect">
            <a:avLst>
              <a:gd name="adj" fmla="val 4042"/>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2520" y="2077212"/>
            <a:ext cx="2794000" cy="160020"/>
          </a:xfrm>
          <a:prstGeom prst="rect">
            <a:avLst/>
          </a:prstGeom>
          <a:noFill/>
        </p:spPr>
        <p:txBody>
          <a:bodyPr wrap="square" lIns="0" rIns="0" tIns="0" bIns="0" anchor="t">
            <a:spAutoFit/>
          </a:bodyPr>
          <a:lstStyle/>
          <a:p>
            <a:pPr algn="l">
              <a:lnSpc>
                <a:spcPts val="1260"/>
              </a:lnSpc>
            </a:pPr>
            <a:r>
              <a:rPr sz="1250" b="0" spc="150">
                <a:solidFill>
                  <a:srgbClr val="0B6E8A"/>
                </a:solidFill>
                <a:latin typeface="Courier New"/>
              </a:rPr>
              <a:t>1 · OPEN</a:t>
            </a:r>
          </a:p>
        </p:txBody>
      </p:sp>
      <p:sp>
        <p:nvSpPr>
          <p:cNvPr id="6" name="TextBox 5"/>
          <p:cNvSpPr txBox="1"/>
          <p:nvPr/>
        </p:nvSpPr>
        <p:spPr>
          <a:xfrm>
            <a:off x="1112520" y="2343912"/>
            <a:ext cx="2794000" cy="534924"/>
          </a:xfrm>
          <a:prstGeom prst="rect">
            <a:avLst/>
          </a:prstGeom>
          <a:noFill/>
        </p:spPr>
        <p:txBody>
          <a:bodyPr wrap="square" lIns="0" rIns="0" tIns="0" bIns="0" anchor="t">
            <a:spAutoFit/>
          </a:bodyPr>
          <a:lstStyle/>
          <a:p>
            <a:pPr algn="l">
              <a:lnSpc>
                <a:spcPts val="2106"/>
              </a:lnSpc>
            </a:pPr>
            <a:r>
              <a:rPr sz="1550" b="0">
                <a:solidFill>
                  <a:srgbClr val="13212C"/>
                </a:solidFill>
                <a:latin typeface="Arial"/>
              </a:rPr>
              <a:t>The Claude desktop app, Code tab.</a:t>
            </a:r>
          </a:p>
        </p:txBody>
      </p:sp>
      <p:sp>
        <p:nvSpPr>
          <p:cNvPr id="7" name="TextBox 6"/>
          <p:cNvSpPr txBox="1"/>
          <p:nvPr/>
        </p:nvSpPr>
        <p:spPr>
          <a:xfrm>
            <a:off x="1112520" y="2970276"/>
            <a:ext cx="2794000" cy="534924"/>
          </a:xfrm>
          <a:prstGeom prst="rect">
            <a:avLst/>
          </a:prstGeom>
          <a:noFill/>
        </p:spPr>
        <p:txBody>
          <a:bodyPr wrap="square" lIns="0" rIns="0" tIns="0" bIns="0" anchor="t">
            <a:spAutoFit/>
          </a:bodyPr>
          <a:lstStyle/>
          <a:p>
            <a:pPr algn="l">
              <a:lnSpc>
                <a:spcPts val="2106"/>
              </a:lnSpc>
            </a:pPr>
            <a:r>
              <a:rPr sz="1550" b="0">
                <a:solidFill>
                  <a:srgbClr val="566977"/>
                </a:solidFill>
                <a:latin typeface="Arial"/>
              </a:rPr>
              <a:t>New project, in a new empty folder called </a:t>
            </a:r>
            <a:r>
              <a:rPr sz="1550" b="0">
                <a:solidFill>
                  <a:srgbClr val="566977"/>
                </a:solidFill>
                <a:latin typeface="Courier New"/>
              </a:rPr>
              <a:t>northline</a:t>
            </a:r>
            <a:r>
              <a:rPr sz="1550" b="0">
                <a:solidFill>
                  <a:srgbClr val="566977"/>
                </a:solidFill>
                <a:latin typeface="Arial"/>
              </a:rPr>
              <a:t>.</a:t>
            </a:r>
          </a:p>
        </p:txBody>
      </p:sp>
      <p:sp>
        <p:nvSpPr>
          <p:cNvPr id="8" name="Rounded Rectangle 7"/>
          <p:cNvSpPr/>
          <p:nvPr/>
        </p:nvSpPr>
        <p:spPr>
          <a:xfrm>
            <a:off x="4439920" y="1848612"/>
            <a:ext cx="3312160" cy="1885188"/>
          </a:xfrm>
          <a:prstGeom prst="roundRect">
            <a:avLst>
              <a:gd name="adj" fmla="val 4042"/>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99000" y="2077212"/>
            <a:ext cx="2794000" cy="160020"/>
          </a:xfrm>
          <a:prstGeom prst="rect">
            <a:avLst/>
          </a:prstGeom>
          <a:noFill/>
        </p:spPr>
        <p:txBody>
          <a:bodyPr wrap="square" lIns="0" rIns="0" tIns="0" bIns="0" anchor="t">
            <a:spAutoFit/>
          </a:bodyPr>
          <a:lstStyle/>
          <a:p>
            <a:pPr algn="l">
              <a:lnSpc>
                <a:spcPts val="1260"/>
              </a:lnSpc>
            </a:pPr>
            <a:r>
              <a:rPr sz="1250" b="0" spc="150">
                <a:solidFill>
                  <a:srgbClr val="0B6E8A"/>
                </a:solidFill>
                <a:latin typeface="Courier New"/>
              </a:rPr>
              <a:t>2 · PASTE</a:t>
            </a:r>
          </a:p>
        </p:txBody>
      </p:sp>
      <p:sp>
        <p:nvSpPr>
          <p:cNvPr id="10" name="TextBox 9"/>
          <p:cNvSpPr txBox="1"/>
          <p:nvPr/>
        </p:nvSpPr>
        <p:spPr>
          <a:xfrm>
            <a:off x="4699000" y="2343912"/>
            <a:ext cx="2794000" cy="267462"/>
          </a:xfrm>
          <a:prstGeom prst="rect">
            <a:avLst/>
          </a:prstGeom>
          <a:noFill/>
        </p:spPr>
        <p:txBody>
          <a:bodyPr wrap="square" lIns="0" rIns="0" tIns="0" bIns="0" anchor="t">
            <a:spAutoFit/>
          </a:bodyPr>
          <a:lstStyle/>
          <a:p>
            <a:pPr algn="l">
              <a:lnSpc>
                <a:spcPts val="2106"/>
              </a:lnSpc>
            </a:pPr>
            <a:r>
              <a:rPr sz="1550" b="0">
                <a:solidFill>
                  <a:srgbClr val="13212C"/>
                </a:solidFill>
                <a:latin typeface="Arial"/>
              </a:rPr>
              <a:t>The line below.</a:t>
            </a:r>
          </a:p>
        </p:txBody>
      </p:sp>
      <p:sp>
        <p:nvSpPr>
          <p:cNvPr id="11" name="TextBox 10"/>
          <p:cNvSpPr txBox="1"/>
          <p:nvPr/>
        </p:nvSpPr>
        <p:spPr>
          <a:xfrm>
            <a:off x="4699000" y="2702814"/>
            <a:ext cx="2794000" cy="534924"/>
          </a:xfrm>
          <a:prstGeom prst="rect">
            <a:avLst/>
          </a:prstGeom>
          <a:noFill/>
        </p:spPr>
        <p:txBody>
          <a:bodyPr wrap="square" lIns="0" rIns="0" tIns="0" bIns="0" anchor="t">
            <a:spAutoFit/>
          </a:bodyPr>
          <a:lstStyle/>
          <a:p>
            <a:pPr algn="l">
              <a:lnSpc>
                <a:spcPts val="2106"/>
              </a:lnSpc>
            </a:pPr>
            <a:r>
              <a:rPr sz="1550" b="0">
                <a:solidFill>
                  <a:srgbClr val="566977"/>
                </a:solidFill>
                <a:latin typeface="Arial"/>
              </a:rPr>
              <a:t>When it finishes, close the project and open it again.</a:t>
            </a:r>
          </a:p>
        </p:txBody>
      </p:sp>
      <p:sp>
        <p:nvSpPr>
          <p:cNvPr id="12" name="Rounded Rectangle 11"/>
          <p:cNvSpPr/>
          <p:nvPr/>
        </p:nvSpPr>
        <p:spPr>
          <a:xfrm>
            <a:off x="8026400" y="1848612"/>
            <a:ext cx="3312160" cy="1885188"/>
          </a:xfrm>
          <a:prstGeom prst="roundRect">
            <a:avLst>
              <a:gd name="adj" fmla="val 4042"/>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85480" y="2077212"/>
            <a:ext cx="2794000" cy="160020"/>
          </a:xfrm>
          <a:prstGeom prst="rect">
            <a:avLst/>
          </a:prstGeom>
          <a:noFill/>
        </p:spPr>
        <p:txBody>
          <a:bodyPr wrap="square" lIns="0" rIns="0" tIns="0" bIns="0" anchor="t">
            <a:spAutoFit/>
          </a:bodyPr>
          <a:lstStyle/>
          <a:p>
            <a:pPr algn="l">
              <a:lnSpc>
                <a:spcPts val="1260"/>
              </a:lnSpc>
            </a:pPr>
            <a:r>
              <a:rPr sz="1250" b="0" spc="150">
                <a:solidFill>
                  <a:srgbClr val="0B6E8A"/>
                </a:solidFill>
                <a:latin typeface="Courier New"/>
              </a:rPr>
              <a:t>3 · TYPE</a:t>
            </a:r>
          </a:p>
        </p:txBody>
      </p:sp>
      <p:sp>
        <p:nvSpPr>
          <p:cNvPr id="14" name="TextBox 13"/>
          <p:cNvSpPr txBox="1"/>
          <p:nvPr/>
        </p:nvSpPr>
        <p:spPr>
          <a:xfrm>
            <a:off x="8285480" y="2343912"/>
            <a:ext cx="2794000" cy="267462"/>
          </a:xfrm>
          <a:prstGeom prst="rect">
            <a:avLst/>
          </a:prstGeom>
          <a:noFill/>
        </p:spPr>
        <p:txBody>
          <a:bodyPr wrap="square" lIns="0" rIns="0" tIns="0" bIns="0" anchor="t">
            <a:spAutoFit/>
          </a:bodyPr>
          <a:lstStyle/>
          <a:p>
            <a:pPr algn="l">
              <a:lnSpc>
                <a:spcPts val="2106"/>
              </a:lnSpc>
            </a:pPr>
            <a:r>
              <a:rPr sz="1550" b="0">
                <a:solidFill>
                  <a:srgbClr val="13212C"/>
                </a:solidFill>
                <a:latin typeface="Courier New"/>
              </a:rPr>
              <a:t>/northline-setup</a:t>
            </a:r>
          </a:p>
        </p:txBody>
      </p:sp>
      <p:sp>
        <p:nvSpPr>
          <p:cNvPr id="15" name="TextBox 14"/>
          <p:cNvSpPr txBox="1"/>
          <p:nvPr/>
        </p:nvSpPr>
        <p:spPr>
          <a:xfrm>
            <a:off x="8285480" y="2702814"/>
            <a:ext cx="2794000" cy="267462"/>
          </a:xfrm>
          <a:prstGeom prst="rect">
            <a:avLst/>
          </a:prstGeom>
          <a:noFill/>
        </p:spPr>
        <p:txBody>
          <a:bodyPr wrap="square" lIns="0" rIns="0" tIns="0" bIns="0" anchor="t">
            <a:spAutoFit/>
          </a:bodyPr>
          <a:lstStyle/>
          <a:p>
            <a:pPr algn="l">
              <a:lnSpc>
                <a:spcPts val="2106"/>
              </a:lnSpc>
            </a:pPr>
            <a:r>
              <a:rPr sz="1550" b="0">
                <a:solidFill>
                  <a:srgbClr val="566977"/>
                </a:solidFill>
                <a:latin typeface="Arial"/>
              </a:rPr>
              <a:t>Stop when it prints READY.</a:t>
            </a:r>
          </a:p>
        </p:txBody>
      </p:sp>
      <p:sp>
        <p:nvSpPr>
          <p:cNvPr id="16" name="Rounded Rectangle 15"/>
          <p:cNvSpPr/>
          <p:nvPr/>
        </p:nvSpPr>
        <p:spPr>
          <a:xfrm>
            <a:off x="853440" y="3962400"/>
            <a:ext cx="10485120" cy="896112"/>
          </a:xfrm>
          <a:prstGeom prst="roundRect">
            <a:avLst>
              <a:gd name="adj" fmla="val 8503"/>
            </a:avLst>
          </a:prstGeom>
          <a:solidFill>
            <a:srgbClr val="13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2520" y="4145280"/>
            <a:ext cx="9966960" cy="530352"/>
          </a:xfrm>
          <a:prstGeom prst="rect">
            <a:avLst/>
          </a:prstGeom>
          <a:noFill/>
        </p:spPr>
        <p:txBody>
          <a:bodyPr wrap="square" lIns="0" rIns="0" tIns="0" bIns="0" anchor="t">
            <a:spAutoFit/>
          </a:bodyPr>
          <a:lstStyle/>
          <a:p>
            <a:pPr algn="l">
              <a:lnSpc>
                <a:spcPts val="2088"/>
              </a:lnSpc>
            </a:pPr>
            <a:r>
              <a:rPr sz="1450" b="0">
                <a:solidFill>
                  <a:srgbClr val="F2F5F7"/>
                </a:solidFill>
                <a:latin typeface="Courier New"/>
              </a:rPr>
              <a:t>Download github.com/anthonymorrisjohnson/northline-course as a ZIP, unzip it so the files sit directly in this folder, then delete the zip.</a:t>
            </a:r>
          </a:p>
        </p:txBody>
      </p:sp>
      <p:sp>
        <p:nvSpPr>
          <p:cNvPr id="18"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566977"/>
                </a:solidFill>
                <a:latin typeface="Courier New"/>
              </a:rPr>
              <a:t>Before we start</a:t>
            </a:r>
          </a:p>
        </p:txBody>
      </p:sp>
      <p:sp>
        <p:nvSpPr>
          <p:cNvPr id="19"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566977"/>
                </a:solidFill>
                <a:latin typeface="Courier New"/>
              </a:rPr>
              <a:t>1 / 16</a:t>
            </a:r>
          </a:p>
        </p:txBody>
      </p:sp>
      <p:sp>
        <p:nvSpPr>
          <p:cNvPr id="20" name="Rectangle 19"/>
          <p:cNvSpPr/>
          <p:nvPr/>
        </p:nvSpPr>
        <p:spPr>
          <a:xfrm>
            <a:off x="3520440" y="6423660"/>
            <a:ext cx="263956"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22496" y="6423660"/>
            <a:ext cx="1055827"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16424" y="6423660"/>
            <a:ext cx="879856"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34380" y="6423660"/>
            <a:ext cx="1495755"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68235" y="6423660"/>
            <a:ext cx="703884"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10220" y="6423660"/>
            <a:ext cx="1055827"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04147" y="6423660"/>
            <a:ext cx="1143812"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3212C"/>
        </a:solidFill>
        <a:effectLst/>
      </p:bgPr>
    </p:bg>
    <p:spTree>
      <p:nvGrpSpPr>
        <p:cNvPr id="1" name=""/>
        <p:cNvGrpSpPr/>
        <p:nvPr/>
      </p:nvGrpSpPr>
      <p:grpSpPr/>
      <p:sp>
        <p:nvSpPr>
          <p:cNvPr id="2" name="TextBox 1"/>
          <p:cNvSpPr txBox="1"/>
          <p:nvPr/>
        </p:nvSpPr>
        <p:spPr>
          <a:xfrm>
            <a:off x="853440" y="1880311"/>
            <a:ext cx="10485120" cy="228600"/>
          </a:xfrm>
          <a:prstGeom prst="rect">
            <a:avLst/>
          </a:prstGeom>
          <a:noFill/>
        </p:spPr>
        <p:txBody>
          <a:bodyPr wrap="square" lIns="0" rIns="0" tIns="0" bIns="0" anchor="t">
            <a:spAutoFit/>
          </a:bodyPr>
          <a:lstStyle/>
          <a:p>
            <a:pPr algn="l">
              <a:lnSpc>
                <a:spcPts val="1320"/>
              </a:lnSpc>
            </a:pPr>
            <a:r>
              <a:rPr sz="1300" b="0" spc="200">
                <a:solidFill>
                  <a:srgbClr val="6CC3DB"/>
                </a:solidFill>
                <a:latin typeface="Courier New"/>
              </a:rPr>
              <a:t>ADVANCED SESSION · AFRICINVEST AI WORKSHOP · TUNIS</a:t>
            </a:r>
          </a:p>
        </p:txBody>
      </p:sp>
      <p:sp>
        <p:nvSpPr>
          <p:cNvPr id="3" name="TextBox 2"/>
          <p:cNvSpPr txBox="1"/>
          <p:nvPr/>
        </p:nvSpPr>
        <p:spPr>
          <a:xfrm>
            <a:off x="853440" y="2291791"/>
            <a:ext cx="10485120" cy="1775155"/>
          </a:xfrm>
          <a:prstGeom prst="rect">
            <a:avLst/>
          </a:prstGeom>
          <a:noFill/>
        </p:spPr>
        <p:txBody>
          <a:bodyPr wrap="square" lIns="0" rIns="0" tIns="0" bIns="0" anchor="t">
            <a:spAutoFit/>
          </a:bodyPr>
          <a:lstStyle/>
          <a:p>
            <a:pPr algn="l">
              <a:lnSpc>
                <a:spcPts val="6585"/>
              </a:lnSpc>
            </a:pPr>
            <a:r>
              <a:rPr sz="6700" b="1">
                <a:solidFill>
                  <a:srgbClr val="F2F5F7"/>
                </a:solidFill>
                <a:latin typeface="Arial"/>
              </a:rPr>
              <a:t>Moving the</a:t>
            </a:r>
          </a:p>
          <a:p>
            <a:pPr algn="l">
              <a:lnSpc>
                <a:spcPts val="6585"/>
              </a:lnSpc>
            </a:pPr>
            <a:r>
              <a:rPr sz="6700" b="1">
                <a:solidFill>
                  <a:srgbClr val="F2F5F7"/>
                </a:solidFill>
                <a:latin typeface="Arial"/>
              </a:rPr>
              <a:t>bottleneck</a:t>
            </a:r>
          </a:p>
        </p:txBody>
      </p:sp>
      <p:sp>
        <p:nvSpPr>
          <p:cNvPr id="4" name="TextBox 3"/>
          <p:cNvSpPr txBox="1"/>
          <p:nvPr/>
        </p:nvSpPr>
        <p:spPr>
          <a:xfrm>
            <a:off x="853440" y="4295546"/>
            <a:ext cx="9326880" cy="362102"/>
          </a:xfrm>
          <a:prstGeom prst="rect">
            <a:avLst/>
          </a:prstGeom>
          <a:noFill/>
        </p:spPr>
        <p:txBody>
          <a:bodyPr wrap="square" lIns="0" rIns="0" tIns="0" bIns="0" anchor="t">
            <a:spAutoFit/>
          </a:bodyPr>
          <a:lstStyle/>
          <a:p>
            <a:pPr algn="l">
              <a:lnSpc>
                <a:spcPts val="2851"/>
              </a:lnSpc>
            </a:pPr>
            <a:r>
              <a:rPr sz="2150" b="0">
                <a:solidFill>
                  <a:srgbClr val="F2F5F7"/>
                </a:solidFill>
                <a:latin typeface="Arial"/>
              </a:rPr>
              <a:t>Northline Care. A live case, a real decision, and two commands.</a:t>
            </a:r>
          </a:p>
        </p:txBody>
      </p:sp>
      <p:sp>
        <p:nvSpPr>
          <p:cNvPr id="5"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9DB0BD"/>
                </a:solidFill>
                <a:latin typeface="Courier New"/>
              </a:rPr>
              <a:t>0–3 min · Open</a:t>
            </a:r>
          </a:p>
        </p:txBody>
      </p:sp>
      <p:sp>
        <p:nvSpPr>
          <p:cNvPr id="6"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9DB0BD"/>
                </a:solidFill>
                <a:latin typeface="Courier New"/>
              </a:rPr>
              <a:t>2 / 16</a:t>
            </a:r>
          </a:p>
        </p:txBody>
      </p:sp>
      <p:sp>
        <p:nvSpPr>
          <p:cNvPr id="7" name="Rectangle 6"/>
          <p:cNvSpPr/>
          <p:nvPr/>
        </p:nvSpPr>
        <p:spPr>
          <a:xfrm>
            <a:off x="3520440" y="6423660"/>
            <a:ext cx="263956" cy="60960"/>
          </a:xfrm>
          <a:prstGeom prst="rect">
            <a:avLst/>
          </a:prstGeom>
          <a:solidFill>
            <a:srgbClr val="6CC3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22496" y="6423660"/>
            <a:ext cx="1055827" cy="60960"/>
          </a:xfrm>
          <a:prstGeom prst="rect">
            <a:avLst/>
          </a:prstGeom>
          <a:solidFill>
            <a:srgbClr val="2A3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16424" y="6423660"/>
            <a:ext cx="879856" cy="60960"/>
          </a:xfrm>
          <a:prstGeom prst="rect">
            <a:avLst/>
          </a:prstGeom>
          <a:solidFill>
            <a:srgbClr val="2A3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34380" y="6423660"/>
            <a:ext cx="1495755" cy="60960"/>
          </a:xfrm>
          <a:prstGeom prst="rect">
            <a:avLst/>
          </a:prstGeom>
          <a:solidFill>
            <a:srgbClr val="2A3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68235" y="6423660"/>
            <a:ext cx="703884" cy="60960"/>
          </a:xfrm>
          <a:prstGeom prst="rect">
            <a:avLst/>
          </a:prstGeom>
          <a:solidFill>
            <a:srgbClr val="2A3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10220" y="6423660"/>
            <a:ext cx="1055827" cy="60960"/>
          </a:xfrm>
          <a:prstGeom prst="rect">
            <a:avLst/>
          </a:prstGeom>
          <a:solidFill>
            <a:srgbClr val="2A3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204147" y="6423660"/>
            <a:ext cx="1143812" cy="60960"/>
          </a:xfrm>
          <a:prstGeom prst="rect">
            <a:avLst/>
          </a:prstGeom>
          <a:solidFill>
            <a:srgbClr val="2A3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853440" y="655320"/>
            <a:ext cx="10485120" cy="228600"/>
          </a:xfrm>
          <a:prstGeom prst="rect">
            <a:avLst/>
          </a:prstGeom>
          <a:noFill/>
        </p:spPr>
        <p:txBody>
          <a:bodyPr wrap="square" lIns="0" rIns="0" tIns="0" bIns="0" anchor="t">
            <a:spAutoFit/>
          </a:bodyPr>
          <a:lstStyle/>
          <a:p>
            <a:pPr algn="l">
              <a:lnSpc>
                <a:spcPts val="1320"/>
              </a:lnSpc>
            </a:pPr>
            <a:r>
              <a:rPr sz="1300" b="0" spc="200">
                <a:solidFill>
                  <a:srgbClr val="0B6E8A"/>
                </a:solidFill>
                <a:latin typeface="Courier New"/>
              </a:rPr>
              <a:t>MONDAY, 8:02 AM</a:t>
            </a:r>
          </a:p>
        </p:txBody>
      </p:sp>
      <p:sp>
        <p:nvSpPr>
          <p:cNvPr id="3" name="Rounded Rectangle 2"/>
          <p:cNvSpPr/>
          <p:nvPr/>
        </p:nvSpPr>
        <p:spPr>
          <a:xfrm>
            <a:off x="853440" y="1066800"/>
            <a:ext cx="9448800" cy="3895801"/>
          </a:xfrm>
          <a:prstGeom prst="roundRect">
            <a:avLst>
              <a:gd name="adj" fmla="val 1955"/>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341120"/>
            <a:ext cx="8778240" cy="480060"/>
          </a:xfrm>
          <a:prstGeom prst="rect">
            <a:avLst/>
          </a:prstGeom>
          <a:noFill/>
        </p:spPr>
        <p:txBody>
          <a:bodyPr wrap="square" lIns="0" rIns="0" tIns="0" bIns="0" anchor="t">
            <a:spAutoFit/>
          </a:bodyPr>
          <a:lstStyle/>
          <a:p>
            <a:pPr algn="l">
              <a:lnSpc>
                <a:spcPts val="1889"/>
              </a:lnSpc>
            </a:pPr>
            <a:r>
              <a:rPr sz="1250" b="0">
                <a:solidFill>
                  <a:srgbClr val="13212C"/>
                </a:solidFill>
                <a:latin typeface="Courier New"/>
              </a:rPr>
              <a:t>From</a:t>
            </a:r>
            <a:r>
              <a:rPr sz="1250" b="0">
                <a:solidFill>
                  <a:srgbClr val="566977"/>
                </a:solidFill>
                <a:latin typeface="Courier New"/>
              </a:rPr>
              <a:t> VP Network Partnerships, Prairie Health Plan · </a:t>
            </a:r>
            <a:r>
              <a:rPr sz="1250" b="0">
                <a:solidFill>
                  <a:srgbClr val="13212C"/>
                </a:solidFill>
                <a:latin typeface="Courier New"/>
              </a:rPr>
              <a:t>To</a:t>
            </a:r>
            <a:r>
              <a:rPr sz="1250" b="0">
                <a:solidFill>
                  <a:srgbClr val="566977"/>
                </a:solidFill>
                <a:latin typeface="Courier New"/>
              </a:rPr>
              <a:t> CEO, Northline Care</a:t>
            </a:r>
          </a:p>
          <a:p>
            <a:pPr algn="l">
              <a:lnSpc>
                <a:spcPts val="1889"/>
              </a:lnSpc>
            </a:pPr>
            <a:r>
              <a:rPr sz="1250" b="0">
                <a:solidFill>
                  <a:srgbClr val="13212C"/>
                </a:solidFill>
                <a:latin typeface="Courier New"/>
              </a:rPr>
              <a:t>Subject</a:t>
            </a:r>
            <a:r>
              <a:rPr sz="1250" b="0">
                <a:solidFill>
                  <a:srgbClr val="566977"/>
                </a:solidFill>
                <a:latin typeface="Courier New"/>
              </a:rPr>
              <a:t> Contract for signature, 60,000 members</a:t>
            </a:r>
          </a:p>
        </p:txBody>
      </p:sp>
      <p:sp>
        <p:nvSpPr>
          <p:cNvPr id="5" name="Rectangle 4"/>
          <p:cNvSpPr/>
          <p:nvPr/>
        </p:nvSpPr>
        <p:spPr>
          <a:xfrm>
            <a:off x="1188720" y="1943100"/>
            <a:ext cx="8778240" cy="762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080260"/>
            <a:ext cx="8778240" cy="313791"/>
          </a:xfrm>
          <a:prstGeom prst="rect">
            <a:avLst/>
          </a:prstGeom>
          <a:noFill/>
        </p:spPr>
        <p:txBody>
          <a:bodyPr wrap="square" lIns="0" rIns="0" tIns="0" bIns="0" anchor="t">
            <a:spAutoFit/>
          </a:bodyPr>
          <a:lstStyle/>
          <a:p>
            <a:pPr algn="l">
              <a:lnSpc>
                <a:spcPts val="2470"/>
              </a:lnSpc>
            </a:pPr>
            <a:r>
              <a:rPr sz="1750" b="0">
                <a:solidFill>
                  <a:srgbClr val="13212C"/>
                </a:solidFill>
                <a:latin typeface="Arial"/>
              </a:rPr>
              <a:t>Good morning,</a:t>
            </a:r>
          </a:p>
        </p:txBody>
      </p:sp>
      <p:sp>
        <p:nvSpPr>
          <p:cNvPr id="7" name="TextBox 6"/>
          <p:cNvSpPr txBox="1"/>
          <p:nvPr/>
        </p:nvSpPr>
        <p:spPr>
          <a:xfrm>
            <a:off x="1188720" y="2531211"/>
            <a:ext cx="8778240" cy="941374"/>
          </a:xfrm>
          <a:prstGeom prst="rect">
            <a:avLst/>
          </a:prstGeom>
          <a:noFill/>
        </p:spPr>
        <p:txBody>
          <a:bodyPr wrap="square" lIns="0" rIns="0" tIns="0" bIns="0" anchor="t">
            <a:spAutoFit/>
          </a:bodyPr>
          <a:lstStyle/>
          <a:p>
            <a:pPr algn="l">
              <a:lnSpc>
                <a:spcPts val="2470"/>
              </a:lnSpc>
            </a:pPr>
            <a:r>
              <a:rPr sz="1750" b="0">
                <a:solidFill>
                  <a:srgbClr val="13212C"/>
                </a:solidFill>
                <a:latin typeface="Arial"/>
              </a:rPr>
              <a:t>Attached is the executed agreement from our side for chronic care management of 60,000 Medicare Advantage members across North Dakota, South Dakota, and Minnesota, at the rate we discussed. Go-live is 90 days from signature.</a:t>
            </a:r>
          </a:p>
        </p:txBody>
      </p:sp>
      <p:sp>
        <p:nvSpPr>
          <p:cNvPr id="8" name="TextBox 7"/>
          <p:cNvSpPr txBox="1"/>
          <p:nvPr/>
        </p:nvSpPr>
        <p:spPr>
          <a:xfrm>
            <a:off x="1188720" y="3609746"/>
            <a:ext cx="8778240" cy="627583"/>
          </a:xfrm>
          <a:prstGeom prst="rect">
            <a:avLst/>
          </a:prstGeom>
          <a:noFill/>
        </p:spPr>
        <p:txBody>
          <a:bodyPr wrap="square" lIns="0" rIns="0" tIns="0" bIns="0" anchor="t">
            <a:spAutoFit/>
          </a:bodyPr>
          <a:lstStyle/>
          <a:p>
            <a:pPr algn="l">
              <a:lnSpc>
                <a:spcPts val="2470"/>
              </a:lnSpc>
            </a:pPr>
            <a:r>
              <a:rPr sz="1750" b="0">
                <a:solidFill>
                  <a:srgbClr val="13212C"/>
                </a:solidFill>
                <a:latin typeface="Arial"/>
              </a:rPr>
              <a:t>We've been impressed by your engagement numbers. </a:t>
            </a:r>
            <a:r>
              <a:rPr sz="1750" b="1">
                <a:solidFill>
                  <a:srgbClr val="B3261E"/>
                </a:solidFill>
                <a:latin typeface="Arial"/>
              </a:rPr>
              <a:t>We do need your signature by Friday;</a:t>
            </a:r>
            <a:r>
              <a:rPr sz="1750" b="0">
                <a:solidFill>
                  <a:srgbClr val="13212C"/>
                </a:solidFill>
                <a:latin typeface="Arial"/>
              </a:rPr>
              <a:t> after that we'll proceed with the other vendor in our process.</a:t>
            </a:r>
          </a:p>
        </p:txBody>
      </p:sp>
      <p:sp>
        <p:nvSpPr>
          <p:cNvPr id="9" name="TextBox 8"/>
          <p:cNvSpPr txBox="1"/>
          <p:nvPr/>
        </p:nvSpPr>
        <p:spPr>
          <a:xfrm>
            <a:off x="1188720" y="4374489"/>
            <a:ext cx="8778240" cy="313791"/>
          </a:xfrm>
          <a:prstGeom prst="rect">
            <a:avLst/>
          </a:prstGeom>
          <a:noFill/>
        </p:spPr>
        <p:txBody>
          <a:bodyPr wrap="square" lIns="0" rIns="0" tIns="0" bIns="0" anchor="t">
            <a:spAutoFit/>
          </a:bodyPr>
          <a:lstStyle/>
          <a:p>
            <a:pPr algn="l">
              <a:lnSpc>
                <a:spcPts val="2470"/>
              </a:lnSpc>
            </a:pPr>
            <a:r>
              <a:rPr sz="1750" b="0">
                <a:solidFill>
                  <a:srgbClr val="13212C"/>
                </a:solidFill>
                <a:latin typeface="Arial"/>
              </a:rPr>
              <a:t>Looking forward to working together.</a:t>
            </a:r>
          </a:p>
        </p:txBody>
      </p:sp>
      <p:sp>
        <p:nvSpPr>
          <p:cNvPr id="10"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566977"/>
                </a:solidFill>
                <a:latin typeface="Courier New"/>
              </a:rPr>
              <a:t>0–3 min · Open</a:t>
            </a:r>
          </a:p>
        </p:txBody>
      </p:sp>
      <p:sp>
        <p:nvSpPr>
          <p:cNvPr id="11"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566977"/>
                </a:solidFill>
                <a:latin typeface="Courier New"/>
              </a:rPr>
              <a:t>3 / 16</a:t>
            </a:r>
          </a:p>
        </p:txBody>
      </p:sp>
      <p:sp>
        <p:nvSpPr>
          <p:cNvPr id="12" name="Rectangle 11"/>
          <p:cNvSpPr/>
          <p:nvPr/>
        </p:nvSpPr>
        <p:spPr>
          <a:xfrm>
            <a:off x="3520440" y="6423660"/>
            <a:ext cx="263956" cy="60960"/>
          </a:xfrm>
          <a:prstGeom prst="rect">
            <a:avLst/>
          </a:prstGeom>
          <a:solidFill>
            <a:srgbClr val="0B6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22496" y="6423660"/>
            <a:ext cx="1055827"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916424" y="6423660"/>
            <a:ext cx="879856"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34380" y="6423660"/>
            <a:ext cx="1495755"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8235" y="6423660"/>
            <a:ext cx="703884"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10220" y="6423660"/>
            <a:ext cx="1055827"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04147" y="6423660"/>
            <a:ext cx="1143812"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853440" y="655320"/>
            <a:ext cx="10485120" cy="228600"/>
          </a:xfrm>
          <a:prstGeom prst="rect">
            <a:avLst/>
          </a:prstGeom>
          <a:noFill/>
        </p:spPr>
        <p:txBody>
          <a:bodyPr wrap="square" lIns="0" rIns="0" tIns="0" bIns="0" anchor="t">
            <a:spAutoFit/>
          </a:bodyPr>
          <a:lstStyle/>
          <a:p>
            <a:pPr algn="l">
              <a:lnSpc>
                <a:spcPts val="1320"/>
              </a:lnSpc>
            </a:pPr>
            <a:r>
              <a:rPr sz="1300" b="0" spc="200">
                <a:solidFill>
                  <a:srgbClr val="0B6E8A"/>
                </a:solidFill>
                <a:latin typeface="Courier New"/>
              </a:rPr>
              <a:t>YOU ARE NORTHLINE'S EXECUTIVE TEAM</a:t>
            </a:r>
          </a:p>
        </p:txBody>
      </p:sp>
      <p:sp>
        <p:nvSpPr>
          <p:cNvPr id="3" name="TextBox 2"/>
          <p:cNvSpPr txBox="1"/>
          <p:nvPr/>
        </p:nvSpPr>
        <p:spPr>
          <a:xfrm>
            <a:off x="853440" y="1066800"/>
            <a:ext cx="10485120" cy="553212"/>
          </a:xfrm>
          <a:prstGeom prst="rect">
            <a:avLst/>
          </a:prstGeom>
          <a:noFill/>
        </p:spPr>
        <p:txBody>
          <a:bodyPr wrap="square" lIns="0" rIns="0" tIns="0" bIns="0" anchor="t">
            <a:spAutoFit/>
          </a:bodyPr>
          <a:lstStyle/>
          <a:p>
            <a:pPr algn="l">
              <a:lnSpc>
                <a:spcPts val="4118"/>
              </a:lnSpc>
            </a:pPr>
            <a:r>
              <a:rPr sz="3950" b="1">
                <a:solidFill>
                  <a:srgbClr val="13212C"/>
                </a:solidFill>
                <a:latin typeface="Arial"/>
              </a:rPr>
              <a:t>The board meets Thursday. Do you sign?</a:t>
            </a:r>
          </a:p>
        </p:txBody>
      </p:sp>
      <p:sp>
        <p:nvSpPr>
          <p:cNvPr id="4" name="TextBox 3"/>
          <p:cNvSpPr txBox="1"/>
          <p:nvPr/>
        </p:nvSpPr>
        <p:spPr>
          <a:xfrm>
            <a:off x="853440" y="1848612"/>
            <a:ext cx="9326880" cy="362102"/>
          </a:xfrm>
          <a:prstGeom prst="rect">
            <a:avLst/>
          </a:prstGeom>
          <a:noFill/>
        </p:spPr>
        <p:txBody>
          <a:bodyPr wrap="square" lIns="0" rIns="0" tIns="0" bIns="0" anchor="t">
            <a:spAutoFit/>
          </a:bodyPr>
          <a:lstStyle/>
          <a:p>
            <a:pPr algn="l">
              <a:lnSpc>
                <a:spcPts val="2851"/>
              </a:lnSpc>
            </a:pPr>
            <a:r>
              <a:rPr sz="2150" b="0">
                <a:solidFill>
                  <a:srgbClr val="13212C"/>
                </a:solidFill>
                <a:latin typeface="Arial"/>
              </a:rPr>
              <a:t>And what, if anything, do you change in the next 90 days either way?</a:t>
            </a:r>
          </a:p>
        </p:txBody>
      </p:sp>
      <p:sp>
        <p:nvSpPr>
          <p:cNvPr id="5" name="Rectangle 4"/>
          <p:cNvSpPr/>
          <p:nvPr/>
        </p:nvSpPr>
        <p:spPr>
          <a:xfrm>
            <a:off x="853440" y="3752088"/>
            <a:ext cx="1999487" cy="762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3889248"/>
            <a:ext cx="1938527" cy="246888"/>
          </a:xfrm>
          <a:prstGeom prst="rect">
            <a:avLst/>
          </a:prstGeom>
          <a:noFill/>
        </p:spPr>
        <p:txBody>
          <a:bodyPr wrap="square" lIns="0" rIns="0" tIns="0" bIns="0" anchor="t">
            <a:spAutoFit/>
          </a:bodyPr>
          <a:lstStyle/>
          <a:p>
            <a:pPr algn="l">
              <a:lnSpc>
                <a:spcPts val="1943"/>
              </a:lnSpc>
            </a:pPr>
            <a:r>
              <a:rPr sz="1600" b="1">
                <a:solidFill>
                  <a:srgbClr val="13212C"/>
                </a:solidFill>
                <a:latin typeface="Arial"/>
              </a:rPr>
              <a:t>CEO</a:t>
            </a:r>
          </a:p>
        </p:txBody>
      </p:sp>
      <p:sp>
        <p:nvSpPr>
          <p:cNvPr id="7" name="TextBox 6"/>
          <p:cNvSpPr txBox="1"/>
          <p:nvPr/>
        </p:nvSpPr>
        <p:spPr>
          <a:xfrm>
            <a:off x="853440" y="4181855"/>
            <a:ext cx="1938527" cy="475488"/>
          </a:xfrm>
          <a:prstGeom prst="rect">
            <a:avLst/>
          </a:prstGeom>
          <a:noFill/>
        </p:spPr>
        <p:txBody>
          <a:bodyPr wrap="square" lIns="0" rIns="0" tIns="0" bIns="0" anchor="t">
            <a:spAutoFit/>
          </a:bodyPr>
          <a:lstStyle/>
          <a:p>
            <a:pPr algn="l">
              <a:lnSpc>
                <a:spcPts val="1872"/>
              </a:lnSpc>
            </a:pPr>
            <a:r>
              <a:rPr sz="1450" b="0">
                <a:solidFill>
                  <a:srgbClr val="566977"/>
                </a:solidFill>
                <a:latin typeface="Arial"/>
              </a:rPr>
              <a:t>Presented this success at three conferences.</a:t>
            </a:r>
          </a:p>
        </p:txBody>
      </p:sp>
      <p:sp>
        <p:nvSpPr>
          <p:cNvPr id="8" name="Rectangle 7"/>
          <p:cNvSpPr/>
          <p:nvPr/>
        </p:nvSpPr>
        <p:spPr>
          <a:xfrm>
            <a:off x="2974848" y="3752088"/>
            <a:ext cx="1999487" cy="762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4848" y="3889248"/>
            <a:ext cx="1938527" cy="246888"/>
          </a:xfrm>
          <a:prstGeom prst="rect">
            <a:avLst/>
          </a:prstGeom>
          <a:noFill/>
        </p:spPr>
        <p:txBody>
          <a:bodyPr wrap="square" lIns="0" rIns="0" tIns="0" bIns="0" anchor="t">
            <a:spAutoFit/>
          </a:bodyPr>
          <a:lstStyle/>
          <a:p>
            <a:pPr algn="l">
              <a:lnSpc>
                <a:spcPts val="1943"/>
              </a:lnSpc>
            </a:pPr>
            <a:r>
              <a:rPr sz="1600" b="1">
                <a:solidFill>
                  <a:srgbClr val="13212C"/>
                </a:solidFill>
                <a:latin typeface="Arial"/>
              </a:rPr>
              <a:t>CFO</a:t>
            </a:r>
          </a:p>
        </p:txBody>
      </p:sp>
      <p:sp>
        <p:nvSpPr>
          <p:cNvPr id="10" name="TextBox 9"/>
          <p:cNvSpPr txBox="1"/>
          <p:nvPr/>
        </p:nvSpPr>
        <p:spPr>
          <a:xfrm>
            <a:off x="2974848" y="4181855"/>
            <a:ext cx="1938527" cy="713232"/>
          </a:xfrm>
          <a:prstGeom prst="rect">
            <a:avLst/>
          </a:prstGeom>
          <a:noFill/>
        </p:spPr>
        <p:txBody>
          <a:bodyPr wrap="square" lIns="0" rIns="0" tIns="0" bIns="0" anchor="t">
            <a:spAutoFit/>
          </a:bodyPr>
          <a:lstStyle/>
          <a:p>
            <a:pPr algn="l">
              <a:lnSpc>
                <a:spcPts val="1872"/>
              </a:lnSpc>
            </a:pPr>
            <a:r>
              <a:rPr sz="1450" b="0">
                <a:solidFill>
                  <a:srgbClr val="566977"/>
                </a:solidFill>
                <a:latin typeface="Arial"/>
              </a:rPr>
              <a:t>Fourteen months of runway. This makes the raise easy.</a:t>
            </a:r>
          </a:p>
        </p:txBody>
      </p:sp>
      <p:sp>
        <p:nvSpPr>
          <p:cNvPr id="11" name="Rectangle 10"/>
          <p:cNvSpPr/>
          <p:nvPr/>
        </p:nvSpPr>
        <p:spPr>
          <a:xfrm>
            <a:off x="5096256" y="3752088"/>
            <a:ext cx="1999487" cy="762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6256" y="3889248"/>
            <a:ext cx="1938527" cy="493776"/>
          </a:xfrm>
          <a:prstGeom prst="rect">
            <a:avLst/>
          </a:prstGeom>
          <a:noFill/>
        </p:spPr>
        <p:txBody>
          <a:bodyPr wrap="square" lIns="0" rIns="0" tIns="0" bIns="0" anchor="t">
            <a:spAutoFit/>
          </a:bodyPr>
          <a:lstStyle/>
          <a:p>
            <a:pPr algn="l">
              <a:lnSpc>
                <a:spcPts val="1943"/>
              </a:lnSpc>
            </a:pPr>
            <a:r>
              <a:rPr sz="1600" b="1">
                <a:solidFill>
                  <a:srgbClr val="13212C"/>
                </a:solidFill>
                <a:latin typeface="Arial"/>
              </a:rPr>
              <a:t>Chief Clinical Officer</a:t>
            </a:r>
          </a:p>
        </p:txBody>
      </p:sp>
      <p:sp>
        <p:nvSpPr>
          <p:cNvPr id="13" name="TextBox 12"/>
          <p:cNvSpPr txBox="1"/>
          <p:nvPr/>
        </p:nvSpPr>
        <p:spPr>
          <a:xfrm>
            <a:off x="5096256" y="4428743"/>
            <a:ext cx="1938527" cy="713232"/>
          </a:xfrm>
          <a:prstGeom prst="rect">
            <a:avLst/>
          </a:prstGeom>
          <a:noFill/>
        </p:spPr>
        <p:txBody>
          <a:bodyPr wrap="square" lIns="0" rIns="0" tIns="0" bIns="0" anchor="t">
            <a:spAutoFit/>
          </a:bodyPr>
          <a:lstStyle/>
          <a:p>
            <a:pPr algn="l">
              <a:lnSpc>
                <a:spcPts val="1872"/>
              </a:lnSpc>
            </a:pPr>
            <a:r>
              <a:rPr sz="1450" b="0">
                <a:solidFill>
                  <a:srgbClr val="566977"/>
                </a:solidFill>
                <a:latin typeface="Arial"/>
              </a:rPr>
              <a:t>Nurses have mentioned overtime. Nothing formal.</a:t>
            </a:r>
          </a:p>
        </p:txBody>
      </p:sp>
      <p:sp>
        <p:nvSpPr>
          <p:cNvPr id="14" name="Rectangle 13"/>
          <p:cNvSpPr/>
          <p:nvPr/>
        </p:nvSpPr>
        <p:spPr>
          <a:xfrm>
            <a:off x="7217663" y="3752088"/>
            <a:ext cx="1999487" cy="762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17663" y="3889248"/>
            <a:ext cx="1938527" cy="493776"/>
          </a:xfrm>
          <a:prstGeom prst="rect">
            <a:avLst/>
          </a:prstGeom>
          <a:noFill/>
        </p:spPr>
        <p:txBody>
          <a:bodyPr wrap="square" lIns="0" rIns="0" tIns="0" bIns="0" anchor="t">
            <a:spAutoFit/>
          </a:bodyPr>
          <a:lstStyle/>
          <a:p>
            <a:pPr algn="l">
              <a:lnSpc>
                <a:spcPts val="1943"/>
              </a:lnSpc>
            </a:pPr>
            <a:r>
              <a:rPr sz="1600" b="1">
                <a:solidFill>
                  <a:srgbClr val="13212C"/>
                </a:solidFill>
                <a:latin typeface="Arial"/>
              </a:rPr>
              <a:t>Head of Product and AI</a:t>
            </a:r>
          </a:p>
        </p:txBody>
      </p:sp>
      <p:sp>
        <p:nvSpPr>
          <p:cNvPr id="16" name="TextBox 15"/>
          <p:cNvSpPr txBox="1"/>
          <p:nvPr/>
        </p:nvSpPr>
        <p:spPr>
          <a:xfrm>
            <a:off x="7217663" y="4428743"/>
            <a:ext cx="1938527" cy="713232"/>
          </a:xfrm>
          <a:prstGeom prst="rect">
            <a:avLst/>
          </a:prstGeom>
          <a:noFill/>
        </p:spPr>
        <p:txBody>
          <a:bodyPr wrap="square" lIns="0" rIns="0" tIns="0" bIns="0" anchor="t">
            <a:spAutoFit/>
          </a:bodyPr>
          <a:lstStyle/>
          <a:p>
            <a:pPr algn="l">
              <a:lnSpc>
                <a:spcPts val="1872"/>
              </a:lnSpc>
            </a:pPr>
            <a:r>
              <a:rPr sz="1450" b="0">
                <a:solidFill>
                  <a:srgbClr val="566977"/>
                </a:solidFill>
                <a:latin typeface="Arial"/>
              </a:rPr>
              <a:t>The agent works. A backlog is ready to ship.</a:t>
            </a:r>
          </a:p>
        </p:txBody>
      </p:sp>
      <p:sp>
        <p:nvSpPr>
          <p:cNvPr id="17" name="Rectangle 16"/>
          <p:cNvSpPr/>
          <p:nvPr/>
        </p:nvSpPr>
        <p:spPr>
          <a:xfrm>
            <a:off x="9339072" y="3752088"/>
            <a:ext cx="1999487" cy="762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9072" y="3889248"/>
            <a:ext cx="1938527" cy="493776"/>
          </a:xfrm>
          <a:prstGeom prst="rect">
            <a:avLst/>
          </a:prstGeom>
          <a:noFill/>
        </p:spPr>
        <p:txBody>
          <a:bodyPr wrap="square" lIns="0" rIns="0" tIns="0" bIns="0" anchor="t">
            <a:spAutoFit/>
          </a:bodyPr>
          <a:lstStyle/>
          <a:p>
            <a:pPr algn="l">
              <a:lnSpc>
                <a:spcPts val="1943"/>
              </a:lnSpc>
            </a:pPr>
            <a:r>
              <a:rPr sz="1600" b="1">
                <a:solidFill>
                  <a:srgbClr val="13212C"/>
                </a:solidFill>
                <a:latin typeface="Arial"/>
              </a:rPr>
              <a:t>Head of Partnerships</a:t>
            </a:r>
          </a:p>
        </p:txBody>
      </p:sp>
      <p:sp>
        <p:nvSpPr>
          <p:cNvPr id="19" name="TextBox 18"/>
          <p:cNvSpPr txBox="1"/>
          <p:nvPr/>
        </p:nvSpPr>
        <p:spPr>
          <a:xfrm>
            <a:off x="9339072" y="4428743"/>
            <a:ext cx="1938527" cy="475488"/>
          </a:xfrm>
          <a:prstGeom prst="rect">
            <a:avLst/>
          </a:prstGeom>
          <a:noFill/>
        </p:spPr>
        <p:txBody>
          <a:bodyPr wrap="square" lIns="0" rIns="0" tIns="0" bIns="0" anchor="t">
            <a:spAutoFit/>
          </a:bodyPr>
          <a:lstStyle/>
          <a:p>
            <a:pPr algn="l">
              <a:lnSpc>
                <a:spcPts val="1872"/>
              </a:lnSpc>
            </a:pPr>
            <a:r>
              <a:rPr sz="1450" b="0">
                <a:solidFill>
                  <a:srgbClr val="566977"/>
                </a:solidFill>
                <a:latin typeface="Arial"/>
              </a:rPr>
              <a:t>Owns the Prairie relationship.</a:t>
            </a:r>
          </a:p>
        </p:txBody>
      </p:sp>
      <p:sp>
        <p:nvSpPr>
          <p:cNvPr id="20" name="TextBox 19"/>
          <p:cNvSpPr txBox="1"/>
          <p:nvPr/>
        </p:nvSpPr>
        <p:spPr>
          <a:xfrm>
            <a:off x="853440" y="5370576"/>
            <a:ext cx="10485120" cy="512063"/>
          </a:xfrm>
          <a:prstGeom prst="rect">
            <a:avLst/>
          </a:prstGeom>
          <a:noFill/>
        </p:spPr>
        <p:txBody>
          <a:bodyPr wrap="square" lIns="0" rIns="0" tIns="0" bIns="0" anchor="t">
            <a:spAutoFit/>
          </a:bodyPr>
          <a:lstStyle/>
          <a:p>
            <a:pPr algn="l">
              <a:lnSpc>
                <a:spcPts val="2015"/>
              </a:lnSpc>
            </a:pPr>
            <a:r>
              <a:rPr sz="1450" b="0">
                <a:solidFill>
                  <a:srgbClr val="566977"/>
                </a:solidFill>
                <a:latin typeface="Courier New"/>
              </a:rPr>
              <a:t>12 minutes to read the exhibits in role · then 10 to write your one-page board recommendation</a:t>
            </a:r>
          </a:p>
        </p:txBody>
      </p:sp>
      <p:sp>
        <p:nvSpPr>
          <p:cNvPr id="21"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566977"/>
                </a:solidFill>
                <a:latin typeface="Courier New"/>
              </a:rPr>
              <a:t>3–15 min · Read the exhibits</a:t>
            </a:r>
          </a:p>
        </p:txBody>
      </p:sp>
      <p:sp>
        <p:nvSpPr>
          <p:cNvPr id="22"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566977"/>
                </a:solidFill>
                <a:latin typeface="Courier New"/>
              </a:rPr>
              <a:t>4 / 16</a:t>
            </a:r>
          </a:p>
        </p:txBody>
      </p:sp>
      <p:sp>
        <p:nvSpPr>
          <p:cNvPr id="23" name="Rectangle 22"/>
          <p:cNvSpPr/>
          <p:nvPr/>
        </p:nvSpPr>
        <p:spPr>
          <a:xfrm>
            <a:off x="3520440" y="6423660"/>
            <a:ext cx="2639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22496" y="6423660"/>
            <a:ext cx="1055827" cy="60960"/>
          </a:xfrm>
          <a:prstGeom prst="rect">
            <a:avLst/>
          </a:prstGeom>
          <a:solidFill>
            <a:srgbClr val="0B6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16424" y="6423660"/>
            <a:ext cx="879856"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34380" y="6423660"/>
            <a:ext cx="1495755"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68235" y="6423660"/>
            <a:ext cx="703884"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10220" y="6423660"/>
            <a:ext cx="1055827"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04147" y="6423660"/>
            <a:ext cx="1143812"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853440" y="655320"/>
            <a:ext cx="10485120" cy="228600"/>
          </a:xfrm>
          <a:prstGeom prst="rect">
            <a:avLst/>
          </a:prstGeom>
          <a:noFill/>
        </p:spPr>
        <p:txBody>
          <a:bodyPr wrap="square" lIns="0" rIns="0" tIns="0" bIns="0" anchor="t">
            <a:spAutoFit/>
          </a:bodyPr>
          <a:lstStyle/>
          <a:p>
            <a:pPr algn="l">
              <a:lnSpc>
                <a:spcPts val="1320"/>
              </a:lnSpc>
            </a:pPr>
            <a:r>
              <a:rPr sz="1300" b="0" spc="200">
                <a:solidFill>
                  <a:srgbClr val="0B6E8A"/>
                </a:solidFill>
                <a:latin typeface="Courier New"/>
              </a:rPr>
              <a:t>MINUTE 8 · HOW PRAIRIE GOT IMPRESSED</a:t>
            </a:r>
          </a:p>
        </p:txBody>
      </p:sp>
      <p:sp>
        <p:nvSpPr>
          <p:cNvPr id="3" name="TextBox 2"/>
          <p:cNvSpPr txBox="1"/>
          <p:nvPr/>
        </p:nvSpPr>
        <p:spPr>
          <a:xfrm>
            <a:off x="853440" y="1066800"/>
            <a:ext cx="10485120" cy="553212"/>
          </a:xfrm>
          <a:prstGeom prst="rect">
            <a:avLst/>
          </a:prstGeom>
          <a:noFill/>
        </p:spPr>
        <p:txBody>
          <a:bodyPr wrap="square" lIns="0" rIns="0" tIns="0" bIns="0" anchor="t">
            <a:spAutoFit/>
          </a:bodyPr>
          <a:lstStyle/>
          <a:p>
            <a:pPr algn="l">
              <a:lnSpc>
                <a:spcPts val="4118"/>
              </a:lnSpc>
            </a:pPr>
            <a:r>
              <a:rPr sz="3950" b="1">
                <a:solidFill>
                  <a:srgbClr val="13212C"/>
                </a:solidFill>
                <a:latin typeface="Arial"/>
              </a:rPr>
              <a:t>Two front doors, one set of tools</a:t>
            </a:r>
          </a:p>
        </p:txBody>
      </p:sp>
      <p:sp>
        <p:nvSpPr>
          <p:cNvPr id="4" name="Rounded Rectangle 3"/>
          <p:cNvSpPr/>
          <p:nvPr/>
        </p:nvSpPr>
        <p:spPr>
          <a:xfrm>
            <a:off x="853440" y="1848612"/>
            <a:ext cx="5105400" cy="1617726"/>
          </a:xfrm>
          <a:prstGeom prst="roundRect">
            <a:avLst>
              <a:gd name="adj" fmla="val 4710"/>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2520" y="2077212"/>
            <a:ext cx="4587240" cy="160020"/>
          </a:xfrm>
          <a:prstGeom prst="rect">
            <a:avLst/>
          </a:prstGeom>
          <a:noFill/>
        </p:spPr>
        <p:txBody>
          <a:bodyPr wrap="square" lIns="0" rIns="0" tIns="0" bIns="0" anchor="t">
            <a:spAutoFit/>
          </a:bodyPr>
          <a:lstStyle/>
          <a:p>
            <a:pPr algn="l">
              <a:lnSpc>
                <a:spcPts val="1260"/>
              </a:lnSpc>
            </a:pPr>
            <a:r>
              <a:rPr sz="1250" b="0" spc="150">
                <a:solidFill>
                  <a:srgbClr val="0B6E8A"/>
                </a:solidFill>
                <a:latin typeface="Courier New"/>
              </a:rPr>
              <a:t>PATIENTS</a:t>
            </a:r>
          </a:p>
        </p:txBody>
      </p:sp>
      <p:sp>
        <p:nvSpPr>
          <p:cNvPr id="6" name="TextBox 5"/>
          <p:cNvSpPr txBox="1"/>
          <p:nvPr/>
        </p:nvSpPr>
        <p:spPr>
          <a:xfrm>
            <a:off x="1112520" y="2343912"/>
            <a:ext cx="4587240" cy="267462"/>
          </a:xfrm>
          <a:prstGeom prst="rect">
            <a:avLst/>
          </a:prstGeom>
          <a:noFill/>
        </p:spPr>
        <p:txBody>
          <a:bodyPr wrap="square" lIns="0" rIns="0" tIns="0" bIns="0" anchor="t">
            <a:spAutoFit/>
          </a:bodyPr>
          <a:lstStyle/>
          <a:p>
            <a:pPr algn="l">
              <a:lnSpc>
                <a:spcPts val="2106"/>
              </a:lnSpc>
            </a:pPr>
            <a:r>
              <a:rPr sz="1550" b="0">
                <a:solidFill>
                  <a:srgbClr val="13212C"/>
                </a:solidFill>
                <a:latin typeface="Arial"/>
              </a:rPr>
              <a:t>Text </a:t>
            </a:r>
            <a:r>
              <a:rPr sz="1550" b="1">
                <a:solidFill>
                  <a:srgbClr val="13212C"/>
                </a:solidFill>
                <a:latin typeface="Arial"/>
              </a:rPr>
              <a:t>our</a:t>
            </a:r>
            <a:r>
              <a:rPr sz="1550" b="0">
                <a:solidFill>
                  <a:srgbClr val="13212C"/>
                </a:solidFill>
                <a:latin typeface="Arial"/>
              </a:rPr>
              <a:t> check-in agent. We run the loop.</a:t>
            </a:r>
          </a:p>
        </p:txBody>
      </p:sp>
      <p:sp>
        <p:nvSpPr>
          <p:cNvPr id="7" name="TextBox 6"/>
          <p:cNvSpPr txBox="1"/>
          <p:nvPr/>
        </p:nvSpPr>
        <p:spPr>
          <a:xfrm>
            <a:off x="1112520" y="2702814"/>
            <a:ext cx="4587240" cy="534924"/>
          </a:xfrm>
          <a:prstGeom prst="rect">
            <a:avLst/>
          </a:prstGeom>
          <a:noFill/>
        </p:spPr>
        <p:txBody>
          <a:bodyPr wrap="square" lIns="0" rIns="0" tIns="0" bIns="0" anchor="t">
            <a:spAutoFit/>
          </a:bodyPr>
          <a:lstStyle/>
          <a:p>
            <a:pPr algn="l">
              <a:lnSpc>
                <a:spcPts val="2106"/>
              </a:lnSpc>
            </a:pPr>
            <a:r>
              <a:rPr sz="1550" b="0">
                <a:solidFill>
                  <a:srgbClr val="566977"/>
                </a:solidFill>
                <a:latin typeface="Arial"/>
              </a:rPr>
              <a:t>We see every word, including what we could not do.</a:t>
            </a:r>
          </a:p>
        </p:txBody>
      </p:sp>
      <p:sp>
        <p:nvSpPr>
          <p:cNvPr id="8" name="Rounded Rectangle 7"/>
          <p:cNvSpPr/>
          <p:nvPr/>
        </p:nvSpPr>
        <p:spPr>
          <a:xfrm>
            <a:off x="6233160" y="1848612"/>
            <a:ext cx="5105400" cy="1617726"/>
          </a:xfrm>
          <a:prstGeom prst="roundRect">
            <a:avLst>
              <a:gd name="adj" fmla="val 4710"/>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77212"/>
            <a:ext cx="4587240" cy="160020"/>
          </a:xfrm>
          <a:prstGeom prst="rect">
            <a:avLst/>
          </a:prstGeom>
          <a:noFill/>
        </p:spPr>
        <p:txBody>
          <a:bodyPr wrap="square" lIns="0" rIns="0" tIns="0" bIns="0" anchor="t">
            <a:spAutoFit/>
          </a:bodyPr>
          <a:lstStyle/>
          <a:p>
            <a:pPr algn="l">
              <a:lnSpc>
                <a:spcPts val="1260"/>
              </a:lnSpc>
            </a:pPr>
            <a:r>
              <a:rPr sz="1250" b="0" spc="150">
                <a:solidFill>
                  <a:srgbClr val="0B6E8A"/>
                </a:solidFill>
                <a:latin typeface="Courier New"/>
              </a:rPr>
              <a:t>PRAIRIE'S ANALYST</a:t>
            </a:r>
          </a:p>
        </p:txBody>
      </p:sp>
      <p:sp>
        <p:nvSpPr>
          <p:cNvPr id="10" name="TextBox 9"/>
          <p:cNvSpPr txBox="1"/>
          <p:nvPr/>
        </p:nvSpPr>
        <p:spPr>
          <a:xfrm>
            <a:off x="6492240" y="2343912"/>
            <a:ext cx="4587240" cy="267462"/>
          </a:xfrm>
          <a:prstGeom prst="rect">
            <a:avLst/>
          </a:prstGeom>
          <a:noFill/>
        </p:spPr>
        <p:txBody>
          <a:bodyPr wrap="square" lIns="0" rIns="0" tIns="0" bIns="0" anchor="t">
            <a:spAutoFit/>
          </a:bodyPr>
          <a:lstStyle/>
          <a:p>
            <a:pPr algn="l">
              <a:lnSpc>
                <a:spcPts val="2106"/>
              </a:lnSpc>
            </a:pPr>
            <a:r>
              <a:rPr sz="1550" b="0">
                <a:solidFill>
                  <a:srgbClr val="13212C"/>
                </a:solidFill>
                <a:latin typeface="Arial"/>
              </a:rPr>
              <a:t>Asks </a:t>
            </a:r>
            <a:r>
              <a:rPr sz="1550" b="1">
                <a:solidFill>
                  <a:srgbClr val="13212C"/>
                </a:solidFill>
                <a:latin typeface="Arial"/>
              </a:rPr>
              <a:t>her own</a:t>
            </a:r>
            <a:r>
              <a:rPr sz="1550" b="0">
                <a:solidFill>
                  <a:srgbClr val="13212C"/>
                </a:solidFill>
                <a:latin typeface="Arial"/>
              </a:rPr>
              <a:t> agent. They run the loop.</a:t>
            </a:r>
          </a:p>
        </p:txBody>
      </p:sp>
      <p:sp>
        <p:nvSpPr>
          <p:cNvPr id="11" name="TextBox 10"/>
          <p:cNvSpPr txBox="1"/>
          <p:nvPr/>
        </p:nvSpPr>
        <p:spPr>
          <a:xfrm>
            <a:off x="6492240" y="2702814"/>
            <a:ext cx="4587240" cy="534924"/>
          </a:xfrm>
          <a:prstGeom prst="rect">
            <a:avLst/>
          </a:prstGeom>
          <a:noFill/>
        </p:spPr>
        <p:txBody>
          <a:bodyPr wrap="square" lIns="0" rIns="0" tIns="0" bIns="0" anchor="t">
            <a:spAutoFit/>
          </a:bodyPr>
          <a:lstStyle/>
          <a:p>
            <a:pPr algn="l">
              <a:lnSpc>
                <a:spcPts val="2106"/>
              </a:lnSpc>
            </a:pPr>
            <a:r>
              <a:rPr sz="1550" b="0">
                <a:solidFill>
                  <a:srgbClr val="566977"/>
                </a:solidFill>
                <a:latin typeface="Arial"/>
              </a:rPr>
              <a:t>We see tool calls. She saw 2,400 flags a week, and nothing about the wait.</a:t>
            </a:r>
          </a:p>
        </p:txBody>
      </p:sp>
      <p:sp>
        <p:nvSpPr>
          <p:cNvPr id="12" name="Rounded Rectangle 11"/>
          <p:cNvSpPr/>
          <p:nvPr/>
        </p:nvSpPr>
        <p:spPr>
          <a:xfrm>
            <a:off x="853440" y="3740658"/>
            <a:ext cx="10485120" cy="940307"/>
          </a:xfrm>
          <a:prstGeom prst="roundRect">
            <a:avLst>
              <a:gd name="adj" fmla="val 8103"/>
            </a:avLst>
          </a:prstGeom>
          <a:solidFill>
            <a:srgbClr val="13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2520" y="3923538"/>
            <a:ext cx="9966960" cy="574547"/>
          </a:xfrm>
          <a:prstGeom prst="rect">
            <a:avLst/>
          </a:prstGeom>
          <a:noFill/>
        </p:spPr>
        <p:txBody>
          <a:bodyPr wrap="square" lIns="0" rIns="0" tIns="0" bIns="0" anchor="t">
            <a:spAutoFit/>
          </a:bodyPr>
          <a:lstStyle/>
          <a:p>
            <a:pPr algn="l">
              <a:lnSpc>
                <a:spcPts val="2261"/>
              </a:lnSpc>
            </a:pPr>
            <a:r>
              <a:rPr sz="1550" b="0">
                <a:solidFill>
                  <a:srgbClr val="F2F5F7"/>
                </a:solidFill>
                <a:latin typeface="Courier New"/>
              </a:rPr>
              <a:t>Northline tools    </a:t>
            </a:r>
            <a:r>
              <a:rPr sz="1550" b="0">
                <a:solidFill>
                  <a:srgbClr val="9DB0BD"/>
                </a:solidFill>
                <a:latin typeface="Courier New"/>
              </a:rPr>
              <a:t>readings · medication · escalate · engagement · outcome evidence</a:t>
            </a:r>
          </a:p>
        </p:txBody>
      </p:sp>
      <p:sp>
        <p:nvSpPr>
          <p:cNvPr id="14"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566977"/>
                </a:solidFill>
                <a:latin typeface="Courier New"/>
              </a:rPr>
              <a:t>3–15 min · Read the exhibits</a:t>
            </a:r>
          </a:p>
        </p:txBody>
      </p:sp>
      <p:sp>
        <p:nvSpPr>
          <p:cNvPr id="15"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566977"/>
                </a:solidFill>
                <a:latin typeface="Courier New"/>
              </a:rPr>
              <a:t>5 / 16</a:t>
            </a:r>
          </a:p>
        </p:txBody>
      </p:sp>
      <p:sp>
        <p:nvSpPr>
          <p:cNvPr id="16" name="Rectangle 15"/>
          <p:cNvSpPr/>
          <p:nvPr/>
        </p:nvSpPr>
        <p:spPr>
          <a:xfrm>
            <a:off x="3520440" y="6423660"/>
            <a:ext cx="2639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22496" y="6423660"/>
            <a:ext cx="1055827" cy="60960"/>
          </a:xfrm>
          <a:prstGeom prst="rect">
            <a:avLst/>
          </a:prstGeom>
          <a:solidFill>
            <a:srgbClr val="0B6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16424" y="6423660"/>
            <a:ext cx="879856"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34380" y="6423660"/>
            <a:ext cx="1495755"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8235" y="6423660"/>
            <a:ext cx="703884"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10220" y="6423660"/>
            <a:ext cx="1055827"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04147" y="6423660"/>
            <a:ext cx="1143812"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853440" y="655320"/>
            <a:ext cx="10485120" cy="228600"/>
          </a:xfrm>
          <a:prstGeom prst="rect">
            <a:avLst/>
          </a:prstGeom>
          <a:noFill/>
        </p:spPr>
        <p:txBody>
          <a:bodyPr wrap="square" lIns="0" rIns="0" tIns="0" bIns="0" anchor="t">
            <a:spAutoFit/>
          </a:bodyPr>
          <a:lstStyle/>
          <a:p>
            <a:pPr algn="l">
              <a:lnSpc>
                <a:spcPts val="1320"/>
              </a:lnSpc>
            </a:pPr>
            <a:r>
              <a:rPr sz="1300" b="0" spc="200">
                <a:solidFill>
                  <a:srgbClr val="0B6E8A"/>
                </a:solidFill>
                <a:latin typeface="Courier New"/>
              </a:rPr>
              <a:t>LAPTOPS OUT · TYPE /PM-RUN · THEN /DEPLOY TRIAGE</a:t>
            </a:r>
          </a:p>
        </p:txBody>
      </p:sp>
      <p:sp>
        <p:nvSpPr>
          <p:cNvPr id="3" name="TextBox 2"/>
          <p:cNvSpPr txBox="1"/>
          <p:nvPr/>
        </p:nvSpPr>
        <p:spPr>
          <a:xfrm>
            <a:off x="853440" y="1066800"/>
            <a:ext cx="10485120" cy="1106424"/>
          </a:xfrm>
          <a:prstGeom prst="rect">
            <a:avLst/>
          </a:prstGeom>
          <a:noFill/>
        </p:spPr>
        <p:txBody>
          <a:bodyPr wrap="square" lIns="0" rIns="0" tIns="0" bIns="0" anchor="t">
            <a:spAutoFit/>
          </a:bodyPr>
          <a:lstStyle/>
          <a:p>
            <a:pPr algn="l">
              <a:lnSpc>
                <a:spcPts val="4118"/>
              </a:lnSpc>
            </a:pPr>
            <a:r>
              <a:rPr sz="3950" b="1">
                <a:solidFill>
                  <a:srgbClr val="13212C"/>
                </a:solidFill>
                <a:latin typeface="Arial"/>
              </a:rPr>
              <a:t>Product management, as a loop you can run</a:t>
            </a:r>
          </a:p>
        </p:txBody>
      </p:sp>
      <p:sp>
        <p:nvSpPr>
          <p:cNvPr id="4" name="Rounded Rectangle 3"/>
          <p:cNvSpPr/>
          <p:nvPr/>
        </p:nvSpPr>
        <p:spPr>
          <a:xfrm>
            <a:off x="853440" y="2401824"/>
            <a:ext cx="10485120" cy="2002536"/>
          </a:xfrm>
          <a:prstGeom prst="roundRect">
            <a:avLst>
              <a:gd name="adj" fmla="val 3805"/>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1080" y="2599944"/>
            <a:ext cx="1412240" cy="304800"/>
          </a:xfrm>
          <a:prstGeom prst="rect">
            <a:avLst/>
          </a:prstGeom>
          <a:noFill/>
        </p:spPr>
        <p:txBody>
          <a:bodyPr wrap="square" lIns="0" rIns="0" tIns="0" bIns="0" anchor="t">
            <a:spAutoFit/>
          </a:bodyPr>
          <a:lstStyle/>
          <a:p>
            <a:pPr algn="l">
              <a:lnSpc>
                <a:spcPts val="2112"/>
              </a:lnSpc>
            </a:pPr>
            <a:r>
              <a:rPr sz="1900" b="1">
                <a:solidFill>
                  <a:srgbClr val="13212C"/>
                </a:solidFill>
                <a:latin typeface="Arial"/>
              </a:rPr>
              <a:t>Capture</a:t>
            </a:r>
          </a:p>
        </p:txBody>
      </p:sp>
      <p:sp>
        <p:nvSpPr>
          <p:cNvPr id="6" name="TextBox 5"/>
          <p:cNvSpPr txBox="1"/>
          <p:nvPr/>
        </p:nvSpPr>
        <p:spPr>
          <a:xfrm>
            <a:off x="1021080" y="2980944"/>
            <a:ext cx="1412240" cy="905256"/>
          </a:xfrm>
          <a:prstGeom prst="rect">
            <a:avLst/>
          </a:prstGeom>
          <a:noFill/>
        </p:spPr>
        <p:txBody>
          <a:bodyPr wrap="square" lIns="0" rIns="0" tIns="0" bIns="0" anchor="t">
            <a:spAutoFit/>
          </a:bodyPr>
          <a:lstStyle/>
          <a:p>
            <a:pPr algn="l">
              <a:lnSpc>
                <a:spcPts val="1782"/>
              </a:lnSpc>
            </a:pPr>
            <a:r>
              <a:rPr sz="1300" b="0">
                <a:solidFill>
                  <a:srgbClr val="566977"/>
                </a:solidFill>
                <a:latin typeface="Arial"/>
              </a:rPr>
              <a:t>Every conversation, tool call, and escalation is a file.</a:t>
            </a:r>
          </a:p>
        </p:txBody>
      </p:sp>
      <p:sp>
        <p:nvSpPr>
          <p:cNvPr id="7" name="TextBox 6"/>
          <p:cNvSpPr txBox="1"/>
          <p:nvPr/>
        </p:nvSpPr>
        <p:spPr>
          <a:xfrm>
            <a:off x="1021080" y="4038600"/>
            <a:ext cx="1412240" cy="182880"/>
          </a:xfrm>
          <a:prstGeom prst="rect">
            <a:avLst/>
          </a:prstGeom>
          <a:noFill/>
        </p:spPr>
        <p:txBody>
          <a:bodyPr wrap="square" lIns="0" rIns="0" tIns="0" bIns="0" anchor="t">
            <a:spAutoFit/>
          </a:bodyPr>
          <a:lstStyle/>
          <a:p>
            <a:pPr algn="l">
              <a:lnSpc>
                <a:spcPts val="1140"/>
              </a:lnSpc>
            </a:pPr>
            <a:r>
              <a:rPr sz="1150" b="0" spc="150">
                <a:solidFill>
                  <a:srgbClr val="566977"/>
                </a:solidFill>
                <a:latin typeface="Courier New"/>
              </a:rPr>
              <a:t>FILES</a:t>
            </a:r>
          </a:p>
        </p:txBody>
      </p:sp>
      <p:sp>
        <p:nvSpPr>
          <p:cNvPr id="8" name="Rectangle 7"/>
          <p:cNvSpPr/>
          <p:nvPr/>
        </p:nvSpPr>
        <p:spPr>
          <a:xfrm>
            <a:off x="2600960" y="2401824"/>
            <a:ext cx="7620" cy="2002536"/>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8600" y="2599944"/>
            <a:ext cx="1412240" cy="304800"/>
          </a:xfrm>
          <a:prstGeom prst="rect">
            <a:avLst/>
          </a:prstGeom>
          <a:noFill/>
        </p:spPr>
        <p:txBody>
          <a:bodyPr wrap="square" lIns="0" rIns="0" tIns="0" bIns="0" anchor="t">
            <a:spAutoFit/>
          </a:bodyPr>
          <a:lstStyle/>
          <a:p>
            <a:pPr algn="l">
              <a:lnSpc>
                <a:spcPts val="2112"/>
              </a:lnSpc>
            </a:pPr>
            <a:r>
              <a:rPr sz="1900" b="1">
                <a:solidFill>
                  <a:srgbClr val="13212C"/>
                </a:solidFill>
                <a:latin typeface="Arial"/>
              </a:rPr>
              <a:t>Classify</a:t>
            </a:r>
          </a:p>
        </p:txBody>
      </p:sp>
      <p:sp>
        <p:nvSpPr>
          <p:cNvPr id="10" name="TextBox 9"/>
          <p:cNvSpPr txBox="1"/>
          <p:nvPr/>
        </p:nvSpPr>
        <p:spPr>
          <a:xfrm>
            <a:off x="2768600" y="2980944"/>
            <a:ext cx="1412240" cy="905256"/>
          </a:xfrm>
          <a:prstGeom prst="rect">
            <a:avLst/>
          </a:prstGeom>
          <a:noFill/>
        </p:spPr>
        <p:txBody>
          <a:bodyPr wrap="square" lIns="0" rIns="0" tIns="0" bIns="0" anchor="t">
            <a:spAutoFit/>
          </a:bodyPr>
          <a:lstStyle/>
          <a:p>
            <a:pPr algn="l">
              <a:lnSpc>
                <a:spcPts val="1782"/>
              </a:lnSpc>
            </a:pPr>
            <a:r>
              <a:rPr sz="1300" b="0">
                <a:solidFill>
                  <a:srgbClr val="566977"/>
                </a:solidFill>
                <a:latin typeface="Arial"/>
              </a:rPr>
              <a:t>What did they want? Did they get it? What was missing?</a:t>
            </a:r>
          </a:p>
        </p:txBody>
      </p:sp>
      <p:sp>
        <p:nvSpPr>
          <p:cNvPr id="11" name="TextBox 10"/>
          <p:cNvSpPr txBox="1"/>
          <p:nvPr/>
        </p:nvSpPr>
        <p:spPr>
          <a:xfrm>
            <a:off x="2768600" y="4038600"/>
            <a:ext cx="1412240" cy="182880"/>
          </a:xfrm>
          <a:prstGeom prst="rect">
            <a:avLst/>
          </a:prstGeom>
          <a:noFill/>
        </p:spPr>
        <p:txBody>
          <a:bodyPr wrap="square" lIns="0" rIns="0" tIns="0" bIns="0" anchor="t">
            <a:spAutoFit/>
          </a:bodyPr>
          <a:lstStyle/>
          <a:p>
            <a:pPr algn="l">
              <a:lnSpc>
                <a:spcPts val="1140"/>
              </a:lnSpc>
            </a:pPr>
            <a:r>
              <a:rPr sz="1150" b="0" spc="150">
                <a:solidFill>
                  <a:srgbClr val="0B6E8A"/>
                </a:solidFill>
                <a:latin typeface="Courier New"/>
              </a:rPr>
              <a:t>CLAUDE</a:t>
            </a:r>
          </a:p>
        </p:txBody>
      </p:sp>
      <p:sp>
        <p:nvSpPr>
          <p:cNvPr id="12" name="Rectangle 11"/>
          <p:cNvSpPr/>
          <p:nvPr/>
        </p:nvSpPr>
        <p:spPr>
          <a:xfrm>
            <a:off x="4348480" y="2401824"/>
            <a:ext cx="7620" cy="2002536"/>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6120" y="2599944"/>
            <a:ext cx="1412240" cy="304800"/>
          </a:xfrm>
          <a:prstGeom prst="rect">
            <a:avLst/>
          </a:prstGeom>
          <a:noFill/>
        </p:spPr>
        <p:txBody>
          <a:bodyPr wrap="square" lIns="0" rIns="0" tIns="0" bIns="0" anchor="t">
            <a:spAutoFit/>
          </a:bodyPr>
          <a:lstStyle/>
          <a:p>
            <a:pPr algn="l">
              <a:lnSpc>
                <a:spcPts val="2112"/>
              </a:lnSpc>
            </a:pPr>
            <a:r>
              <a:rPr sz="1900" b="1">
                <a:solidFill>
                  <a:srgbClr val="13212C"/>
                </a:solidFill>
                <a:latin typeface="Arial"/>
              </a:rPr>
              <a:t>Aggregate</a:t>
            </a:r>
          </a:p>
        </p:txBody>
      </p:sp>
      <p:sp>
        <p:nvSpPr>
          <p:cNvPr id="14" name="TextBox 13"/>
          <p:cNvSpPr txBox="1"/>
          <p:nvPr/>
        </p:nvSpPr>
        <p:spPr>
          <a:xfrm>
            <a:off x="4516120" y="2980944"/>
            <a:ext cx="1412240" cy="905256"/>
          </a:xfrm>
          <a:prstGeom prst="rect">
            <a:avLst/>
          </a:prstGeom>
          <a:noFill/>
        </p:spPr>
        <p:txBody>
          <a:bodyPr wrap="square" lIns="0" rIns="0" tIns="0" bIns="0" anchor="t">
            <a:spAutoFit/>
          </a:bodyPr>
          <a:lstStyle/>
          <a:p>
            <a:pPr algn="l">
              <a:lnSpc>
                <a:spcPts val="1782"/>
              </a:lnSpc>
            </a:pPr>
            <a:r>
              <a:rPr sz="1300" b="0">
                <a:solidFill>
                  <a:srgbClr val="566977"/>
                </a:solidFill>
                <a:latin typeface="Arial"/>
              </a:rPr>
              <a:t>Counts, medians, who waited and how long.</a:t>
            </a:r>
          </a:p>
        </p:txBody>
      </p:sp>
      <p:sp>
        <p:nvSpPr>
          <p:cNvPr id="15" name="TextBox 14"/>
          <p:cNvSpPr txBox="1"/>
          <p:nvPr/>
        </p:nvSpPr>
        <p:spPr>
          <a:xfrm>
            <a:off x="4516120" y="4038600"/>
            <a:ext cx="1412240" cy="182880"/>
          </a:xfrm>
          <a:prstGeom prst="rect">
            <a:avLst/>
          </a:prstGeom>
          <a:noFill/>
        </p:spPr>
        <p:txBody>
          <a:bodyPr wrap="square" lIns="0" rIns="0" tIns="0" bIns="0" anchor="t">
            <a:spAutoFit/>
          </a:bodyPr>
          <a:lstStyle/>
          <a:p>
            <a:pPr algn="l">
              <a:lnSpc>
                <a:spcPts val="1140"/>
              </a:lnSpc>
            </a:pPr>
            <a:r>
              <a:rPr sz="1150" b="0" spc="150">
                <a:solidFill>
                  <a:srgbClr val="566977"/>
                </a:solidFill>
                <a:latin typeface="Courier New"/>
              </a:rPr>
              <a:t>PYTHON</a:t>
            </a:r>
          </a:p>
        </p:txBody>
      </p:sp>
      <p:sp>
        <p:nvSpPr>
          <p:cNvPr id="16" name="Rectangle 15"/>
          <p:cNvSpPr/>
          <p:nvPr/>
        </p:nvSpPr>
        <p:spPr>
          <a:xfrm>
            <a:off x="6096000" y="2401824"/>
            <a:ext cx="7620" cy="2002536"/>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2599944"/>
            <a:ext cx="1412240" cy="304800"/>
          </a:xfrm>
          <a:prstGeom prst="rect">
            <a:avLst/>
          </a:prstGeom>
          <a:noFill/>
        </p:spPr>
        <p:txBody>
          <a:bodyPr wrap="square" lIns="0" rIns="0" tIns="0" bIns="0" anchor="t">
            <a:spAutoFit/>
          </a:bodyPr>
          <a:lstStyle/>
          <a:p>
            <a:pPr algn="l">
              <a:lnSpc>
                <a:spcPts val="2112"/>
              </a:lnSpc>
            </a:pPr>
            <a:r>
              <a:rPr sz="1900" b="1">
                <a:solidFill>
                  <a:srgbClr val="13212C"/>
                </a:solidFill>
                <a:latin typeface="Arial"/>
              </a:rPr>
              <a:t>Diagnose</a:t>
            </a:r>
          </a:p>
        </p:txBody>
      </p:sp>
      <p:sp>
        <p:nvSpPr>
          <p:cNvPr id="18" name="TextBox 17"/>
          <p:cNvSpPr txBox="1"/>
          <p:nvPr/>
        </p:nvSpPr>
        <p:spPr>
          <a:xfrm>
            <a:off x="6263640" y="2980944"/>
            <a:ext cx="1412240" cy="905256"/>
          </a:xfrm>
          <a:prstGeom prst="rect">
            <a:avLst/>
          </a:prstGeom>
          <a:noFill/>
        </p:spPr>
        <p:txBody>
          <a:bodyPr wrap="square" lIns="0" rIns="0" tIns="0" bIns="0" anchor="t">
            <a:spAutoFit/>
          </a:bodyPr>
          <a:lstStyle/>
          <a:p>
            <a:pPr algn="l">
              <a:lnSpc>
                <a:spcPts val="1782"/>
              </a:lnSpc>
            </a:pPr>
            <a:r>
              <a:rPr sz="1300" b="0">
                <a:solidFill>
                  <a:srgbClr val="566977"/>
                </a:solidFill>
                <a:latin typeface="Arial"/>
              </a:rPr>
              <a:t>What the numbers mean, in plain words.</a:t>
            </a:r>
          </a:p>
        </p:txBody>
      </p:sp>
      <p:sp>
        <p:nvSpPr>
          <p:cNvPr id="19" name="TextBox 18"/>
          <p:cNvSpPr txBox="1"/>
          <p:nvPr/>
        </p:nvSpPr>
        <p:spPr>
          <a:xfrm>
            <a:off x="6263640" y="4038600"/>
            <a:ext cx="1412240" cy="182880"/>
          </a:xfrm>
          <a:prstGeom prst="rect">
            <a:avLst/>
          </a:prstGeom>
          <a:noFill/>
        </p:spPr>
        <p:txBody>
          <a:bodyPr wrap="square" lIns="0" rIns="0" tIns="0" bIns="0" anchor="t">
            <a:spAutoFit/>
          </a:bodyPr>
          <a:lstStyle/>
          <a:p>
            <a:pPr algn="l">
              <a:lnSpc>
                <a:spcPts val="1140"/>
              </a:lnSpc>
            </a:pPr>
            <a:r>
              <a:rPr sz="1150" b="0" spc="150">
                <a:solidFill>
                  <a:srgbClr val="0B6E8A"/>
                </a:solidFill>
                <a:latin typeface="Courier New"/>
              </a:rPr>
              <a:t>CLAUDE</a:t>
            </a:r>
          </a:p>
        </p:txBody>
      </p:sp>
      <p:sp>
        <p:nvSpPr>
          <p:cNvPr id="20" name="Rectangle 19"/>
          <p:cNvSpPr/>
          <p:nvPr/>
        </p:nvSpPr>
        <p:spPr>
          <a:xfrm>
            <a:off x="7843520" y="2401824"/>
            <a:ext cx="7620" cy="2002536"/>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11160" y="2599944"/>
            <a:ext cx="1412240" cy="304800"/>
          </a:xfrm>
          <a:prstGeom prst="rect">
            <a:avLst/>
          </a:prstGeom>
          <a:noFill/>
        </p:spPr>
        <p:txBody>
          <a:bodyPr wrap="square" lIns="0" rIns="0" tIns="0" bIns="0" anchor="t">
            <a:spAutoFit/>
          </a:bodyPr>
          <a:lstStyle/>
          <a:p>
            <a:pPr algn="l">
              <a:lnSpc>
                <a:spcPts val="2112"/>
              </a:lnSpc>
            </a:pPr>
            <a:r>
              <a:rPr sz="1900" b="1">
                <a:solidFill>
                  <a:srgbClr val="13212C"/>
                </a:solidFill>
                <a:latin typeface="Arial"/>
              </a:rPr>
              <a:t>Propose</a:t>
            </a:r>
          </a:p>
        </p:txBody>
      </p:sp>
      <p:sp>
        <p:nvSpPr>
          <p:cNvPr id="22" name="TextBox 21"/>
          <p:cNvSpPr txBox="1"/>
          <p:nvPr/>
        </p:nvSpPr>
        <p:spPr>
          <a:xfrm>
            <a:off x="8011160" y="2980944"/>
            <a:ext cx="1412240" cy="905256"/>
          </a:xfrm>
          <a:prstGeom prst="rect">
            <a:avLst/>
          </a:prstGeom>
          <a:noFill/>
        </p:spPr>
        <p:txBody>
          <a:bodyPr wrap="square" lIns="0" rIns="0" tIns="0" bIns="0" anchor="t">
            <a:spAutoFit/>
          </a:bodyPr>
          <a:lstStyle/>
          <a:p>
            <a:pPr algn="l">
              <a:lnSpc>
                <a:spcPts val="1782"/>
              </a:lnSpc>
            </a:pPr>
            <a:r>
              <a:rPr sz="1300" b="0">
                <a:solidFill>
                  <a:srgbClr val="566977"/>
                </a:solidFill>
                <a:latin typeface="Arial"/>
              </a:rPr>
              <a:t>Tools to add. Agents to deploy.</a:t>
            </a:r>
          </a:p>
        </p:txBody>
      </p:sp>
      <p:sp>
        <p:nvSpPr>
          <p:cNvPr id="23" name="TextBox 22"/>
          <p:cNvSpPr txBox="1"/>
          <p:nvPr/>
        </p:nvSpPr>
        <p:spPr>
          <a:xfrm>
            <a:off x="8011160" y="4038600"/>
            <a:ext cx="1412240" cy="182880"/>
          </a:xfrm>
          <a:prstGeom prst="rect">
            <a:avLst/>
          </a:prstGeom>
          <a:noFill/>
        </p:spPr>
        <p:txBody>
          <a:bodyPr wrap="square" lIns="0" rIns="0" tIns="0" bIns="0" anchor="t">
            <a:spAutoFit/>
          </a:bodyPr>
          <a:lstStyle/>
          <a:p>
            <a:pPr algn="l">
              <a:lnSpc>
                <a:spcPts val="1140"/>
              </a:lnSpc>
            </a:pPr>
            <a:r>
              <a:rPr sz="1150" b="0" spc="150">
                <a:solidFill>
                  <a:srgbClr val="0B6E8A"/>
                </a:solidFill>
                <a:latin typeface="Courier New"/>
              </a:rPr>
              <a:t>CLAUDE</a:t>
            </a:r>
          </a:p>
        </p:txBody>
      </p:sp>
      <p:sp>
        <p:nvSpPr>
          <p:cNvPr id="24" name="Rectangle 23"/>
          <p:cNvSpPr/>
          <p:nvPr/>
        </p:nvSpPr>
        <p:spPr>
          <a:xfrm>
            <a:off x="9591040" y="2401824"/>
            <a:ext cx="7620" cy="2002536"/>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58680" y="2599944"/>
            <a:ext cx="1412240" cy="304800"/>
          </a:xfrm>
          <a:prstGeom prst="rect">
            <a:avLst/>
          </a:prstGeom>
          <a:noFill/>
        </p:spPr>
        <p:txBody>
          <a:bodyPr wrap="square" lIns="0" rIns="0" tIns="0" bIns="0" anchor="t">
            <a:spAutoFit/>
          </a:bodyPr>
          <a:lstStyle/>
          <a:p>
            <a:pPr algn="l">
              <a:lnSpc>
                <a:spcPts val="2112"/>
              </a:lnSpc>
            </a:pPr>
            <a:r>
              <a:rPr sz="1900" b="1">
                <a:solidFill>
                  <a:srgbClr val="13212C"/>
                </a:solidFill>
                <a:latin typeface="Arial"/>
              </a:rPr>
              <a:t>Ship</a:t>
            </a:r>
          </a:p>
        </p:txBody>
      </p:sp>
      <p:sp>
        <p:nvSpPr>
          <p:cNvPr id="26" name="TextBox 25"/>
          <p:cNvSpPr txBox="1"/>
          <p:nvPr/>
        </p:nvSpPr>
        <p:spPr>
          <a:xfrm>
            <a:off x="9758680" y="2980944"/>
            <a:ext cx="1412240" cy="905256"/>
          </a:xfrm>
          <a:prstGeom prst="rect">
            <a:avLst/>
          </a:prstGeom>
          <a:noFill/>
        </p:spPr>
        <p:txBody>
          <a:bodyPr wrap="square" lIns="0" rIns="0" tIns="0" bIns="0" anchor="t">
            <a:spAutoFit/>
          </a:bodyPr>
          <a:lstStyle/>
          <a:p>
            <a:pPr algn="l">
              <a:lnSpc>
                <a:spcPts val="1782"/>
              </a:lnSpc>
            </a:pPr>
            <a:r>
              <a:rPr sz="1300" b="0">
                <a:solidFill>
                  <a:srgbClr val="566977"/>
                </a:solidFill>
                <a:latin typeface="Arial"/>
              </a:rPr>
              <a:t>A human approves. Then it is built and tested.</a:t>
            </a:r>
          </a:p>
        </p:txBody>
      </p:sp>
      <p:sp>
        <p:nvSpPr>
          <p:cNvPr id="27" name="TextBox 26"/>
          <p:cNvSpPr txBox="1"/>
          <p:nvPr/>
        </p:nvSpPr>
        <p:spPr>
          <a:xfrm>
            <a:off x="9758680" y="4038600"/>
            <a:ext cx="1412240" cy="182880"/>
          </a:xfrm>
          <a:prstGeom prst="rect">
            <a:avLst/>
          </a:prstGeom>
          <a:noFill/>
        </p:spPr>
        <p:txBody>
          <a:bodyPr wrap="square" lIns="0" rIns="0" tIns="0" bIns="0" anchor="t">
            <a:spAutoFit/>
          </a:bodyPr>
          <a:lstStyle/>
          <a:p>
            <a:pPr algn="l">
              <a:lnSpc>
                <a:spcPts val="1140"/>
              </a:lnSpc>
            </a:pPr>
            <a:r>
              <a:rPr sz="1150" b="0" spc="150">
                <a:solidFill>
                  <a:srgbClr val="B3261E"/>
                </a:solidFill>
                <a:latin typeface="Courier New"/>
              </a:rPr>
              <a:t>YOU</a:t>
            </a:r>
          </a:p>
        </p:txBody>
      </p:sp>
      <p:sp>
        <p:nvSpPr>
          <p:cNvPr id="28"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566977"/>
                </a:solidFill>
                <a:latin typeface="Courier New"/>
              </a:rPr>
              <a:t>25–42 min · Do-along</a:t>
            </a:r>
          </a:p>
        </p:txBody>
      </p:sp>
      <p:sp>
        <p:nvSpPr>
          <p:cNvPr id="29"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566977"/>
                </a:solidFill>
                <a:latin typeface="Courier New"/>
              </a:rPr>
              <a:t>6 / 16</a:t>
            </a:r>
          </a:p>
        </p:txBody>
      </p:sp>
      <p:sp>
        <p:nvSpPr>
          <p:cNvPr id="30" name="Rectangle 29"/>
          <p:cNvSpPr/>
          <p:nvPr/>
        </p:nvSpPr>
        <p:spPr>
          <a:xfrm>
            <a:off x="3520440" y="6423660"/>
            <a:ext cx="2639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822496" y="6423660"/>
            <a:ext cx="1055827"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916424" y="6423660"/>
            <a:ext cx="8798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34380" y="6423660"/>
            <a:ext cx="1495755" cy="60960"/>
          </a:xfrm>
          <a:prstGeom prst="rect">
            <a:avLst/>
          </a:prstGeom>
          <a:solidFill>
            <a:srgbClr val="0B6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68235" y="6423660"/>
            <a:ext cx="703884"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10220" y="6423660"/>
            <a:ext cx="1055827"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204147" y="6423660"/>
            <a:ext cx="1143812"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853440" y="655320"/>
            <a:ext cx="10485120" cy="228600"/>
          </a:xfrm>
          <a:prstGeom prst="rect">
            <a:avLst/>
          </a:prstGeom>
          <a:noFill/>
        </p:spPr>
        <p:txBody>
          <a:bodyPr wrap="square" lIns="0" rIns="0" tIns="0" bIns="0" anchor="t">
            <a:spAutoFit/>
          </a:bodyPr>
          <a:lstStyle/>
          <a:p>
            <a:pPr algn="l">
              <a:lnSpc>
                <a:spcPts val="1320"/>
              </a:lnSpc>
            </a:pPr>
            <a:r>
              <a:rPr sz="1300" b="0" spc="200">
                <a:solidFill>
                  <a:srgbClr val="0B6E8A"/>
                </a:solidFill>
                <a:latin typeface="Courier New"/>
              </a:rPr>
              <a:t>THE BOARD'S NUMBERS, NEXT TO THE LOGS</a:t>
            </a:r>
          </a:p>
        </p:txBody>
      </p:sp>
      <p:graphicFrame>
        <p:nvGraphicFramePr>
          <p:cNvPr id="3" name="Table 2"/>
          <p:cNvGraphicFramePr>
            <a:graphicFrameLocks noGrp="1"/>
          </p:cNvGraphicFramePr>
          <p:nvPr/>
        </p:nvGraphicFramePr>
        <p:xfrm>
          <a:off x="853440" y="1066800"/>
          <a:ext cx="10485119" cy="3150870"/>
        </p:xfrm>
        <a:graphic>
          <a:graphicData uri="http://schemas.openxmlformats.org/drawingml/2006/table">
            <a:tbl>
              <a:tblPr firstRow="1">
                <a:tableStyleId>{2D5ABB26-0587-4C30-8999-92F81FD0307C}</a:tableStyleId>
              </a:tblPr>
              <a:tblGrid>
                <a:gridCol w="4823155"/>
                <a:gridCol w="2097024"/>
                <a:gridCol w="3564940"/>
              </a:tblGrid>
              <a:tr h="274320">
                <a:tc>
                  <a:txBody>
                    <a:bodyPr wrap="square"/>
                    <a:lstStyle/>
                    <a:p>
                      <a:pPr algn="l"/>
                      <a:r>
                        <a:rPr sz="1200" b="0">
                          <a:solidFill>
                            <a:srgbClr val="566977"/>
                          </a:solidFill>
                          <a:latin typeface="Courier New"/>
                        </a:rPr>
                        <a:t>LAST QUARTER</a:t>
                      </a:r>
                    </a:p>
                  </a:txBody>
                  <a:tcPr marL="137160" marR="137160" marT="86868" marB="86868" anchor="ctr">
                    <a:lnL w="0">
                      <a:noFill/>
                    </a:lnL>
                    <a:lnR w="0">
                      <a:noFill/>
                    </a:lnR>
                    <a:lnT w="0">
                      <a:noFill/>
                    </a:lnT>
                    <a:lnB w="19050">
                      <a:solidFill>
                        <a:srgbClr val="13212C"/>
                      </a:solidFill>
                    </a:lnB>
                    <a:noFill/>
                  </a:tcPr>
                </a:tc>
                <a:tc>
                  <a:txBody>
                    <a:bodyPr wrap="square"/>
                    <a:lstStyle/>
                    <a:p>
                      <a:pPr algn="r"/>
                      <a:r>
                        <a:rPr sz="1200" b="0">
                          <a:solidFill>
                            <a:srgbClr val="566977"/>
                          </a:solidFill>
                          <a:latin typeface="Courier New"/>
                        </a:rPr>
                        <a:t>BOARD DECK</a:t>
                      </a:r>
                    </a:p>
                  </a:txBody>
                  <a:tcPr marL="137160" marR="137160" marT="86868" marB="86868" anchor="ctr">
                    <a:lnL w="0">
                      <a:noFill/>
                    </a:lnL>
                    <a:lnR w="0">
                      <a:noFill/>
                    </a:lnR>
                    <a:lnT w="0">
                      <a:noFill/>
                    </a:lnT>
                    <a:lnB w="19050">
                      <a:solidFill>
                        <a:srgbClr val="13212C"/>
                      </a:solidFill>
                    </a:lnB>
                    <a:noFill/>
                  </a:tcPr>
                </a:tc>
                <a:tc>
                  <a:txBody>
                    <a:bodyPr wrap="square"/>
                    <a:lstStyle/>
                    <a:p>
                      <a:pPr algn="r"/>
                      <a:r>
                        <a:rPr sz="1200" b="0">
                          <a:solidFill>
                            <a:srgbClr val="566977"/>
                          </a:solidFill>
                          <a:latin typeface="Courier New"/>
                        </a:rPr>
                        <a:t>FROM THE LOGS</a:t>
                      </a:r>
                    </a:p>
                  </a:txBody>
                  <a:tcPr marL="137160" marR="137160" marT="86868" marB="86868" anchor="ctr">
                    <a:lnL w="0">
                      <a:noFill/>
                    </a:lnL>
                    <a:lnR w="0">
                      <a:noFill/>
                    </a:lnR>
                    <a:lnT w="0">
                      <a:noFill/>
                    </a:lnT>
                    <a:lnB w="19050">
                      <a:solidFill>
                        <a:srgbClr val="13212C"/>
                      </a:solidFill>
                    </a:lnB>
                    <a:noFill/>
                  </a:tcPr>
                </a:tc>
              </a:tr>
              <a:tr h="575310">
                <a:tc>
                  <a:txBody>
                    <a:bodyPr wrap="square"/>
                    <a:lstStyle/>
                    <a:p>
                      <a:pPr algn="l"/>
                      <a:r>
                        <a:rPr sz="1800" b="0">
                          <a:solidFill>
                            <a:srgbClr val="13212C"/>
                          </a:solidFill>
                          <a:latin typeface="Arial"/>
                        </a:rPr>
                        <a:t>Escalations per week</a:t>
                      </a:r>
                    </a:p>
                  </a:txBody>
                  <a:tcPr marL="137160" marR="137160" marT="86868" marB="86868" anchor="ctr">
                    <a:lnL w="0">
                      <a:noFill/>
                    </a:lnL>
                    <a:lnR w="0">
                      <a:noFill/>
                    </a:lnR>
                    <a:lnT w="0">
                      <a:noFill/>
                    </a:lnT>
                    <a:lnB w="9525">
                      <a:solidFill>
                        <a:srgbClr val="CBD5DC"/>
                      </a:solidFill>
                    </a:lnB>
                    <a:noFill/>
                  </a:tcPr>
                </a:tc>
                <a:tc>
                  <a:txBody>
                    <a:bodyPr wrap="square"/>
                    <a:lstStyle/>
                    <a:p>
                      <a:pPr algn="r"/>
                      <a:r>
                        <a:rPr sz="1800" b="0">
                          <a:solidFill>
                            <a:srgbClr val="13212C"/>
                          </a:solidFill>
                          <a:latin typeface="Arial"/>
                        </a:rPr>
                        <a:t>2,400</a:t>
                      </a:r>
                    </a:p>
                  </a:txBody>
                  <a:tcPr marL="137160" marR="137160" marT="86868" marB="86868" anchor="ctr">
                    <a:lnL w="0">
                      <a:noFill/>
                    </a:lnL>
                    <a:lnR w="0">
                      <a:noFill/>
                    </a:lnR>
                    <a:lnT w="0">
                      <a:noFill/>
                    </a:lnT>
                    <a:lnB w="9525">
                      <a:solidFill>
                        <a:srgbClr val="CBD5DC"/>
                      </a:solidFill>
                    </a:lnB>
                    <a:noFill/>
                  </a:tcPr>
                </a:tc>
                <a:tc>
                  <a:txBody>
                    <a:bodyPr wrap="square"/>
                    <a:lstStyle/>
                    <a:p>
                      <a:pPr algn="r"/>
                      <a:r>
                        <a:rPr sz="1800" b="0">
                          <a:solidFill>
                            <a:srgbClr val="13212C"/>
                          </a:solidFill>
                          <a:latin typeface="Arial"/>
                        </a:rPr>
                        <a:t>2,401</a:t>
                      </a:r>
                    </a:p>
                  </a:txBody>
                  <a:tcPr marL="137160" marR="137160" marT="86868" marB="86868" anchor="ctr">
                    <a:lnL w="0">
                      <a:noFill/>
                    </a:lnL>
                    <a:lnR w="0">
                      <a:noFill/>
                    </a:lnR>
                    <a:lnT w="0">
                      <a:noFill/>
                    </a:lnT>
                    <a:lnB w="9525">
                      <a:solidFill>
                        <a:srgbClr val="CBD5DC"/>
                      </a:solidFill>
                    </a:lnB>
                    <a:noFill/>
                  </a:tcPr>
                </a:tc>
              </a:tr>
              <a:tr h="575310">
                <a:tc>
                  <a:txBody>
                    <a:bodyPr wrap="square"/>
                    <a:lstStyle/>
                    <a:p>
                      <a:pPr algn="l"/>
                      <a:r>
                        <a:rPr sz="1800" b="0">
                          <a:solidFill>
                            <a:srgbClr val="13212C"/>
                          </a:solidFill>
                          <a:latin typeface="Arial"/>
                        </a:rPr>
                        <a:t>Median nurse response</a:t>
                      </a:r>
                    </a:p>
                  </a:txBody>
                  <a:tcPr marL="137160" marR="137160" marT="86868" marB="86868" anchor="ctr">
                    <a:lnL w="0">
                      <a:noFill/>
                    </a:lnL>
                    <a:lnR w="0">
                      <a:noFill/>
                    </a:lnR>
                    <a:lnT w="0">
                      <a:noFill/>
                    </a:lnT>
                    <a:lnB w="9525">
                      <a:solidFill>
                        <a:srgbClr val="CBD5DC"/>
                      </a:solidFill>
                    </a:lnB>
                    <a:noFill/>
                  </a:tcPr>
                </a:tc>
                <a:tc>
                  <a:txBody>
                    <a:bodyPr wrap="square"/>
                    <a:lstStyle/>
                    <a:p>
                      <a:pPr algn="r"/>
                      <a:r>
                        <a:rPr sz="1800" b="0">
                          <a:solidFill>
                            <a:srgbClr val="13212C"/>
                          </a:solidFill>
                          <a:latin typeface="Arial"/>
                        </a:rPr>
                        <a:t>31 h</a:t>
                      </a:r>
                    </a:p>
                  </a:txBody>
                  <a:tcPr marL="137160" marR="137160" marT="86868" marB="86868" anchor="ctr">
                    <a:lnL w="0">
                      <a:noFill/>
                    </a:lnL>
                    <a:lnR w="0">
                      <a:noFill/>
                    </a:lnR>
                    <a:lnT w="0">
                      <a:noFill/>
                    </a:lnT>
                    <a:lnB w="9525">
                      <a:solidFill>
                        <a:srgbClr val="CBD5DC"/>
                      </a:solidFill>
                    </a:lnB>
                    <a:noFill/>
                  </a:tcPr>
                </a:tc>
                <a:tc>
                  <a:txBody>
                    <a:bodyPr wrap="square"/>
                    <a:lstStyle/>
                    <a:p>
                      <a:pPr algn="r"/>
                      <a:r>
                        <a:rPr sz="1800" b="0">
                          <a:solidFill>
                            <a:srgbClr val="13212C"/>
                          </a:solidFill>
                          <a:latin typeface="Arial"/>
                        </a:rPr>
                        <a:t>29.6 h · one in ten over 72.9 h</a:t>
                      </a:r>
                    </a:p>
                  </a:txBody>
                  <a:tcPr marL="137160" marR="137160" marT="86868" marB="86868" anchor="ctr">
                    <a:lnL w="0">
                      <a:noFill/>
                    </a:lnL>
                    <a:lnR w="0">
                      <a:noFill/>
                    </a:lnR>
                    <a:lnT w="0">
                      <a:noFill/>
                    </a:lnT>
                    <a:lnB w="9525">
                      <a:solidFill>
                        <a:srgbClr val="CBD5DC"/>
                      </a:solidFill>
                    </a:lnB>
                    <a:noFill/>
                  </a:tcPr>
                </a:tc>
              </a:tr>
              <a:tr h="575310">
                <a:tc>
                  <a:txBody>
                    <a:bodyPr wrap="square"/>
                    <a:lstStyle/>
                    <a:p>
                      <a:pPr algn="l"/>
                      <a:r>
                        <a:rPr sz="1800" b="0">
                          <a:solidFill>
                            <a:srgbClr val="13212C"/>
                          </a:solidFill>
                          <a:latin typeface="Arial"/>
                        </a:rPr>
                        <a:t>Urgent escalations, median response</a:t>
                      </a:r>
                    </a:p>
                  </a:txBody>
                  <a:tcPr marL="137160" marR="137160" marT="86868" marB="86868" anchor="ctr">
                    <a:lnL w="0">
                      <a:noFill/>
                    </a:lnL>
                    <a:lnR w="0">
                      <a:noFill/>
                    </a:lnR>
                    <a:lnT w="0">
                      <a:noFill/>
                    </a:lnT>
                    <a:lnB w="9525">
                      <a:solidFill>
                        <a:srgbClr val="CBD5DC"/>
                      </a:solidFill>
                    </a:lnB>
                    <a:solidFill>
                      <a:srgbClr val="F7DEDB"/>
                    </a:solidFill>
                  </a:tcPr>
                </a:tc>
                <a:tc>
                  <a:txBody>
                    <a:bodyPr wrap="square"/>
                    <a:lstStyle/>
                    <a:p>
                      <a:pPr algn="r"/>
                      <a:r>
                        <a:rPr sz="1800" b="1">
                          <a:solidFill>
                            <a:srgbClr val="B3261E"/>
                          </a:solidFill>
                          <a:latin typeface="Arial"/>
                        </a:rPr>
                        <a:t>not reported</a:t>
                      </a:r>
                    </a:p>
                  </a:txBody>
                  <a:tcPr marL="137160" marR="137160" marT="86868" marB="86868" anchor="ctr">
                    <a:lnL w="0">
                      <a:noFill/>
                    </a:lnL>
                    <a:lnR w="0">
                      <a:noFill/>
                    </a:lnR>
                    <a:lnT w="0">
                      <a:noFill/>
                    </a:lnT>
                    <a:lnB w="9525">
                      <a:solidFill>
                        <a:srgbClr val="CBD5DC"/>
                      </a:solidFill>
                    </a:lnB>
                    <a:solidFill>
                      <a:srgbClr val="F7DEDB"/>
                    </a:solidFill>
                  </a:tcPr>
                </a:tc>
                <a:tc>
                  <a:txBody>
                    <a:bodyPr wrap="square"/>
                    <a:lstStyle/>
                    <a:p>
                      <a:pPr algn="r"/>
                      <a:r>
                        <a:rPr sz="1800" b="0">
                          <a:solidFill>
                            <a:srgbClr val="13212C"/>
                          </a:solidFill>
                          <a:latin typeface="Arial"/>
                        </a:rPr>
                        <a:t>29.1 h</a:t>
                      </a:r>
                    </a:p>
                  </a:txBody>
                  <a:tcPr marL="137160" marR="137160" marT="86868" marB="86868" anchor="ctr">
                    <a:lnL w="0">
                      <a:noFill/>
                    </a:lnL>
                    <a:lnR w="0">
                      <a:noFill/>
                    </a:lnR>
                    <a:lnT w="0">
                      <a:noFill/>
                    </a:lnT>
                    <a:lnB w="9525">
                      <a:solidFill>
                        <a:srgbClr val="CBD5DC"/>
                      </a:solidFill>
                    </a:lnB>
                    <a:solidFill>
                      <a:srgbClr val="F7DEDB"/>
                    </a:solidFill>
                  </a:tcPr>
                </a:tc>
              </a:tr>
              <a:tr h="575310">
                <a:tc>
                  <a:txBody>
                    <a:bodyPr wrap="square"/>
                    <a:lstStyle/>
                    <a:p>
                      <a:pPr algn="l"/>
                      <a:r>
                        <a:rPr sz="1800" b="0">
                          <a:solidFill>
                            <a:srgbClr val="13212C"/>
                          </a:solidFill>
                          <a:latin typeface="Arial"/>
                        </a:rPr>
                        <a:t>Share of the nurse queue that is not clinical</a:t>
                      </a:r>
                    </a:p>
                  </a:txBody>
                  <a:tcPr marL="137160" marR="137160" marT="86868" marB="86868" anchor="ctr">
                    <a:lnL w="0">
                      <a:noFill/>
                    </a:lnL>
                    <a:lnR w="0">
                      <a:noFill/>
                    </a:lnR>
                    <a:lnT w="0">
                      <a:noFill/>
                    </a:lnT>
                    <a:lnB w="9525">
                      <a:solidFill>
                        <a:srgbClr val="CBD5DC"/>
                      </a:solidFill>
                    </a:lnB>
                    <a:solidFill>
                      <a:srgbClr val="F7DEDB"/>
                    </a:solidFill>
                  </a:tcPr>
                </a:tc>
                <a:tc>
                  <a:txBody>
                    <a:bodyPr wrap="square"/>
                    <a:lstStyle/>
                    <a:p>
                      <a:pPr algn="r"/>
                      <a:r>
                        <a:rPr sz="1800" b="1">
                          <a:solidFill>
                            <a:srgbClr val="B3261E"/>
                          </a:solidFill>
                          <a:latin typeface="Arial"/>
                        </a:rPr>
                        <a:t>not reported</a:t>
                      </a:r>
                    </a:p>
                  </a:txBody>
                  <a:tcPr marL="137160" marR="137160" marT="86868" marB="86868" anchor="ctr">
                    <a:lnL w="0">
                      <a:noFill/>
                    </a:lnL>
                    <a:lnR w="0">
                      <a:noFill/>
                    </a:lnR>
                    <a:lnT w="0">
                      <a:noFill/>
                    </a:lnT>
                    <a:lnB w="9525">
                      <a:solidFill>
                        <a:srgbClr val="CBD5DC"/>
                      </a:solidFill>
                    </a:lnB>
                    <a:solidFill>
                      <a:srgbClr val="F7DEDB"/>
                    </a:solidFill>
                  </a:tcPr>
                </a:tc>
                <a:tc>
                  <a:txBody>
                    <a:bodyPr wrap="square"/>
                    <a:lstStyle/>
                    <a:p>
                      <a:pPr algn="r"/>
                      <a:r>
                        <a:rPr sz="1800" b="0">
                          <a:solidFill>
                            <a:srgbClr val="13212C"/>
                          </a:solidFill>
                          <a:latin typeface="Arial"/>
                        </a:rPr>
                        <a:t>40%</a:t>
                      </a:r>
                    </a:p>
                  </a:txBody>
                  <a:tcPr marL="137160" marR="137160" marT="86868" marB="86868" anchor="ctr">
                    <a:lnL w="0">
                      <a:noFill/>
                    </a:lnL>
                    <a:lnR w="0">
                      <a:noFill/>
                    </a:lnR>
                    <a:lnT w="0">
                      <a:noFill/>
                    </a:lnT>
                    <a:lnB w="9525">
                      <a:solidFill>
                        <a:srgbClr val="CBD5DC"/>
                      </a:solidFill>
                    </a:lnB>
                    <a:solidFill>
                      <a:srgbClr val="F7DEDB"/>
                    </a:solidFill>
                  </a:tcPr>
                </a:tc>
              </a:tr>
              <a:tr h="575310">
                <a:tc>
                  <a:txBody>
                    <a:bodyPr wrap="square"/>
                    <a:lstStyle/>
                    <a:p>
                      <a:pPr algn="l"/>
                      <a:r>
                        <a:rPr sz="1800" b="0">
                          <a:solidFill>
                            <a:srgbClr val="13212C"/>
                          </a:solidFill>
                          <a:latin typeface="Arial"/>
                        </a:rPr>
                        <a:t>Patients inactive after an escalation</a:t>
                      </a:r>
                    </a:p>
                  </a:txBody>
                  <a:tcPr marL="137160" marR="137160" marT="86868" marB="86868" anchor="ctr">
                    <a:lnL w="0">
                      <a:noFill/>
                    </a:lnL>
                    <a:lnR w="0">
                      <a:noFill/>
                    </a:lnR>
                    <a:lnT w="0">
                      <a:noFill/>
                    </a:lnT>
                    <a:lnB w="9525">
                      <a:solidFill>
                        <a:srgbClr val="CBD5DC"/>
                      </a:solidFill>
                    </a:lnB>
                    <a:noFill/>
                  </a:tcPr>
                </a:tc>
                <a:tc>
                  <a:txBody>
                    <a:bodyPr wrap="square"/>
                    <a:lstStyle/>
                    <a:p>
                      <a:pPr algn="r"/>
                      <a:r>
                        <a:rPr sz="1800" b="0">
                          <a:solidFill>
                            <a:srgbClr val="13212C"/>
                          </a:solidFill>
                          <a:latin typeface="Arial"/>
                        </a:rPr>
                        <a:t>340</a:t>
                      </a:r>
                    </a:p>
                  </a:txBody>
                  <a:tcPr marL="137160" marR="137160" marT="86868" marB="86868" anchor="ctr">
                    <a:lnL w="0">
                      <a:noFill/>
                    </a:lnL>
                    <a:lnR w="0">
                      <a:noFill/>
                    </a:lnR>
                    <a:lnT w="0">
                      <a:noFill/>
                    </a:lnT>
                    <a:lnB w="9525">
                      <a:solidFill>
                        <a:srgbClr val="CBD5DC"/>
                      </a:solidFill>
                    </a:lnB>
                    <a:noFill/>
                  </a:tcPr>
                </a:tc>
                <a:tc>
                  <a:txBody>
                    <a:bodyPr wrap="square"/>
                    <a:lstStyle/>
                    <a:p>
                      <a:pPr algn="r"/>
                      <a:r>
                        <a:rPr sz="1800" b="0">
                          <a:solidFill>
                            <a:srgbClr val="13212C"/>
                          </a:solidFill>
                          <a:latin typeface="Arial"/>
                        </a:rPr>
                        <a:t>342</a:t>
                      </a:r>
                    </a:p>
                  </a:txBody>
                  <a:tcPr marL="137160" marR="137160" marT="86868" marB="86868" anchor="ctr">
                    <a:lnL w="0">
                      <a:noFill/>
                    </a:lnL>
                    <a:lnR w="0">
                      <a:noFill/>
                    </a:lnR>
                    <a:lnT w="0">
                      <a:noFill/>
                    </a:lnT>
                    <a:lnB w="9525">
                      <a:solidFill>
                        <a:srgbClr val="CBD5DC"/>
                      </a:solidFill>
                    </a:lnB>
                    <a:noFill/>
                  </a:tcPr>
                </a:tc>
              </a:tr>
            </a:tbl>
          </a:graphicData>
        </a:graphic>
      </p:graphicFrame>
      <p:sp>
        <p:nvSpPr>
          <p:cNvPr id="4"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566977"/>
                </a:solidFill>
                <a:latin typeface="Courier New"/>
              </a:rPr>
              <a:t>25–42 min · Do-along</a:t>
            </a:r>
          </a:p>
        </p:txBody>
      </p:sp>
      <p:sp>
        <p:nvSpPr>
          <p:cNvPr id="5"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566977"/>
                </a:solidFill>
                <a:latin typeface="Courier New"/>
              </a:rPr>
              <a:t>7 / 16</a:t>
            </a:r>
          </a:p>
        </p:txBody>
      </p:sp>
      <p:sp>
        <p:nvSpPr>
          <p:cNvPr id="6" name="Rectangle 5"/>
          <p:cNvSpPr/>
          <p:nvPr/>
        </p:nvSpPr>
        <p:spPr>
          <a:xfrm>
            <a:off x="3520440" y="6423660"/>
            <a:ext cx="2639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22496" y="6423660"/>
            <a:ext cx="1055827"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16424" y="6423660"/>
            <a:ext cx="8798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34380" y="6423660"/>
            <a:ext cx="1495755" cy="60960"/>
          </a:xfrm>
          <a:prstGeom prst="rect">
            <a:avLst/>
          </a:prstGeom>
          <a:solidFill>
            <a:srgbClr val="0B6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8235" y="6423660"/>
            <a:ext cx="703884"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0220" y="6423660"/>
            <a:ext cx="1055827"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204147" y="6423660"/>
            <a:ext cx="1143812"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3212C"/>
        </a:solidFill>
        <a:effectLst/>
      </p:bgPr>
    </p:bg>
    <p:spTree>
      <p:nvGrpSpPr>
        <p:cNvPr id="1" name=""/>
        <p:cNvGrpSpPr/>
        <p:nvPr/>
      </p:nvGrpSpPr>
      <p:grpSpPr/>
      <p:sp>
        <p:nvSpPr>
          <p:cNvPr id="2" name="TextBox 1"/>
          <p:cNvSpPr txBox="1"/>
          <p:nvPr/>
        </p:nvSpPr>
        <p:spPr>
          <a:xfrm>
            <a:off x="853440" y="2292096"/>
            <a:ext cx="10485120" cy="228600"/>
          </a:xfrm>
          <a:prstGeom prst="rect">
            <a:avLst/>
          </a:prstGeom>
          <a:noFill/>
        </p:spPr>
        <p:txBody>
          <a:bodyPr wrap="square" lIns="0" rIns="0" tIns="0" bIns="0" anchor="t">
            <a:spAutoFit/>
          </a:bodyPr>
          <a:lstStyle/>
          <a:p>
            <a:pPr algn="l">
              <a:lnSpc>
                <a:spcPts val="1320"/>
              </a:lnSpc>
            </a:pPr>
            <a:r>
              <a:rPr sz="1300" b="0" spc="200">
                <a:solidFill>
                  <a:srgbClr val="6CC3DB"/>
                </a:solidFill>
                <a:latin typeface="Courier New"/>
              </a:rPr>
              <a:t>ONE SENTENCE</a:t>
            </a:r>
          </a:p>
        </p:txBody>
      </p:sp>
      <p:sp>
        <p:nvSpPr>
          <p:cNvPr id="3" name="TextBox 2"/>
          <p:cNvSpPr txBox="1"/>
          <p:nvPr/>
        </p:nvSpPr>
        <p:spPr>
          <a:xfrm>
            <a:off x="853440" y="2703576"/>
            <a:ext cx="10485120" cy="1542288"/>
          </a:xfrm>
          <a:prstGeom prst="rect">
            <a:avLst/>
          </a:prstGeom>
          <a:noFill/>
        </p:spPr>
        <p:txBody>
          <a:bodyPr wrap="square" lIns="0" rIns="0" tIns="0" bIns="0" anchor="t">
            <a:spAutoFit/>
          </a:bodyPr>
          <a:lstStyle/>
          <a:p>
            <a:pPr algn="l">
              <a:lnSpc>
                <a:spcPts val="5740"/>
              </a:lnSpc>
            </a:pPr>
            <a:r>
              <a:rPr sz="5500" b="1">
                <a:solidFill>
                  <a:srgbClr val="F2F5F7"/>
                </a:solidFill>
                <a:latin typeface="Arial"/>
              </a:rPr>
              <a:t>What is the problem</a:t>
            </a:r>
          </a:p>
          <a:p>
            <a:pPr algn="l">
              <a:lnSpc>
                <a:spcPts val="5740"/>
              </a:lnSpc>
            </a:pPr>
            <a:r>
              <a:rPr sz="5500" b="1">
                <a:solidFill>
                  <a:srgbClr val="F2F5F7"/>
                </a:solidFill>
                <a:latin typeface="Arial"/>
              </a:rPr>
              <a:t>the board doesn't see?</a:t>
            </a:r>
          </a:p>
        </p:txBody>
      </p:sp>
      <p:sp>
        <p:nvSpPr>
          <p:cNvPr id="4"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9DB0BD"/>
                </a:solidFill>
                <a:latin typeface="Courier New"/>
              </a:rPr>
              <a:t>25–42 min · Do-along</a:t>
            </a:r>
          </a:p>
        </p:txBody>
      </p:sp>
      <p:sp>
        <p:nvSpPr>
          <p:cNvPr id="5"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9DB0BD"/>
                </a:solidFill>
                <a:latin typeface="Courier New"/>
              </a:rPr>
              <a:t>8 / 16</a:t>
            </a:r>
          </a:p>
        </p:txBody>
      </p:sp>
      <p:sp>
        <p:nvSpPr>
          <p:cNvPr id="6" name="Rectangle 5"/>
          <p:cNvSpPr/>
          <p:nvPr/>
        </p:nvSpPr>
        <p:spPr>
          <a:xfrm>
            <a:off x="3520440" y="6423660"/>
            <a:ext cx="263956" cy="60960"/>
          </a:xfrm>
          <a:prstGeom prst="rect">
            <a:avLst/>
          </a:prstGeom>
          <a:solidFill>
            <a:srgbClr val="9DB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22496" y="6423660"/>
            <a:ext cx="1055827" cy="60960"/>
          </a:xfrm>
          <a:prstGeom prst="rect">
            <a:avLst/>
          </a:prstGeom>
          <a:solidFill>
            <a:srgbClr val="9DB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16424" y="6423660"/>
            <a:ext cx="879856" cy="60960"/>
          </a:xfrm>
          <a:prstGeom prst="rect">
            <a:avLst/>
          </a:prstGeom>
          <a:solidFill>
            <a:srgbClr val="9DB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34380" y="6423660"/>
            <a:ext cx="1495755" cy="60960"/>
          </a:xfrm>
          <a:prstGeom prst="rect">
            <a:avLst/>
          </a:prstGeom>
          <a:solidFill>
            <a:srgbClr val="6CC3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8235" y="6423660"/>
            <a:ext cx="703884" cy="60960"/>
          </a:xfrm>
          <a:prstGeom prst="rect">
            <a:avLst/>
          </a:prstGeom>
          <a:solidFill>
            <a:srgbClr val="2A3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0220" y="6423660"/>
            <a:ext cx="1055827" cy="60960"/>
          </a:xfrm>
          <a:prstGeom prst="rect">
            <a:avLst/>
          </a:prstGeom>
          <a:solidFill>
            <a:srgbClr val="2A3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204147" y="6423660"/>
            <a:ext cx="1143812" cy="60960"/>
          </a:xfrm>
          <a:prstGeom prst="rect">
            <a:avLst/>
          </a:prstGeom>
          <a:solidFill>
            <a:srgbClr val="2A3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853440" y="655320"/>
            <a:ext cx="10485120" cy="228600"/>
          </a:xfrm>
          <a:prstGeom prst="rect">
            <a:avLst/>
          </a:prstGeom>
          <a:noFill/>
        </p:spPr>
        <p:txBody>
          <a:bodyPr wrap="square" lIns="0" rIns="0" tIns="0" bIns="0" anchor="t">
            <a:spAutoFit/>
          </a:bodyPr>
          <a:lstStyle/>
          <a:p>
            <a:pPr algn="l">
              <a:lnSpc>
                <a:spcPts val="1320"/>
              </a:lnSpc>
            </a:pPr>
            <a:r>
              <a:rPr sz="1300" b="0" spc="200">
                <a:solidFill>
                  <a:srgbClr val="0B6E8A"/>
                </a:solidFill>
                <a:latin typeface="Courier New"/>
              </a:rPr>
              <a:t>WHAT PEOPLE ASKED FOR THAT NOBODY BUILT</a:t>
            </a:r>
          </a:p>
        </p:txBody>
      </p:sp>
      <p:sp>
        <p:nvSpPr>
          <p:cNvPr id="3" name="TextBox 2"/>
          <p:cNvSpPr txBox="1"/>
          <p:nvPr/>
        </p:nvSpPr>
        <p:spPr>
          <a:xfrm>
            <a:off x="853440" y="1066800"/>
            <a:ext cx="10485120" cy="553212"/>
          </a:xfrm>
          <a:prstGeom prst="rect">
            <a:avLst/>
          </a:prstGeom>
          <a:noFill/>
        </p:spPr>
        <p:txBody>
          <a:bodyPr wrap="square" lIns="0" rIns="0" tIns="0" bIns="0" anchor="t">
            <a:spAutoFit/>
          </a:bodyPr>
          <a:lstStyle/>
          <a:p>
            <a:pPr algn="l">
              <a:lnSpc>
                <a:spcPts val="4118"/>
              </a:lnSpc>
            </a:pPr>
            <a:r>
              <a:rPr sz="3950" b="1">
                <a:solidFill>
                  <a:srgbClr val="13212C"/>
                </a:solidFill>
                <a:latin typeface="Arial"/>
              </a:rPr>
              <a:t>Which one do you pursue, and why?</a:t>
            </a:r>
          </a:p>
        </p:txBody>
      </p:sp>
      <p:sp>
        <p:nvSpPr>
          <p:cNvPr id="4" name="Rounded Rectangle 3"/>
          <p:cNvSpPr/>
          <p:nvPr/>
        </p:nvSpPr>
        <p:spPr>
          <a:xfrm>
            <a:off x="853440" y="1848612"/>
            <a:ext cx="2529840" cy="1515237"/>
          </a:xfrm>
          <a:prstGeom prst="roundRect">
            <a:avLst>
              <a:gd name="adj" fmla="val 5028"/>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6320" y="2016252"/>
            <a:ext cx="2164080" cy="441960"/>
          </a:xfrm>
          <a:prstGeom prst="rect">
            <a:avLst/>
          </a:prstGeom>
          <a:noFill/>
        </p:spPr>
        <p:txBody>
          <a:bodyPr wrap="square" lIns="0" rIns="0" tIns="0" bIns="0" anchor="t">
            <a:spAutoFit/>
          </a:bodyPr>
          <a:lstStyle/>
          <a:p>
            <a:pPr algn="l">
              <a:lnSpc>
                <a:spcPts val="3479"/>
              </a:lnSpc>
            </a:pPr>
            <a:r>
              <a:rPr sz="3500" b="1">
                <a:solidFill>
                  <a:srgbClr val="0B6E8A"/>
                </a:solidFill>
                <a:latin typeface="Arial"/>
              </a:rPr>
              <a:t>21</a:t>
            </a:r>
          </a:p>
        </p:txBody>
      </p:sp>
      <p:sp>
        <p:nvSpPr>
          <p:cNvPr id="6" name="TextBox 5"/>
          <p:cNvSpPr txBox="1"/>
          <p:nvPr/>
        </p:nvSpPr>
        <p:spPr>
          <a:xfrm>
            <a:off x="1036320" y="2519172"/>
            <a:ext cx="2164080" cy="200025"/>
          </a:xfrm>
          <a:prstGeom prst="rect">
            <a:avLst/>
          </a:prstGeom>
          <a:noFill/>
        </p:spPr>
        <p:txBody>
          <a:bodyPr wrap="square" lIns="0" rIns="0" tIns="0" bIns="0" anchor="t">
            <a:spAutoFit/>
          </a:bodyPr>
          <a:lstStyle/>
          <a:p>
            <a:pPr algn="l">
              <a:lnSpc>
                <a:spcPts val="1575"/>
              </a:lnSpc>
            </a:pPr>
            <a:r>
              <a:rPr sz="1250" b="0">
                <a:solidFill>
                  <a:srgbClr val="13212C"/>
                </a:solidFill>
                <a:latin typeface="Courier New"/>
              </a:rPr>
              <a:t>insurance_question</a:t>
            </a:r>
          </a:p>
        </p:txBody>
      </p:sp>
      <p:sp>
        <p:nvSpPr>
          <p:cNvPr id="7" name="TextBox 6"/>
          <p:cNvSpPr txBox="1"/>
          <p:nvPr/>
        </p:nvSpPr>
        <p:spPr>
          <a:xfrm>
            <a:off x="1036320" y="2780157"/>
            <a:ext cx="2164080" cy="208026"/>
          </a:xfrm>
          <a:prstGeom prst="rect">
            <a:avLst/>
          </a:prstGeom>
          <a:noFill/>
        </p:spPr>
        <p:txBody>
          <a:bodyPr wrap="square" lIns="0" rIns="0" tIns="0" bIns="0" anchor="t">
            <a:spAutoFit/>
          </a:bodyPr>
          <a:lstStyle/>
          <a:p>
            <a:pPr algn="l">
              <a:lnSpc>
                <a:spcPts val="1638"/>
              </a:lnSpc>
            </a:pPr>
            <a:r>
              <a:rPr sz="1250" b="0">
                <a:solidFill>
                  <a:srgbClr val="566977"/>
                </a:solidFill>
                <a:latin typeface="Arial"/>
              </a:rPr>
              <a:t>Denied strips, prior auths</a:t>
            </a:r>
          </a:p>
        </p:txBody>
      </p:sp>
      <p:sp>
        <p:nvSpPr>
          <p:cNvPr id="8" name="Rounded Rectangle 7"/>
          <p:cNvSpPr/>
          <p:nvPr/>
        </p:nvSpPr>
        <p:spPr>
          <a:xfrm>
            <a:off x="3505200" y="1848612"/>
            <a:ext cx="2529840" cy="1515237"/>
          </a:xfrm>
          <a:prstGeom prst="roundRect">
            <a:avLst>
              <a:gd name="adj" fmla="val 5028"/>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88080" y="2016252"/>
            <a:ext cx="2164080" cy="441960"/>
          </a:xfrm>
          <a:prstGeom prst="rect">
            <a:avLst/>
          </a:prstGeom>
          <a:noFill/>
        </p:spPr>
        <p:txBody>
          <a:bodyPr wrap="square" lIns="0" rIns="0" tIns="0" bIns="0" anchor="t">
            <a:spAutoFit/>
          </a:bodyPr>
          <a:lstStyle/>
          <a:p>
            <a:pPr algn="l">
              <a:lnSpc>
                <a:spcPts val="3479"/>
              </a:lnSpc>
            </a:pPr>
            <a:r>
              <a:rPr sz="3500" b="1">
                <a:solidFill>
                  <a:srgbClr val="0B6E8A"/>
                </a:solidFill>
                <a:latin typeface="Arial"/>
              </a:rPr>
              <a:t>16</a:t>
            </a:r>
          </a:p>
        </p:txBody>
      </p:sp>
      <p:sp>
        <p:nvSpPr>
          <p:cNvPr id="10" name="TextBox 9"/>
          <p:cNvSpPr txBox="1"/>
          <p:nvPr/>
        </p:nvSpPr>
        <p:spPr>
          <a:xfrm>
            <a:off x="3688080" y="2519172"/>
            <a:ext cx="2164080" cy="200025"/>
          </a:xfrm>
          <a:prstGeom prst="rect">
            <a:avLst/>
          </a:prstGeom>
          <a:noFill/>
        </p:spPr>
        <p:txBody>
          <a:bodyPr wrap="square" lIns="0" rIns="0" tIns="0" bIns="0" anchor="t">
            <a:spAutoFit/>
          </a:bodyPr>
          <a:lstStyle/>
          <a:p>
            <a:pPr algn="l">
              <a:lnSpc>
                <a:spcPts val="1575"/>
              </a:lnSpc>
            </a:pPr>
            <a:r>
              <a:rPr sz="1250" b="0">
                <a:solidFill>
                  <a:srgbClr val="13212C"/>
                </a:solidFill>
                <a:latin typeface="Courier New"/>
              </a:rPr>
              <a:t>pharmacy_logistics</a:t>
            </a:r>
          </a:p>
        </p:txBody>
      </p:sp>
      <p:sp>
        <p:nvSpPr>
          <p:cNvPr id="11" name="TextBox 10"/>
          <p:cNvSpPr txBox="1"/>
          <p:nvPr/>
        </p:nvSpPr>
        <p:spPr>
          <a:xfrm>
            <a:off x="3688080" y="2780157"/>
            <a:ext cx="2164080" cy="208026"/>
          </a:xfrm>
          <a:prstGeom prst="rect">
            <a:avLst/>
          </a:prstGeom>
          <a:noFill/>
        </p:spPr>
        <p:txBody>
          <a:bodyPr wrap="square" lIns="0" rIns="0" tIns="0" bIns="0" anchor="t">
            <a:spAutoFit/>
          </a:bodyPr>
          <a:lstStyle/>
          <a:p>
            <a:pPr algn="l">
              <a:lnSpc>
                <a:spcPts val="1638"/>
              </a:lnSpc>
            </a:pPr>
            <a:r>
              <a:rPr sz="1250" b="0">
                <a:solidFill>
                  <a:srgbClr val="566977"/>
                </a:solidFill>
                <a:latin typeface="Arial"/>
              </a:rPr>
              <a:t>The 45-mile drive</a:t>
            </a:r>
          </a:p>
        </p:txBody>
      </p:sp>
      <p:sp>
        <p:nvSpPr>
          <p:cNvPr id="12" name="Rounded Rectangle 11"/>
          <p:cNvSpPr/>
          <p:nvPr/>
        </p:nvSpPr>
        <p:spPr>
          <a:xfrm>
            <a:off x="6156960" y="1848612"/>
            <a:ext cx="2529840" cy="1515237"/>
          </a:xfrm>
          <a:prstGeom prst="roundRect">
            <a:avLst>
              <a:gd name="adj" fmla="val 5028"/>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9840" y="2016252"/>
            <a:ext cx="2164080" cy="441960"/>
          </a:xfrm>
          <a:prstGeom prst="rect">
            <a:avLst/>
          </a:prstGeom>
          <a:noFill/>
        </p:spPr>
        <p:txBody>
          <a:bodyPr wrap="square" lIns="0" rIns="0" tIns="0" bIns="0" anchor="t">
            <a:spAutoFit/>
          </a:bodyPr>
          <a:lstStyle/>
          <a:p>
            <a:pPr algn="l">
              <a:lnSpc>
                <a:spcPts val="3479"/>
              </a:lnSpc>
            </a:pPr>
            <a:r>
              <a:rPr sz="3500" b="1">
                <a:solidFill>
                  <a:srgbClr val="0B6E8A"/>
                </a:solidFill>
                <a:latin typeface="Arial"/>
              </a:rPr>
              <a:t>14</a:t>
            </a:r>
          </a:p>
        </p:txBody>
      </p:sp>
      <p:sp>
        <p:nvSpPr>
          <p:cNvPr id="14" name="TextBox 13"/>
          <p:cNvSpPr txBox="1"/>
          <p:nvPr/>
        </p:nvSpPr>
        <p:spPr>
          <a:xfrm>
            <a:off x="6339840" y="2519172"/>
            <a:ext cx="2164080" cy="200025"/>
          </a:xfrm>
          <a:prstGeom prst="rect">
            <a:avLst/>
          </a:prstGeom>
          <a:noFill/>
        </p:spPr>
        <p:txBody>
          <a:bodyPr wrap="square" lIns="0" rIns="0" tIns="0" bIns="0" anchor="t">
            <a:spAutoFit/>
          </a:bodyPr>
          <a:lstStyle/>
          <a:p>
            <a:pPr algn="l">
              <a:lnSpc>
                <a:spcPts val="1575"/>
              </a:lnSpc>
            </a:pPr>
            <a:r>
              <a:rPr sz="1250" b="0">
                <a:solidFill>
                  <a:srgbClr val="13212C"/>
                </a:solidFill>
                <a:latin typeface="Courier New"/>
              </a:rPr>
              <a:t>request_refill</a:t>
            </a:r>
          </a:p>
        </p:txBody>
      </p:sp>
      <p:sp>
        <p:nvSpPr>
          <p:cNvPr id="15" name="TextBox 14"/>
          <p:cNvSpPr txBox="1"/>
          <p:nvPr/>
        </p:nvSpPr>
        <p:spPr>
          <a:xfrm>
            <a:off x="6339840" y="2780157"/>
            <a:ext cx="2164080" cy="208026"/>
          </a:xfrm>
          <a:prstGeom prst="rect">
            <a:avLst/>
          </a:prstGeom>
          <a:noFill/>
        </p:spPr>
        <p:txBody>
          <a:bodyPr wrap="square" lIns="0" rIns="0" tIns="0" bIns="0" anchor="t">
            <a:spAutoFit/>
          </a:bodyPr>
          <a:lstStyle/>
          <a:p>
            <a:pPr algn="l">
              <a:lnSpc>
                <a:spcPts val="1638"/>
              </a:lnSpc>
            </a:pPr>
            <a:r>
              <a:rPr sz="1250" b="0">
                <a:solidFill>
                  <a:srgbClr val="566977"/>
                </a:solidFill>
                <a:latin typeface="Arial"/>
              </a:rPr>
              <a:t>"Can someone call it in?"</a:t>
            </a:r>
          </a:p>
        </p:txBody>
      </p:sp>
      <p:sp>
        <p:nvSpPr>
          <p:cNvPr id="16" name="Rounded Rectangle 15"/>
          <p:cNvSpPr/>
          <p:nvPr/>
        </p:nvSpPr>
        <p:spPr>
          <a:xfrm>
            <a:off x="8808720" y="1848612"/>
            <a:ext cx="2529840" cy="1515237"/>
          </a:xfrm>
          <a:prstGeom prst="roundRect">
            <a:avLst>
              <a:gd name="adj" fmla="val 5028"/>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91600" y="2016252"/>
            <a:ext cx="2164080" cy="441960"/>
          </a:xfrm>
          <a:prstGeom prst="rect">
            <a:avLst/>
          </a:prstGeom>
          <a:noFill/>
        </p:spPr>
        <p:txBody>
          <a:bodyPr wrap="square" lIns="0" rIns="0" tIns="0" bIns="0" anchor="t">
            <a:spAutoFit/>
          </a:bodyPr>
          <a:lstStyle/>
          <a:p>
            <a:pPr algn="l">
              <a:lnSpc>
                <a:spcPts val="3479"/>
              </a:lnSpc>
            </a:pPr>
            <a:r>
              <a:rPr sz="3500" b="1">
                <a:solidFill>
                  <a:srgbClr val="0B6E8A"/>
                </a:solidFill>
                <a:latin typeface="Arial"/>
              </a:rPr>
              <a:t>39</a:t>
            </a:r>
          </a:p>
        </p:txBody>
      </p:sp>
      <p:sp>
        <p:nvSpPr>
          <p:cNvPr id="18" name="TextBox 17"/>
          <p:cNvSpPr txBox="1"/>
          <p:nvPr/>
        </p:nvSpPr>
        <p:spPr>
          <a:xfrm>
            <a:off x="8991600" y="2519172"/>
            <a:ext cx="2164080" cy="200025"/>
          </a:xfrm>
          <a:prstGeom prst="rect">
            <a:avLst/>
          </a:prstGeom>
          <a:noFill/>
        </p:spPr>
        <p:txBody>
          <a:bodyPr wrap="square" lIns="0" rIns="0" tIns="0" bIns="0" anchor="t">
            <a:spAutoFit/>
          </a:bodyPr>
          <a:lstStyle/>
          <a:p>
            <a:pPr algn="l">
              <a:lnSpc>
                <a:spcPts val="1575"/>
              </a:lnSpc>
            </a:pPr>
            <a:r>
              <a:rPr sz="1250" b="0">
                <a:solidFill>
                  <a:srgbClr val="13212C"/>
                </a:solidFill>
                <a:latin typeface="Courier New"/>
              </a:rPr>
              <a:t>lookup_member_by_name</a:t>
            </a:r>
          </a:p>
        </p:txBody>
      </p:sp>
      <p:sp>
        <p:nvSpPr>
          <p:cNvPr id="19" name="TextBox 18"/>
          <p:cNvSpPr txBox="1"/>
          <p:nvPr/>
        </p:nvSpPr>
        <p:spPr>
          <a:xfrm>
            <a:off x="8991600" y="2780157"/>
            <a:ext cx="2164080" cy="416052"/>
          </a:xfrm>
          <a:prstGeom prst="rect">
            <a:avLst/>
          </a:prstGeom>
          <a:noFill/>
        </p:spPr>
        <p:txBody>
          <a:bodyPr wrap="square" lIns="0" rIns="0" tIns="0" bIns="0" anchor="t">
            <a:spAutoFit/>
          </a:bodyPr>
          <a:lstStyle/>
          <a:p>
            <a:pPr algn="l">
              <a:lnSpc>
                <a:spcPts val="1638"/>
              </a:lnSpc>
            </a:pPr>
            <a:r>
              <a:rPr sz="1250" b="0">
                <a:solidFill>
                  <a:srgbClr val="566977"/>
                </a:solidFill>
                <a:latin typeface="Arial"/>
              </a:rPr>
              <a:t>Prairie's analyst, guessing ids</a:t>
            </a:r>
          </a:p>
        </p:txBody>
      </p:sp>
      <p:sp>
        <p:nvSpPr>
          <p:cNvPr id="20" name="Rounded Rectangle 19"/>
          <p:cNvSpPr/>
          <p:nvPr/>
        </p:nvSpPr>
        <p:spPr>
          <a:xfrm>
            <a:off x="853440" y="3485769"/>
            <a:ext cx="10485120" cy="810768"/>
          </a:xfrm>
          <a:prstGeom prst="roundRect">
            <a:avLst>
              <a:gd name="adj" fmla="val 9398"/>
            </a:avLst>
          </a:prstGeom>
          <a:solidFill>
            <a:srgbClr val="132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6320" y="3485769"/>
            <a:ext cx="2209800" cy="810768"/>
          </a:xfrm>
          <a:prstGeom prst="rect">
            <a:avLst/>
          </a:prstGeom>
          <a:noFill/>
        </p:spPr>
        <p:txBody>
          <a:bodyPr wrap="square" lIns="0" rIns="0" tIns="0" bIns="0" anchor="ctr">
            <a:spAutoFit/>
          </a:bodyPr>
          <a:lstStyle/>
          <a:p>
            <a:pPr algn="l">
              <a:lnSpc>
                <a:spcPts val="1980"/>
              </a:lnSpc>
            </a:pPr>
            <a:r>
              <a:rPr sz="1800" b="0">
                <a:solidFill>
                  <a:srgbClr val="F2F5F7"/>
                </a:solidFill>
                <a:latin typeface="Courier New"/>
              </a:rPr>
              <a:t>agent: triage</a:t>
            </a:r>
          </a:p>
        </p:txBody>
      </p:sp>
      <p:sp>
        <p:nvSpPr>
          <p:cNvPr id="22" name="TextBox 21"/>
          <p:cNvSpPr txBox="1"/>
          <p:nvPr/>
        </p:nvSpPr>
        <p:spPr>
          <a:xfrm>
            <a:off x="3474720" y="3485769"/>
            <a:ext cx="7680960" cy="810768"/>
          </a:xfrm>
          <a:prstGeom prst="rect">
            <a:avLst/>
          </a:prstGeom>
          <a:noFill/>
        </p:spPr>
        <p:txBody>
          <a:bodyPr wrap="square" lIns="0" rIns="0" tIns="0" bIns="0" anchor="ctr">
            <a:spAutoFit/>
          </a:bodyPr>
          <a:lstStyle/>
          <a:p>
            <a:pPr algn="l">
              <a:lnSpc>
                <a:spcPts val="1872"/>
              </a:lnSpc>
            </a:pPr>
            <a:r>
              <a:rPr sz="1450" b="0">
                <a:solidFill>
                  <a:srgbClr val="BFCBD3"/>
                </a:solidFill>
                <a:latin typeface="Arial"/>
              </a:rPr>
              <a:t>Sits between the check-in agent and the nurse queue. Tiers every message, routes what is not clinical away from nurses, drafts replies for the rest.</a:t>
            </a:r>
          </a:p>
        </p:txBody>
      </p:sp>
      <p:sp>
        <p:nvSpPr>
          <p:cNvPr id="23"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566977"/>
                </a:solidFill>
                <a:latin typeface="Courier New"/>
              </a:rPr>
              <a:t>25–42 min · Do-along</a:t>
            </a:r>
          </a:p>
        </p:txBody>
      </p:sp>
      <p:sp>
        <p:nvSpPr>
          <p:cNvPr id="24"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566977"/>
                </a:solidFill>
                <a:latin typeface="Courier New"/>
              </a:rPr>
              <a:t>9 / 16</a:t>
            </a:r>
          </a:p>
        </p:txBody>
      </p:sp>
      <p:sp>
        <p:nvSpPr>
          <p:cNvPr id="25" name="Rectangle 24"/>
          <p:cNvSpPr/>
          <p:nvPr/>
        </p:nvSpPr>
        <p:spPr>
          <a:xfrm>
            <a:off x="3520440" y="6423660"/>
            <a:ext cx="2639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22496" y="6423660"/>
            <a:ext cx="1055827"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916424" y="6423660"/>
            <a:ext cx="8798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34380" y="6423660"/>
            <a:ext cx="1495755" cy="60960"/>
          </a:xfrm>
          <a:prstGeom prst="rect">
            <a:avLst/>
          </a:prstGeom>
          <a:solidFill>
            <a:srgbClr val="0B6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68235" y="6423660"/>
            <a:ext cx="703884"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10220" y="6423660"/>
            <a:ext cx="1055827"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04147" y="6423660"/>
            <a:ext cx="1143812"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853440" y="655320"/>
            <a:ext cx="10485120" cy="228600"/>
          </a:xfrm>
          <a:prstGeom prst="rect">
            <a:avLst/>
          </a:prstGeom>
          <a:noFill/>
        </p:spPr>
        <p:txBody>
          <a:bodyPr wrap="square" lIns="0" rIns="0" tIns="0" bIns="0" anchor="t">
            <a:spAutoFit/>
          </a:bodyPr>
          <a:lstStyle/>
          <a:p>
            <a:pPr algn="l">
              <a:lnSpc>
                <a:spcPts val="1320"/>
              </a:lnSpc>
            </a:pPr>
            <a:r>
              <a:rPr sz="1300" b="0" spc="200">
                <a:solidFill>
                  <a:srgbClr val="0B6E8A"/>
                </a:solidFill>
                <a:latin typeface="Courier New"/>
              </a:rPr>
              <a:t>/DEPLOY TRIAGE · BEFORE IT WRITES A LINE</a:t>
            </a:r>
          </a:p>
        </p:txBody>
      </p:sp>
      <p:sp>
        <p:nvSpPr>
          <p:cNvPr id="3" name="TextBox 2"/>
          <p:cNvSpPr txBox="1"/>
          <p:nvPr/>
        </p:nvSpPr>
        <p:spPr>
          <a:xfrm>
            <a:off x="853440" y="1066800"/>
            <a:ext cx="10485120" cy="553212"/>
          </a:xfrm>
          <a:prstGeom prst="rect">
            <a:avLst/>
          </a:prstGeom>
          <a:noFill/>
        </p:spPr>
        <p:txBody>
          <a:bodyPr wrap="square" lIns="0" rIns="0" tIns="0" bIns="0" anchor="t">
            <a:spAutoFit/>
          </a:bodyPr>
          <a:lstStyle/>
          <a:p>
            <a:pPr algn="l">
              <a:lnSpc>
                <a:spcPts val="4118"/>
              </a:lnSpc>
            </a:pPr>
            <a:r>
              <a:rPr sz="3950" b="1">
                <a:solidFill>
                  <a:srgbClr val="13212C"/>
                </a:solidFill>
                <a:latin typeface="Arial"/>
              </a:rPr>
              <a:t>Four decisions only you can make</a:t>
            </a:r>
          </a:p>
        </p:txBody>
      </p:sp>
      <p:sp>
        <p:nvSpPr>
          <p:cNvPr id="4" name="Rounded Rectangle 3"/>
          <p:cNvSpPr/>
          <p:nvPr/>
        </p:nvSpPr>
        <p:spPr>
          <a:xfrm>
            <a:off x="853440" y="1848612"/>
            <a:ext cx="5166360" cy="1997964"/>
          </a:xfrm>
          <a:prstGeom prst="roundRect">
            <a:avLst>
              <a:gd name="adj" fmla="val 3813"/>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2520" y="2077212"/>
            <a:ext cx="4648200" cy="315468"/>
          </a:xfrm>
          <a:prstGeom prst="rect">
            <a:avLst/>
          </a:prstGeom>
          <a:noFill/>
        </p:spPr>
        <p:txBody>
          <a:bodyPr wrap="square" lIns="0" rIns="0" tIns="0" bIns="0" anchor="t">
            <a:spAutoFit/>
          </a:bodyPr>
          <a:lstStyle/>
          <a:p>
            <a:pPr algn="l">
              <a:lnSpc>
                <a:spcPts val="2483"/>
              </a:lnSpc>
            </a:pPr>
            <a:r>
              <a:rPr sz="2150" b="1">
                <a:solidFill>
                  <a:srgbClr val="13212C"/>
                </a:solidFill>
                <a:latin typeface="Arial"/>
              </a:rPr>
              <a:t>1 · What counts as urgent?</a:t>
            </a:r>
          </a:p>
        </p:txBody>
      </p:sp>
      <p:sp>
        <p:nvSpPr>
          <p:cNvPr id="6" name="TextBox 5"/>
          <p:cNvSpPr txBox="1"/>
          <p:nvPr/>
        </p:nvSpPr>
        <p:spPr>
          <a:xfrm>
            <a:off x="1112520" y="2499360"/>
            <a:ext cx="4648200" cy="576072"/>
          </a:xfrm>
          <a:prstGeom prst="rect">
            <a:avLst/>
          </a:prstGeom>
          <a:noFill/>
        </p:spPr>
        <p:txBody>
          <a:bodyPr wrap="square" lIns="0" rIns="0" tIns="0" bIns="0" anchor="t">
            <a:spAutoFit/>
          </a:bodyPr>
          <a:lstStyle/>
          <a:p>
            <a:pPr algn="l">
              <a:lnSpc>
                <a:spcPts val="2268"/>
              </a:lnSpc>
            </a:pPr>
            <a:r>
              <a:rPr sz="1700" b="0">
                <a:solidFill>
                  <a:srgbClr val="566977"/>
                </a:solidFill>
                <a:latin typeface="Arial"/>
              </a:rPr>
              <a:t>Blood pressure, glucose, and the words that are always urgent.</a:t>
            </a:r>
          </a:p>
        </p:txBody>
      </p:sp>
      <p:sp>
        <p:nvSpPr>
          <p:cNvPr id="7" name="TextBox 6"/>
          <p:cNvSpPr txBox="1"/>
          <p:nvPr/>
        </p:nvSpPr>
        <p:spPr>
          <a:xfrm>
            <a:off x="1112520" y="3182112"/>
            <a:ext cx="4648200" cy="435864"/>
          </a:xfrm>
          <a:prstGeom prst="rect">
            <a:avLst/>
          </a:prstGeom>
          <a:noFill/>
        </p:spPr>
        <p:txBody>
          <a:bodyPr wrap="square" lIns="0" rIns="0" tIns="0" bIns="0" anchor="t">
            <a:spAutoFit/>
          </a:bodyPr>
          <a:lstStyle/>
          <a:p>
            <a:pPr algn="l">
              <a:lnSpc>
                <a:spcPts val="1716"/>
              </a:lnSpc>
            </a:pPr>
            <a:r>
              <a:rPr sz="1300" b="0">
                <a:solidFill>
                  <a:srgbClr val="0B6E8A"/>
                </a:solidFill>
                <a:latin typeface="Courier New"/>
              </a:rPr>
              <a:t>Northline chose 180/110 · glucose under 70 or over 300</a:t>
            </a:r>
          </a:p>
        </p:txBody>
      </p:sp>
      <p:sp>
        <p:nvSpPr>
          <p:cNvPr id="8" name="Rounded Rectangle 7"/>
          <p:cNvSpPr/>
          <p:nvPr/>
        </p:nvSpPr>
        <p:spPr>
          <a:xfrm>
            <a:off x="6172200" y="1848612"/>
            <a:ext cx="5166360" cy="1997964"/>
          </a:xfrm>
          <a:prstGeom prst="roundRect">
            <a:avLst>
              <a:gd name="adj" fmla="val 3813"/>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31280" y="2077212"/>
            <a:ext cx="4648200" cy="315468"/>
          </a:xfrm>
          <a:prstGeom prst="rect">
            <a:avLst/>
          </a:prstGeom>
          <a:noFill/>
        </p:spPr>
        <p:txBody>
          <a:bodyPr wrap="square" lIns="0" rIns="0" tIns="0" bIns="0" anchor="t">
            <a:spAutoFit/>
          </a:bodyPr>
          <a:lstStyle/>
          <a:p>
            <a:pPr algn="l">
              <a:lnSpc>
                <a:spcPts val="2483"/>
              </a:lnSpc>
            </a:pPr>
            <a:r>
              <a:rPr sz="2150" b="1">
                <a:solidFill>
                  <a:srgbClr val="13212C"/>
                </a:solidFill>
                <a:latin typeface="Arial"/>
              </a:rPr>
              <a:t>2 · Messages that are not clinical</a:t>
            </a:r>
          </a:p>
        </p:txBody>
      </p:sp>
      <p:sp>
        <p:nvSpPr>
          <p:cNvPr id="10" name="TextBox 9"/>
          <p:cNvSpPr txBox="1"/>
          <p:nvPr/>
        </p:nvSpPr>
        <p:spPr>
          <a:xfrm>
            <a:off x="6431280" y="2499360"/>
            <a:ext cx="4648200" cy="576072"/>
          </a:xfrm>
          <a:prstGeom prst="rect">
            <a:avLst/>
          </a:prstGeom>
          <a:noFill/>
        </p:spPr>
        <p:txBody>
          <a:bodyPr wrap="square" lIns="0" rIns="0" tIns="0" bIns="0" anchor="t">
            <a:spAutoFit/>
          </a:bodyPr>
          <a:lstStyle/>
          <a:p>
            <a:pPr algn="l">
              <a:lnSpc>
                <a:spcPts val="2268"/>
              </a:lnSpc>
            </a:pPr>
            <a:r>
              <a:rPr sz="1700" b="0">
                <a:solidFill>
                  <a:srgbClr val="566977"/>
                </a:solidFill>
                <a:latin typeface="Arial"/>
              </a:rPr>
              <a:t>Admin staff, an approved auto-reply, or hold for the morning.</a:t>
            </a:r>
          </a:p>
        </p:txBody>
      </p:sp>
      <p:sp>
        <p:nvSpPr>
          <p:cNvPr id="11" name="TextBox 10"/>
          <p:cNvSpPr txBox="1"/>
          <p:nvPr/>
        </p:nvSpPr>
        <p:spPr>
          <a:xfrm>
            <a:off x="6431280" y="3182112"/>
            <a:ext cx="4648200" cy="217932"/>
          </a:xfrm>
          <a:prstGeom prst="rect">
            <a:avLst/>
          </a:prstGeom>
          <a:noFill/>
        </p:spPr>
        <p:txBody>
          <a:bodyPr wrap="square" lIns="0" rIns="0" tIns="0" bIns="0" anchor="t">
            <a:spAutoFit/>
          </a:bodyPr>
          <a:lstStyle/>
          <a:p>
            <a:pPr algn="l">
              <a:lnSpc>
                <a:spcPts val="1716"/>
              </a:lnSpc>
            </a:pPr>
            <a:r>
              <a:rPr sz="1300" b="0">
                <a:solidFill>
                  <a:srgbClr val="0B6E8A"/>
                </a:solidFill>
                <a:latin typeface="Courier New"/>
              </a:rPr>
              <a:t>Northline chose admin staff</a:t>
            </a:r>
          </a:p>
        </p:txBody>
      </p:sp>
      <p:sp>
        <p:nvSpPr>
          <p:cNvPr id="12" name="Rounded Rectangle 11"/>
          <p:cNvSpPr/>
          <p:nvPr/>
        </p:nvSpPr>
        <p:spPr>
          <a:xfrm>
            <a:off x="853440" y="3998975"/>
            <a:ext cx="5166360" cy="1780032"/>
          </a:xfrm>
          <a:prstGeom prst="roundRect">
            <a:avLst>
              <a:gd name="adj" fmla="val 4280"/>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2520" y="4227576"/>
            <a:ext cx="4648200" cy="315468"/>
          </a:xfrm>
          <a:prstGeom prst="rect">
            <a:avLst/>
          </a:prstGeom>
          <a:noFill/>
        </p:spPr>
        <p:txBody>
          <a:bodyPr wrap="square" lIns="0" rIns="0" tIns="0" bIns="0" anchor="t">
            <a:spAutoFit/>
          </a:bodyPr>
          <a:lstStyle/>
          <a:p>
            <a:pPr algn="l">
              <a:lnSpc>
                <a:spcPts val="2483"/>
              </a:lnSpc>
            </a:pPr>
            <a:r>
              <a:rPr sz="2150" b="1">
                <a:solidFill>
                  <a:srgbClr val="13212C"/>
                </a:solidFill>
                <a:latin typeface="Arial"/>
              </a:rPr>
              <a:t>3 · Urgent at 1:48 am</a:t>
            </a:r>
          </a:p>
        </p:txBody>
      </p:sp>
      <p:sp>
        <p:nvSpPr>
          <p:cNvPr id="14" name="TextBox 13"/>
          <p:cNvSpPr txBox="1"/>
          <p:nvPr/>
        </p:nvSpPr>
        <p:spPr>
          <a:xfrm>
            <a:off x="1112520" y="4649723"/>
            <a:ext cx="4648200" cy="576072"/>
          </a:xfrm>
          <a:prstGeom prst="rect">
            <a:avLst/>
          </a:prstGeom>
          <a:noFill/>
        </p:spPr>
        <p:txBody>
          <a:bodyPr wrap="square" lIns="0" rIns="0" tIns="0" bIns="0" anchor="t">
            <a:spAutoFit/>
          </a:bodyPr>
          <a:lstStyle/>
          <a:p>
            <a:pPr algn="l">
              <a:lnSpc>
                <a:spcPts val="2268"/>
              </a:lnSpc>
            </a:pPr>
            <a:r>
              <a:rPr sz="1700" b="0">
                <a:solidFill>
                  <a:srgbClr val="566977"/>
                </a:solidFill>
                <a:latin typeface="Arial"/>
              </a:rPr>
              <a:t>Say call 911 and page the on-call nurse, say 911 only, or queue it.</a:t>
            </a:r>
          </a:p>
        </p:txBody>
      </p:sp>
      <p:sp>
        <p:nvSpPr>
          <p:cNvPr id="15" name="TextBox 14"/>
          <p:cNvSpPr txBox="1"/>
          <p:nvPr/>
        </p:nvSpPr>
        <p:spPr>
          <a:xfrm>
            <a:off x="1112520" y="5332476"/>
            <a:ext cx="4648200" cy="217932"/>
          </a:xfrm>
          <a:prstGeom prst="rect">
            <a:avLst/>
          </a:prstGeom>
          <a:noFill/>
        </p:spPr>
        <p:txBody>
          <a:bodyPr wrap="square" lIns="0" rIns="0" tIns="0" bIns="0" anchor="t">
            <a:spAutoFit/>
          </a:bodyPr>
          <a:lstStyle/>
          <a:p>
            <a:pPr algn="l">
              <a:lnSpc>
                <a:spcPts val="1716"/>
              </a:lnSpc>
            </a:pPr>
            <a:r>
              <a:rPr sz="1300" b="0">
                <a:solidFill>
                  <a:srgbClr val="0B6E8A"/>
                </a:solidFill>
                <a:latin typeface="Courier New"/>
              </a:rPr>
              <a:t>Northline chose 911 and page</a:t>
            </a:r>
          </a:p>
        </p:txBody>
      </p:sp>
      <p:sp>
        <p:nvSpPr>
          <p:cNvPr id="16" name="Rounded Rectangle 15"/>
          <p:cNvSpPr/>
          <p:nvPr/>
        </p:nvSpPr>
        <p:spPr>
          <a:xfrm>
            <a:off x="6172200" y="3998975"/>
            <a:ext cx="5166360" cy="1780032"/>
          </a:xfrm>
          <a:prstGeom prst="roundRect">
            <a:avLst>
              <a:gd name="adj" fmla="val 4280"/>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1280" y="4227576"/>
            <a:ext cx="4648200" cy="315468"/>
          </a:xfrm>
          <a:prstGeom prst="rect">
            <a:avLst/>
          </a:prstGeom>
          <a:noFill/>
        </p:spPr>
        <p:txBody>
          <a:bodyPr wrap="square" lIns="0" rIns="0" tIns="0" bIns="0" anchor="t">
            <a:spAutoFit/>
          </a:bodyPr>
          <a:lstStyle/>
          <a:p>
            <a:pPr algn="l">
              <a:lnSpc>
                <a:spcPts val="2483"/>
              </a:lnSpc>
            </a:pPr>
            <a:r>
              <a:rPr sz="2150" b="1">
                <a:solidFill>
                  <a:srgbClr val="13212C"/>
                </a:solidFill>
                <a:latin typeface="Arial"/>
              </a:rPr>
              <a:t>4 · "Don't tell the doctor"</a:t>
            </a:r>
          </a:p>
        </p:txBody>
      </p:sp>
      <p:sp>
        <p:nvSpPr>
          <p:cNvPr id="18" name="TextBox 17"/>
          <p:cNvSpPr txBox="1"/>
          <p:nvPr/>
        </p:nvSpPr>
        <p:spPr>
          <a:xfrm>
            <a:off x="6431280" y="4649723"/>
            <a:ext cx="4648200" cy="288036"/>
          </a:xfrm>
          <a:prstGeom prst="rect">
            <a:avLst/>
          </a:prstGeom>
          <a:noFill/>
        </p:spPr>
        <p:txBody>
          <a:bodyPr wrap="square" lIns="0" rIns="0" tIns="0" bIns="0" anchor="t">
            <a:spAutoFit/>
          </a:bodyPr>
          <a:lstStyle/>
          <a:p>
            <a:pPr algn="l">
              <a:lnSpc>
                <a:spcPts val="2268"/>
              </a:lnSpc>
            </a:pPr>
            <a:r>
              <a:rPr sz="1700" b="0">
                <a:solidFill>
                  <a:srgbClr val="566977"/>
                </a:solidFill>
                <a:latin typeface="Arial"/>
              </a:rPr>
              <a:t>Do you honour it? What is the patient told?</a:t>
            </a:r>
          </a:p>
        </p:txBody>
      </p:sp>
      <p:sp>
        <p:nvSpPr>
          <p:cNvPr id="19" name="TextBox 18"/>
          <p:cNvSpPr txBox="1"/>
          <p:nvPr/>
        </p:nvSpPr>
        <p:spPr>
          <a:xfrm>
            <a:off x="6431280" y="5044439"/>
            <a:ext cx="4648200" cy="217932"/>
          </a:xfrm>
          <a:prstGeom prst="rect">
            <a:avLst/>
          </a:prstGeom>
          <a:noFill/>
        </p:spPr>
        <p:txBody>
          <a:bodyPr wrap="square" lIns="0" rIns="0" tIns="0" bIns="0" anchor="t">
            <a:spAutoFit/>
          </a:bodyPr>
          <a:lstStyle/>
          <a:p>
            <a:pPr algn="l">
              <a:lnSpc>
                <a:spcPts val="1716"/>
              </a:lnSpc>
            </a:pPr>
            <a:r>
              <a:rPr sz="1300" b="0">
                <a:solidFill>
                  <a:srgbClr val="0B6E8A"/>
                </a:solidFill>
                <a:latin typeface="Courier New"/>
              </a:rPr>
              <a:t>Northline chose no</a:t>
            </a:r>
          </a:p>
        </p:txBody>
      </p:sp>
      <p:sp>
        <p:nvSpPr>
          <p:cNvPr id="20"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566977"/>
                </a:solidFill>
                <a:latin typeface="Courier New"/>
              </a:rPr>
              <a:t>25–42 min · Do-along</a:t>
            </a:r>
          </a:p>
        </p:txBody>
      </p:sp>
      <p:sp>
        <p:nvSpPr>
          <p:cNvPr id="21"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566977"/>
                </a:solidFill>
                <a:latin typeface="Courier New"/>
              </a:rPr>
              <a:t>10 / 16</a:t>
            </a:r>
          </a:p>
        </p:txBody>
      </p:sp>
      <p:sp>
        <p:nvSpPr>
          <p:cNvPr id="22" name="Rectangle 21"/>
          <p:cNvSpPr/>
          <p:nvPr/>
        </p:nvSpPr>
        <p:spPr>
          <a:xfrm>
            <a:off x="3520440" y="6423660"/>
            <a:ext cx="2639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22496" y="6423660"/>
            <a:ext cx="1055827"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916424" y="6423660"/>
            <a:ext cx="8798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34380" y="6423660"/>
            <a:ext cx="1495755" cy="60960"/>
          </a:xfrm>
          <a:prstGeom prst="rect">
            <a:avLst/>
          </a:prstGeom>
          <a:solidFill>
            <a:srgbClr val="0B6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68235" y="6423660"/>
            <a:ext cx="703884"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10220" y="6423660"/>
            <a:ext cx="1055827"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04147" y="6423660"/>
            <a:ext cx="1143812"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853440" y="655320"/>
            <a:ext cx="10485120" cy="228600"/>
          </a:xfrm>
          <a:prstGeom prst="rect">
            <a:avLst/>
          </a:prstGeom>
          <a:noFill/>
        </p:spPr>
        <p:txBody>
          <a:bodyPr wrap="square" lIns="0" rIns="0" tIns="0" bIns="0" anchor="t">
            <a:spAutoFit/>
          </a:bodyPr>
          <a:lstStyle/>
          <a:p>
            <a:pPr algn="l">
              <a:lnSpc>
                <a:spcPts val="1320"/>
              </a:lnSpc>
            </a:pPr>
            <a:r>
              <a:rPr sz="1300" b="0" spc="200">
                <a:solidFill>
                  <a:srgbClr val="0B6E8A"/>
                </a:solidFill>
                <a:latin typeface="Courier New"/>
              </a:rPr>
              <a:t>EXHIBIT E, MESSAGE 12 OF 15 · THE BOARD CHAIR WILL ASK</a:t>
            </a:r>
          </a:p>
        </p:txBody>
      </p:sp>
      <p:sp>
        <p:nvSpPr>
          <p:cNvPr id="3" name="TextBox 2"/>
          <p:cNvSpPr txBox="1"/>
          <p:nvPr/>
        </p:nvSpPr>
        <p:spPr>
          <a:xfrm>
            <a:off x="853440" y="1066800"/>
            <a:ext cx="10485120" cy="553212"/>
          </a:xfrm>
          <a:prstGeom prst="rect">
            <a:avLst/>
          </a:prstGeom>
          <a:noFill/>
        </p:spPr>
        <p:txBody>
          <a:bodyPr wrap="square" lIns="0" rIns="0" tIns="0" bIns="0" anchor="t">
            <a:spAutoFit/>
          </a:bodyPr>
          <a:lstStyle/>
          <a:p>
            <a:pPr algn="l">
              <a:lnSpc>
                <a:spcPts val="4118"/>
              </a:lnSpc>
            </a:pPr>
            <a:r>
              <a:rPr sz="3950" b="1">
                <a:solidFill>
                  <a:srgbClr val="13212C"/>
                </a:solidFill>
                <a:latin typeface="Arial"/>
              </a:rPr>
              <a:t>What did your triage do with 184/112?</a:t>
            </a:r>
          </a:p>
        </p:txBody>
      </p:sp>
      <p:sp>
        <p:nvSpPr>
          <p:cNvPr id="4" name="Rounded Rectangle 3"/>
          <p:cNvSpPr/>
          <p:nvPr/>
        </p:nvSpPr>
        <p:spPr>
          <a:xfrm>
            <a:off x="853440" y="1848612"/>
            <a:ext cx="8382000" cy="794004"/>
          </a:xfrm>
          <a:prstGeom prst="roundRect">
            <a:avLst>
              <a:gd name="adj" fmla="val 15355"/>
            </a:avLst>
          </a:prstGeom>
          <a:solidFill>
            <a:srgbClr val="F7DEDB"/>
          </a:solidFill>
          <a:ln w="1905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1955292"/>
            <a:ext cx="8107680" cy="167640"/>
          </a:xfrm>
          <a:prstGeom prst="rect">
            <a:avLst/>
          </a:prstGeom>
          <a:noFill/>
        </p:spPr>
        <p:txBody>
          <a:bodyPr wrap="square" lIns="0" rIns="0" tIns="0" bIns="0" anchor="t">
            <a:spAutoFit/>
          </a:bodyPr>
          <a:lstStyle/>
          <a:p>
            <a:pPr algn="l">
              <a:lnSpc>
                <a:spcPts val="1320"/>
              </a:lnSpc>
            </a:pPr>
            <a:r>
              <a:rPr sz="1300" b="0">
                <a:solidFill>
                  <a:srgbClr val="566977"/>
                </a:solidFill>
                <a:latin typeface="Courier New"/>
              </a:rPr>
              <a:t>Message 12 · 6:10 am</a:t>
            </a:r>
          </a:p>
        </p:txBody>
      </p:sp>
      <p:sp>
        <p:nvSpPr>
          <p:cNvPr id="6" name="TextBox 5"/>
          <p:cNvSpPr txBox="1"/>
          <p:nvPr/>
        </p:nvSpPr>
        <p:spPr>
          <a:xfrm>
            <a:off x="990600" y="2199132"/>
            <a:ext cx="8107680" cy="336804"/>
          </a:xfrm>
          <a:prstGeom prst="rect">
            <a:avLst/>
          </a:prstGeom>
          <a:noFill/>
        </p:spPr>
        <p:txBody>
          <a:bodyPr wrap="square" lIns="0" rIns="0" tIns="0" bIns="0" anchor="t">
            <a:spAutoFit/>
          </a:bodyPr>
          <a:lstStyle/>
          <a:p>
            <a:pPr algn="l">
              <a:lnSpc>
                <a:spcPts val="2652"/>
              </a:lnSpc>
            </a:pPr>
            <a:r>
              <a:rPr sz="2050" b="0">
                <a:solidFill>
                  <a:srgbClr val="13212C"/>
                </a:solidFill>
                <a:latin typeface="Arial"/>
              </a:rPr>
              <a:t>BP was 184/112 this morning, bit of a headache, probably nothing.</a:t>
            </a:r>
          </a:p>
        </p:txBody>
      </p:sp>
      <p:sp>
        <p:nvSpPr>
          <p:cNvPr id="7" name="Rounded Rectangle 6"/>
          <p:cNvSpPr/>
          <p:nvPr/>
        </p:nvSpPr>
        <p:spPr>
          <a:xfrm>
            <a:off x="853440" y="2871216"/>
            <a:ext cx="5151120" cy="1734312"/>
          </a:xfrm>
          <a:prstGeom prst="roundRect">
            <a:avLst>
              <a:gd name="adj" fmla="val 4393"/>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084576"/>
            <a:ext cx="4663440" cy="182880"/>
          </a:xfrm>
          <a:prstGeom prst="rect">
            <a:avLst/>
          </a:prstGeom>
          <a:noFill/>
        </p:spPr>
        <p:txBody>
          <a:bodyPr wrap="square" lIns="0" rIns="0" tIns="0" bIns="0" anchor="t">
            <a:spAutoFit/>
          </a:bodyPr>
          <a:lstStyle/>
          <a:p>
            <a:pPr algn="l">
              <a:lnSpc>
                <a:spcPts val="1439"/>
              </a:lnSpc>
            </a:pPr>
            <a:r>
              <a:rPr sz="1450" b="0">
                <a:solidFill>
                  <a:srgbClr val="566977"/>
                </a:solidFill>
                <a:latin typeface="Courier New"/>
              </a:rPr>
              <a:t>Urgent at 180/110</a:t>
            </a:r>
          </a:p>
        </p:txBody>
      </p:sp>
      <p:sp>
        <p:nvSpPr>
          <p:cNvPr id="9" name="TextBox 8"/>
          <p:cNvSpPr txBox="1"/>
          <p:nvPr/>
        </p:nvSpPr>
        <p:spPr>
          <a:xfrm>
            <a:off x="1097280" y="3343656"/>
            <a:ext cx="4663440" cy="432054"/>
          </a:xfrm>
          <a:prstGeom prst="rect">
            <a:avLst/>
          </a:prstGeom>
          <a:noFill/>
        </p:spPr>
        <p:txBody>
          <a:bodyPr wrap="square" lIns="0" rIns="0" tIns="0" bIns="0" anchor="t">
            <a:spAutoFit/>
          </a:bodyPr>
          <a:lstStyle/>
          <a:p>
            <a:pPr algn="l">
              <a:lnSpc>
                <a:spcPts val="3402"/>
              </a:lnSpc>
            </a:pPr>
            <a:r>
              <a:rPr sz="3250" b="1">
                <a:solidFill>
                  <a:srgbClr val="13212C"/>
                </a:solidFill>
                <a:latin typeface="Arial"/>
              </a:rPr>
              <a:t>Urgent. Nurse paged.</a:t>
            </a:r>
          </a:p>
        </p:txBody>
      </p:sp>
      <p:sp>
        <p:nvSpPr>
          <p:cNvPr id="10" name="TextBox 9"/>
          <p:cNvSpPr txBox="1"/>
          <p:nvPr/>
        </p:nvSpPr>
        <p:spPr>
          <a:xfrm>
            <a:off x="1097280" y="3836670"/>
            <a:ext cx="4663440" cy="277749"/>
          </a:xfrm>
          <a:prstGeom prst="rect">
            <a:avLst/>
          </a:prstGeom>
          <a:noFill/>
        </p:spPr>
        <p:txBody>
          <a:bodyPr wrap="square" lIns="0" rIns="0" tIns="0" bIns="0" anchor="t">
            <a:spAutoFit/>
          </a:bodyPr>
          <a:lstStyle/>
          <a:p>
            <a:pPr algn="l">
              <a:lnSpc>
                <a:spcPts val="2187"/>
              </a:lnSpc>
            </a:pPr>
            <a:r>
              <a:rPr sz="1600" b="0">
                <a:solidFill>
                  <a:srgbClr val="566977"/>
                </a:solidFill>
                <a:latin typeface="Arial"/>
              </a:rPr>
              <a:t>Fifteen of fifteen match the nurse.</a:t>
            </a:r>
          </a:p>
        </p:txBody>
      </p:sp>
      <p:sp>
        <p:nvSpPr>
          <p:cNvPr id="11" name="Rounded Rectangle 10"/>
          <p:cNvSpPr/>
          <p:nvPr/>
        </p:nvSpPr>
        <p:spPr>
          <a:xfrm>
            <a:off x="6187440" y="2871216"/>
            <a:ext cx="5151120" cy="1734312"/>
          </a:xfrm>
          <a:prstGeom prst="roundRect">
            <a:avLst>
              <a:gd name="adj" fmla="val 4393"/>
            </a:avLst>
          </a:prstGeom>
          <a:solidFill>
            <a:srgbClr val="F7DEDB"/>
          </a:solidFill>
          <a:ln w="1905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1280" y="3084576"/>
            <a:ext cx="4663440" cy="182880"/>
          </a:xfrm>
          <a:prstGeom prst="rect">
            <a:avLst/>
          </a:prstGeom>
          <a:noFill/>
        </p:spPr>
        <p:txBody>
          <a:bodyPr wrap="square" lIns="0" rIns="0" tIns="0" bIns="0" anchor="t">
            <a:spAutoFit/>
          </a:bodyPr>
          <a:lstStyle/>
          <a:p>
            <a:pPr algn="l">
              <a:lnSpc>
                <a:spcPts val="1439"/>
              </a:lnSpc>
            </a:pPr>
            <a:r>
              <a:rPr sz="1450" b="0">
                <a:solidFill>
                  <a:srgbClr val="566977"/>
                </a:solidFill>
                <a:latin typeface="Courier New"/>
              </a:rPr>
              <a:t>Urgent at 190/115</a:t>
            </a:r>
          </a:p>
        </p:txBody>
      </p:sp>
      <p:sp>
        <p:nvSpPr>
          <p:cNvPr id="13" name="TextBox 12"/>
          <p:cNvSpPr txBox="1"/>
          <p:nvPr/>
        </p:nvSpPr>
        <p:spPr>
          <a:xfrm>
            <a:off x="6431280" y="3343656"/>
            <a:ext cx="4663440" cy="432054"/>
          </a:xfrm>
          <a:prstGeom prst="rect">
            <a:avLst/>
          </a:prstGeom>
          <a:noFill/>
        </p:spPr>
        <p:txBody>
          <a:bodyPr wrap="square" lIns="0" rIns="0" tIns="0" bIns="0" anchor="t">
            <a:spAutoFit/>
          </a:bodyPr>
          <a:lstStyle/>
          <a:p>
            <a:pPr algn="l">
              <a:lnSpc>
                <a:spcPts val="3402"/>
              </a:lnSpc>
            </a:pPr>
            <a:r>
              <a:rPr sz="3250" b="1">
                <a:solidFill>
                  <a:srgbClr val="B3261E"/>
                </a:solidFill>
                <a:latin typeface="Arial"/>
              </a:rPr>
              <a:t>Routine. MISS.</a:t>
            </a:r>
          </a:p>
        </p:txBody>
      </p:sp>
      <p:sp>
        <p:nvSpPr>
          <p:cNvPr id="14" name="TextBox 13"/>
          <p:cNvSpPr txBox="1"/>
          <p:nvPr/>
        </p:nvSpPr>
        <p:spPr>
          <a:xfrm>
            <a:off x="6431280" y="3836670"/>
            <a:ext cx="4663440" cy="555498"/>
          </a:xfrm>
          <a:prstGeom prst="rect">
            <a:avLst/>
          </a:prstGeom>
          <a:noFill/>
        </p:spPr>
        <p:txBody>
          <a:bodyPr wrap="square" lIns="0" rIns="0" tIns="0" bIns="0" anchor="t">
            <a:spAutoFit/>
          </a:bodyPr>
          <a:lstStyle/>
          <a:p>
            <a:pPr algn="l">
              <a:lnSpc>
                <a:spcPts val="2187"/>
              </a:lnSpc>
            </a:pPr>
            <a:r>
              <a:rPr sz="1600" b="0">
                <a:solidFill>
                  <a:srgbClr val="566977"/>
                </a:solidFill>
                <a:latin typeface="Arial"/>
              </a:rPr>
              <a:t>Urgent recall drops to 0.75. A possible stroke waits in line.</a:t>
            </a:r>
          </a:p>
        </p:txBody>
      </p:sp>
      <p:sp>
        <p:nvSpPr>
          <p:cNvPr id="15"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566977"/>
                </a:solidFill>
                <a:latin typeface="Courier New"/>
              </a:rPr>
              <a:t>25–42 min · Do-along</a:t>
            </a:r>
          </a:p>
        </p:txBody>
      </p:sp>
      <p:sp>
        <p:nvSpPr>
          <p:cNvPr id="16"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566977"/>
                </a:solidFill>
                <a:latin typeface="Courier New"/>
              </a:rPr>
              <a:t>11 / 16</a:t>
            </a:r>
          </a:p>
        </p:txBody>
      </p:sp>
      <p:sp>
        <p:nvSpPr>
          <p:cNvPr id="17" name="Rectangle 16"/>
          <p:cNvSpPr/>
          <p:nvPr/>
        </p:nvSpPr>
        <p:spPr>
          <a:xfrm>
            <a:off x="3520440" y="6423660"/>
            <a:ext cx="2639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22496" y="6423660"/>
            <a:ext cx="1055827"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16424" y="6423660"/>
            <a:ext cx="8798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34380" y="6423660"/>
            <a:ext cx="1495755" cy="60960"/>
          </a:xfrm>
          <a:prstGeom prst="rect">
            <a:avLst/>
          </a:prstGeom>
          <a:solidFill>
            <a:srgbClr val="0B6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68235" y="6423660"/>
            <a:ext cx="703884"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10220" y="6423660"/>
            <a:ext cx="1055827"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04147" y="6423660"/>
            <a:ext cx="1143812"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853440" y="655320"/>
            <a:ext cx="10485120" cy="228600"/>
          </a:xfrm>
          <a:prstGeom prst="rect">
            <a:avLst/>
          </a:prstGeom>
          <a:noFill/>
        </p:spPr>
        <p:txBody>
          <a:bodyPr wrap="square" lIns="0" rIns="0" tIns="0" bIns="0" anchor="t">
            <a:spAutoFit/>
          </a:bodyPr>
          <a:lstStyle/>
          <a:p>
            <a:pPr algn="l">
              <a:lnSpc>
                <a:spcPts val="1320"/>
              </a:lnSpc>
            </a:pPr>
            <a:r>
              <a:rPr sz="1300" b="0" spc="200">
                <a:solidFill>
                  <a:srgbClr val="0B6E8A"/>
                </a:solidFill>
                <a:latin typeface="Courier New"/>
              </a:rPr>
              <a:t>THURSDAY · TWO TEAMS, TWO MINUTES EACH</a:t>
            </a:r>
          </a:p>
        </p:txBody>
      </p:sp>
      <p:sp>
        <p:nvSpPr>
          <p:cNvPr id="3" name="TextBox 2"/>
          <p:cNvSpPr txBox="1"/>
          <p:nvPr/>
        </p:nvSpPr>
        <p:spPr>
          <a:xfrm>
            <a:off x="853440" y="1066800"/>
            <a:ext cx="10485120" cy="553212"/>
          </a:xfrm>
          <a:prstGeom prst="rect">
            <a:avLst/>
          </a:prstGeom>
          <a:noFill/>
        </p:spPr>
        <p:txBody>
          <a:bodyPr wrap="square" lIns="0" rIns="0" tIns="0" bIns="0" anchor="t">
            <a:spAutoFit/>
          </a:bodyPr>
          <a:lstStyle/>
          <a:p>
            <a:pPr algn="l">
              <a:lnSpc>
                <a:spcPts val="4118"/>
              </a:lnSpc>
            </a:pPr>
            <a:r>
              <a:rPr sz="3950" b="1">
                <a:solidFill>
                  <a:srgbClr val="13212C"/>
                </a:solidFill>
                <a:latin typeface="Arial"/>
              </a:rPr>
              <a:t>The board has questions</a:t>
            </a:r>
          </a:p>
        </p:txBody>
      </p:sp>
      <p:sp>
        <p:nvSpPr>
          <p:cNvPr id="4" name="TextBox 3"/>
          <p:cNvSpPr txBox="1"/>
          <p:nvPr/>
        </p:nvSpPr>
        <p:spPr>
          <a:xfrm>
            <a:off x="853440" y="1894332"/>
            <a:ext cx="426720" cy="274320"/>
          </a:xfrm>
          <a:prstGeom prst="rect">
            <a:avLst/>
          </a:prstGeom>
          <a:noFill/>
        </p:spPr>
        <p:txBody>
          <a:bodyPr wrap="square" lIns="0" rIns="0" tIns="0" bIns="0" anchor="t">
            <a:spAutoFit/>
          </a:bodyPr>
          <a:lstStyle/>
          <a:p>
            <a:pPr algn="l">
              <a:lnSpc>
                <a:spcPts val="1560"/>
              </a:lnSpc>
            </a:pPr>
            <a:r>
              <a:rPr sz="1550" b="0">
                <a:solidFill>
                  <a:srgbClr val="0B6E8A"/>
                </a:solidFill>
                <a:latin typeface="Courier New"/>
              </a:rPr>
              <a:t>1</a:t>
            </a:r>
          </a:p>
        </p:txBody>
      </p:sp>
      <p:sp>
        <p:nvSpPr>
          <p:cNvPr id="5" name="TextBox 4"/>
          <p:cNvSpPr txBox="1"/>
          <p:nvPr/>
        </p:nvSpPr>
        <p:spPr>
          <a:xfrm>
            <a:off x="1341120" y="1848612"/>
            <a:ext cx="9646920" cy="693420"/>
          </a:xfrm>
          <a:prstGeom prst="rect">
            <a:avLst/>
          </a:prstGeom>
          <a:noFill/>
        </p:spPr>
        <p:txBody>
          <a:bodyPr wrap="square" lIns="0" rIns="0" tIns="0" bIns="0" anchor="t">
            <a:spAutoFit/>
          </a:bodyPr>
          <a:lstStyle/>
          <a:p>
            <a:pPr algn="l">
              <a:lnSpc>
                <a:spcPts val="2730"/>
              </a:lnSpc>
            </a:pPr>
            <a:r>
              <a:rPr sz="2100" b="0">
                <a:solidFill>
                  <a:srgbClr val="13212C"/>
                </a:solidFill>
                <a:latin typeface="Arial"/>
              </a:rPr>
              <a:t>"You'll fix operations in parallel. What is different on day 91, and how do you know?"</a:t>
            </a:r>
          </a:p>
        </p:txBody>
      </p:sp>
      <p:sp>
        <p:nvSpPr>
          <p:cNvPr id="6" name="TextBox 5"/>
          <p:cNvSpPr txBox="1"/>
          <p:nvPr/>
        </p:nvSpPr>
        <p:spPr>
          <a:xfrm>
            <a:off x="853440" y="2770632"/>
            <a:ext cx="426720" cy="274320"/>
          </a:xfrm>
          <a:prstGeom prst="rect">
            <a:avLst/>
          </a:prstGeom>
          <a:noFill/>
        </p:spPr>
        <p:txBody>
          <a:bodyPr wrap="square" lIns="0" rIns="0" tIns="0" bIns="0" anchor="t">
            <a:spAutoFit/>
          </a:bodyPr>
          <a:lstStyle/>
          <a:p>
            <a:pPr algn="l">
              <a:lnSpc>
                <a:spcPts val="1560"/>
              </a:lnSpc>
            </a:pPr>
            <a:r>
              <a:rPr sz="1550" b="0">
                <a:solidFill>
                  <a:srgbClr val="0B6E8A"/>
                </a:solidFill>
                <a:latin typeface="Courier New"/>
              </a:rPr>
              <a:t>2</a:t>
            </a:r>
          </a:p>
        </p:txBody>
      </p:sp>
      <p:sp>
        <p:nvSpPr>
          <p:cNvPr id="7" name="TextBox 6"/>
          <p:cNvSpPr txBox="1"/>
          <p:nvPr/>
        </p:nvSpPr>
        <p:spPr>
          <a:xfrm>
            <a:off x="1341120" y="2724912"/>
            <a:ext cx="9646920" cy="693420"/>
          </a:xfrm>
          <a:prstGeom prst="rect">
            <a:avLst/>
          </a:prstGeom>
          <a:noFill/>
        </p:spPr>
        <p:txBody>
          <a:bodyPr wrap="square" lIns="0" rIns="0" tIns="0" bIns="0" anchor="t">
            <a:spAutoFit/>
          </a:bodyPr>
          <a:lstStyle/>
          <a:p>
            <a:pPr algn="l">
              <a:lnSpc>
                <a:spcPts val="2730"/>
              </a:lnSpc>
            </a:pPr>
            <a:r>
              <a:rPr sz="2100" b="0">
                <a:solidFill>
                  <a:srgbClr val="13212C"/>
                </a:solidFill>
                <a:latin typeface="Arial"/>
              </a:rPr>
              <a:t>"You raised the escalation threshold. Which patients no longer get a call, and would you tell them?"</a:t>
            </a:r>
          </a:p>
        </p:txBody>
      </p:sp>
      <p:sp>
        <p:nvSpPr>
          <p:cNvPr id="8" name="TextBox 7"/>
          <p:cNvSpPr txBox="1"/>
          <p:nvPr/>
        </p:nvSpPr>
        <p:spPr>
          <a:xfrm>
            <a:off x="853440" y="3646932"/>
            <a:ext cx="426720" cy="274320"/>
          </a:xfrm>
          <a:prstGeom prst="rect">
            <a:avLst/>
          </a:prstGeom>
          <a:noFill/>
        </p:spPr>
        <p:txBody>
          <a:bodyPr wrap="square" lIns="0" rIns="0" tIns="0" bIns="0" anchor="t">
            <a:spAutoFit/>
          </a:bodyPr>
          <a:lstStyle/>
          <a:p>
            <a:pPr algn="l">
              <a:lnSpc>
                <a:spcPts val="1560"/>
              </a:lnSpc>
            </a:pPr>
            <a:r>
              <a:rPr sz="1550" b="0">
                <a:solidFill>
                  <a:srgbClr val="0B6E8A"/>
                </a:solidFill>
                <a:latin typeface="Courier New"/>
              </a:rPr>
              <a:t>3</a:t>
            </a:r>
          </a:p>
        </p:txBody>
      </p:sp>
      <p:sp>
        <p:nvSpPr>
          <p:cNvPr id="9" name="TextBox 8"/>
          <p:cNvSpPr txBox="1"/>
          <p:nvPr/>
        </p:nvSpPr>
        <p:spPr>
          <a:xfrm>
            <a:off x="1341120" y="3601212"/>
            <a:ext cx="9646920" cy="693420"/>
          </a:xfrm>
          <a:prstGeom prst="rect">
            <a:avLst/>
          </a:prstGeom>
          <a:noFill/>
        </p:spPr>
        <p:txBody>
          <a:bodyPr wrap="square" lIns="0" rIns="0" tIns="0" bIns="0" anchor="t">
            <a:spAutoFit/>
          </a:bodyPr>
          <a:lstStyle/>
          <a:p>
            <a:pPr algn="l">
              <a:lnSpc>
                <a:spcPts val="2730"/>
              </a:lnSpc>
            </a:pPr>
            <a:r>
              <a:rPr sz="2100" b="0">
                <a:solidFill>
                  <a:srgbClr val="13212C"/>
                </a:solidFill>
                <a:latin typeface="Arial"/>
              </a:rPr>
              <a:t>"If we decline, Prairie goes to a competitor. What is our growth story for the next raise?"</a:t>
            </a:r>
          </a:p>
        </p:txBody>
      </p:sp>
      <p:sp>
        <p:nvSpPr>
          <p:cNvPr id="10" name="TextBox 9"/>
          <p:cNvSpPr txBox="1"/>
          <p:nvPr/>
        </p:nvSpPr>
        <p:spPr>
          <a:xfrm>
            <a:off x="853440" y="4523232"/>
            <a:ext cx="426720" cy="274320"/>
          </a:xfrm>
          <a:prstGeom prst="rect">
            <a:avLst/>
          </a:prstGeom>
          <a:noFill/>
        </p:spPr>
        <p:txBody>
          <a:bodyPr wrap="square" lIns="0" rIns="0" tIns="0" bIns="0" anchor="t">
            <a:spAutoFit/>
          </a:bodyPr>
          <a:lstStyle/>
          <a:p>
            <a:pPr algn="l">
              <a:lnSpc>
                <a:spcPts val="1560"/>
              </a:lnSpc>
            </a:pPr>
            <a:r>
              <a:rPr sz="1550" b="0">
                <a:solidFill>
                  <a:srgbClr val="B3261E"/>
                </a:solidFill>
                <a:latin typeface="Courier New"/>
              </a:rPr>
              <a:t>4</a:t>
            </a:r>
          </a:p>
        </p:txBody>
      </p:sp>
      <p:sp>
        <p:nvSpPr>
          <p:cNvPr id="11" name="TextBox 10"/>
          <p:cNvSpPr txBox="1"/>
          <p:nvPr/>
        </p:nvSpPr>
        <p:spPr>
          <a:xfrm>
            <a:off x="1341120" y="4477512"/>
            <a:ext cx="9646920" cy="346710"/>
          </a:xfrm>
          <a:prstGeom prst="rect">
            <a:avLst/>
          </a:prstGeom>
          <a:noFill/>
        </p:spPr>
        <p:txBody>
          <a:bodyPr wrap="square" lIns="0" rIns="0" tIns="0" bIns="0" anchor="t">
            <a:spAutoFit/>
          </a:bodyPr>
          <a:lstStyle/>
          <a:p>
            <a:pPr algn="l">
              <a:lnSpc>
                <a:spcPts val="2730"/>
              </a:lnSpc>
            </a:pPr>
            <a:r>
              <a:rPr sz="2100" b="0">
                <a:solidFill>
                  <a:srgbClr val="B3261E"/>
                </a:solidFill>
                <a:latin typeface="Arial"/>
              </a:rPr>
              <a:t>"Your triage looks great. What did it do with the 184/112 reading?"</a:t>
            </a:r>
          </a:p>
        </p:txBody>
      </p:sp>
      <p:sp>
        <p:nvSpPr>
          <p:cNvPr id="12" name="TextBox 11"/>
          <p:cNvSpPr txBox="1"/>
          <p:nvPr/>
        </p:nvSpPr>
        <p:spPr>
          <a:xfrm>
            <a:off x="853440" y="5052822"/>
            <a:ext cx="426720" cy="274320"/>
          </a:xfrm>
          <a:prstGeom prst="rect">
            <a:avLst/>
          </a:prstGeom>
          <a:noFill/>
        </p:spPr>
        <p:txBody>
          <a:bodyPr wrap="square" lIns="0" rIns="0" tIns="0" bIns="0" anchor="t">
            <a:spAutoFit/>
          </a:bodyPr>
          <a:lstStyle/>
          <a:p>
            <a:pPr algn="l">
              <a:lnSpc>
                <a:spcPts val="1560"/>
              </a:lnSpc>
            </a:pPr>
            <a:r>
              <a:rPr sz="1550" b="0">
                <a:solidFill>
                  <a:srgbClr val="0B6E8A"/>
                </a:solidFill>
                <a:latin typeface="Courier New"/>
              </a:rPr>
              <a:t>5</a:t>
            </a:r>
          </a:p>
        </p:txBody>
      </p:sp>
      <p:sp>
        <p:nvSpPr>
          <p:cNvPr id="13" name="TextBox 12"/>
          <p:cNvSpPr txBox="1"/>
          <p:nvPr/>
        </p:nvSpPr>
        <p:spPr>
          <a:xfrm>
            <a:off x="1341120" y="5007102"/>
            <a:ext cx="9646920" cy="346710"/>
          </a:xfrm>
          <a:prstGeom prst="rect">
            <a:avLst/>
          </a:prstGeom>
          <a:noFill/>
        </p:spPr>
        <p:txBody>
          <a:bodyPr wrap="square" lIns="0" rIns="0" tIns="0" bIns="0" anchor="t">
            <a:spAutoFit/>
          </a:bodyPr>
          <a:lstStyle/>
          <a:p>
            <a:pPr algn="l">
              <a:lnSpc>
                <a:spcPts val="2730"/>
              </a:lnSpc>
            </a:pPr>
            <a:r>
              <a:rPr sz="2100" b="0">
                <a:solidFill>
                  <a:srgbClr val="13212C"/>
                </a:solidFill>
                <a:latin typeface="Arial"/>
              </a:rPr>
              <a:t>"Who is paying for the extra care the agent uncovered?"</a:t>
            </a:r>
          </a:p>
        </p:txBody>
      </p:sp>
      <p:sp>
        <p:nvSpPr>
          <p:cNvPr id="14"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566977"/>
                </a:solidFill>
                <a:latin typeface="Courier New"/>
              </a:rPr>
              <a:t>42–50 min · Board meeting</a:t>
            </a:r>
          </a:p>
        </p:txBody>
      </p:sp>
      <p:sp>
        <p:nvSpPr>
          <p:cNvPr id="15"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566977"/>
                </a:solidFill>
                <a:latin typeface="Courier New"/>
              </a:rPr>
              <a:t>12 / 16</a:t>
            </a:r>
          </a:p>
        </p:txBody>
      </p:sp>
      <p:sp>
        <p:nvSpPr>
          <p:cNvPr id="16" name="Rectangle 15"/>
          <p:cNvSpPr/>
          <p:nvPr/>
        </p:nvSpPr>
        <p:spPr>
          <a:xfrm>
            <a:off x="3520440" y="6423660"/>
            <a:ext cx="2639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22496" y="6423660"/>
            <a:ext cx="1055827"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16424" y="6423660"/>
            <a:ext cx="8798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34380" y="6423660"/>
            <a:ext cx="1495755"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8235" y="6423660"/>
            <a:ext cx="703884" cy="60960"/>
          </a:xfrm>
          <a:prstGeom prst="rect">
            <a:avLst/>
          </a:prstGeom>
          <a:solidFill>
            <a:srgbClr val="0B6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10220" y="6423660"/>
            <a:ext cx="1055827"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04147" y="6423660"/>
            <a:ext cx="1143812"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853440" y="655320"/>
            <a:ext cx="10485120" cy="228600"/>
          </a:xfrm>
          <a:prstGeom prst="rect">
            <a:avLst/>
          </a:prstGeom>
          <a:noFill/>
        </p:spPr>
        <p:txBody>
          <a:bodyPr wrap="square" lIns="0" rIns="0" tIns="0" bIns="0" anchor="t">
            <a:spAutoFit/>
          </a:bodyPr>
          <a:lstStyle/>
          <a:p>
            <a:pPr algn="l">
              <a:lnSpc>
                <a:spcPts val="1320"/>
              </a:lnSpc>
            </a:pPr>
            <a:r>
              <a:rPr sz="1300" b="0" spc="200">
                <a:solidFill>
                  <a:srgbClr val="0B6E8A"/>
                </a:solidFill>
                <a:latin typeface="Courier New"/>
              </a:rPr>
              <a:t>WHAT JUST HAPPENED</a:t>
            </a:r>
          </a:p>
        </p:txBody>
      </p:sp>
      <p:sp>
        <p:nvSpPr>
          <p:cNvPr id="3" name="TextBox 2"/>
          <p:cNvSpPr txBox="1"/>
          <p:nvPr/>
        </p:nvSpPr>
        <p:spPr>
          <a:xfrm>
            <a:off x="853440" y="1066800"/>
            <a:ext cx="9448800" cy="341376"/>
          </a:xfrm>
          <a:prstGeom prst="rect">
            <a:avLst/>
          </a:prstGeom>
          <a:noFill/>
        </p:spPr>
        <p:txBody>
          <a:bodyPr wrap="square" lIns="0" rIns="0" tIns="0" bIns="0" anchor="t">
            <a:spAutoFit/>
          </a:bodyPr>
          <a:lstStyle/>
          <a:p>
            <a:pPr algn="l">
              <a:lnSpc>
                <a:spcPts val="2688"/>
              </a:lnSpc>
            </a:pPr>
            <a:r>
              <a:rPr sz="2400" b="1">
                <a:solidFill>
                  <a:srgbClr val="13212C"/>
                </a:solidFill>
                <a:latin typeface="Arial"/>
              </a:rPr>
              <a:t>You didn't automate the bottleneck. You moved it.</a:t>
            </a:r>
          </a:p>
        </p:txBody>
      </p:sp>
      <p:sp>
        <p:nvSpPr>
          <p:cNvPr id="4" name="TextBox 3"/>
          <p:cNvSpPr txBox="1"/>
          <p:nvPr/>
        </p:nvSpPr>
        <p:spPr>
          <a:xfrm>
            <a:off x="853440" y="1453896"/>
            <a:ext cx="9448800" cy="257175"/>
          </a:xfrm>
          <a:prstGeom prst="rect">
            <a:avLst/>
          </a:prstGeom>
          <a:noFill/>
        </p:spPr>
        <p:txBody>
          <a:bodyPr wrap="square" lIns="0" rIns="0" tIns="0" bIns="0" anchor="t">
            <a:spAutoFit/>
          </a:bodyPr>
          <a:lstStyle/>
          <a:p>
            <a:pPr algn="l">
              <a:lnSpc>
                <a:spcPts val="2025"/>
              </a:lnSpc>
            </a:pPr>
            <a:r>
              <a:rPr sz="1500" b="0">
                <a:solidFill>
                  <a:srgbClr val="566977"/>
                </a:solidFill>
                <a:latin typeface="Arial"/>
              </a:rPr>
              <a:t>Escalations 300 to 2,400 a week. Nurse response 4 hours to 31. The agent did its job.</a:t>
            </a:r>
          </a:p>
        </p:txBody>
      </p:sp>
      <p:sp>
        <p:nvSpPr>
          <p:cNvPr id="5" name="TextBox 4"/>
          <p:cNvSpPr txBox="1"/>
          <p:nvPr/>
        </p:nvSpPr>
        <p:spPr>
          <a:xfrm>
            <a:off x="853440" y="1878711"/>
            <a:ext cx="9448800" cy="341376"/>
          </a:xfrm>
          <a:prstGeom prst="rect">
            <a:avLst/>
          </a:prstGeom>
          <a:noFill/>
        </p:spPr>
        <p:txBody>
          <a:bodyPr wrap="square" lIns="0" rIns="0" tIns="0" bIns="0" anchor="t">
            <a:spAutoFit/>
          </a:bodyPr>
          <a:lstStyle/>
          <a:p>
            <a:pPr algn="l">
              <a:lnSpc>
                <a:spcPts val="2688"/>
              </a:lnSpc>
            </a:pPr>
            <a:r>
              <a:rPr sz="2400" b="1">
                <a:solidFill>
                  <a:srgbClr val="13212C"/>
                </a:solidFill>
                <a:latin typeface="Arial"/>
              </a:rPr>
              <a:t>A tuning parameter can be a strategy decision in disguise.</a:t>
            </a:r>
          </a:p>
        </p:txBody>
      </p:sp>
      <p:sp>
        <p:nvSpPr>
          <p:cNvPr id="6" name="TextBox 5"/>
          <p:cNvSpPr txBox="1"/>
          <p:nvPr/>
        </p:nvSpPr>
        <p:spPr>
          <a:xfrm>
            <a:off x="853440" y="2265807"/>
            <a:ext cx="9448800" cy="257175"/>
          </a:xfrm>
          <a:prstGeom prst="rect">
            <a:avLst/>
          </a:prstGeom>
          <a:noFill/>
        </p:spPr>
        <p:txBody>
          <a:bodyPr wrap="square" lIns="0" rIns="0" tIns="0" bIns="0" anchor="t">
            <a:spAutoFit/>
          </a:bodyPr>
          <a:lstStyle/>
          <a:p>
            <a:pPr algn="l">
              <a:lnSpc>
                <a:spcPts val="2025"/>
              </a:lnSpc>
            </a:pPr>
            <a:r>
              <a:rPr sz="1500" b="0">
                <a:solidFill>
                  <a:srgbClr val="566977"/>
                </a:solidFill>
                <a:latin typeface="Arial"/>
              </a:rPr>
              <a:t>180/110 or 190/115 decides which patients do not get a call.</a:t>
            </a:r>
          </a:p>
        </p:txBody>
      </p:sp>
      <p:sp>
        <p:nvSpPr>
          <p:cNvPr id="7" name="TextBox 6"/>
          <p:cNvSpPr txBox="1"/>
          <p:nvPr/>
        </p:nvSpPr>
        <p:spPr>
          <a:xfrm>
            <a:off x="853440" y="2690622"/>
            <a:ext cx="9448800" cy="341376"/>
          </a:xfrm>
          <a:prstGeom prst="rect">
            <a:avLst/>
          </a:prstGeom>
          <a:noFill/>
        </p:spPr>
        <p:txBody>
          <a:bodyPr wrap="square" lIns="0" rIns="0" tIns="0" bIns="0" anchor="t">
            <a:spAutoFit/>
          </a:bodyPr>
          <a:lstStyle/>
          <a:p>
            <a:pPr algn="l">
              <a:lnSpc>
                <a:spcPts val="2688"/>
              </a:lnSpc>
            </a:pPr>
            <a:r>
              <a:rPr sz="2400" b="1">
                <a:solidFill>
                  <a:srgbClr val="13212C"/>
                </a:solidFill>
                <a:latin typeface="Arial"/>
              </a:rPr>
              <a:t>The same AI lets you respond in weeks.</a:t>
            </a:r>
          </a:p>
        </p:txBody>
      </p:sp>
      <p:sp>
        <p:nvSpPr>
          <p:cNvPr id="8" name="TextBox 7"/>
          <p:cNvSpPr txBox="1"/>
          <p:nvPr/>
        </p:nvSpPr>
        <p:spPr>
          <a:xfrm>
            <a:off x="853440" y="3077718"/>
            <a:ext cx="9448800" cy="257175"/>
          </a:xfrm>
          <a:prstGeom prst="rect">
            <a:avLst/>
          </a:prstGeom>
          <a:noFill/>
        </p:spPr>
        <p:txBody>
          <a:bodyPr wrap="square" lIns="0" rIns="0" tIns="0" bIns="0" anchor="t">
            <a:spAutoFit/>
          </a:bodyPr>
          <a:lstStyle/>
          <a:p>
            <a:pPr algn="l">
              <a:lnSpc>
                <a:spcPts val="2025"/>
              </a:lnSpc>
            </a:pPr>
            <a:r>
              <a:rPr sz="1500" b="0">
                <a:solidFill>
                  <a:srgbClr val="566977"/>
                </a:solidFill>
                <a:latin typeface="Arial"/>
              </a:rPr>
              <a:t>A quarter of logs read, a problem found, a tested triage layer deployed, in seventeen minutes.</a:t>
            </a:r>
          </a:p>
        </p:txBody>
      </p:sp>
      <p:sp>
        <p:nvSpPr>
          <p:cNvPr id="9" name="TextBox 8"/>
          <p:cNvSpPr txBox="1"/>
          <p:nvPr/>
        </p:nvSpPr>
        <p:spPr>
          <a:xfrm>
            <a:off x="853440" y="3502533"/>
            <a:ext cx="9448800" cy="341376"/>
          </a:xfrm>
          <a:prstGeom prst="rect">
            <a:avLst/>
          </a:prstGeom>
          <a:noFill/>
        </p:spPr>
        <p:txBody>
          <a:bodyPr wrap="square" lIns="0" rIns="0" tIns="0" bIns="0" anchor="t">
            <a:spAutoFit/>
          </a:bodyPr>
          <a:lstStyle/>
          <a:p>
            <a:pPr algn="l">
              <a:lnSpc>
                <a:spcPts val="2688"/>
              </a:lnSpc>
            </a:pPr>
            <a:r>
              <a:rPr sz="2400" b="1">
                <a:solidFill>
                  <a:srgbClr val="13212C"/>
                </a:solidFill>
                <a:latin typeface="Arial"/>
              </a:rPr>
              <a:t>A fast fix still gets tested like a clinical decision.</a:t>
            </a:r>
          </a:p>
        </p:txBody>
      </p:sp>
      <p:sp>
        <p:nvSpPr>
          <p:cNvPr id="10" name="TextBox 9"/>
          <p:cNvSpPr txBox="1"/>
          <p:nvPr/>
        </p:nvSpPr>
        <p:spPr>
          <a:xfrm>
            <a:off x="853440" y="3889629"/>
            <a:ext cx="9448800" cy="257175"/>
          </a:xfrm>
          <a:prstGeom prst="rect">
            <a:avLst/>
          </a:prstGeom>
          <a:noFill/>
        </p:spPr>
        <p:txBody>
          <a:bodyPr wrap="square" lIns="0" rIns="0" tIns="0" bIns="0" anchor="t">
            <a:spAutoFit/>
          </a:bodyPr>
          <a:lstStyle/>
          <a:p>
            <a:pPr algn="l">
              <a:lnSpc>
                <a:spcPts val="2025"/>
              </a:lnSpc>
            </a:pPr>
            <a:r>
              <a:rPr sz="1500" b="0">
                <a:solidFill>
                  <a:srgbClr val="566977"/>
                </a:solidFill>
                <a:latin typeface="Arial"/>
              </a:rPr>
              <a:t>Fifteen texts, a nurse's key, and a miss you could point at before any patient met it.</a:t>
            </a:r>
          </a:p>
        </p:txBody>
      </p:sp>
      <p:sp>
        <p:nvSpPr>
          <p:cNvPr id="11" name="TextBox 10"/>
          <p:cNvSpPr txBox="1"/>
          <p:nvPr/>
        </p:nvSpPr>
        <p:spPr>
          <a:xfrm>
            <a:off x="853440" y="4314444"/>
            <a:ext cx="9448800" cy="341376"/>
          </a:xfrm>
          <a:prstGeom prst="rect">
            <a:avLst/>
          </a:prstGeom>
          <a:noFill/>
        </p:spPr>
        <p:txBody>
          <a:bodyPr wrap="square" lIns="0" rIns="0" tIns="0" bIns="0" anchor="t">
            <a:spAutoFit/>
          </a:bodyPr>
          <a:lstStyle/>
          <a:p>
            <a:pPr algn="l">
              <a:lnSpc>
                <a:spcPts val="2688"/>
              </a:lnSpc>
            </a:pPr>
            <a:r>
              <a:rPr sz="2400" b="1">
                <a:solidFill>
                  <a:srgbClr val="13212C"/>
                </a:solidFill>
                <a:latin typeface="Arial"/>
              </a:rPr>
              <a:t>The business model has to pay for what the AI surfaces.</a:t>
            </a:r>
          </a:p>
        </p:txBody>
      </p:sp>
      <p:sp>
        <p:nvSpPr>
          <p:cNvPr id="12" name="TextBox 11"/>
          <p:cNvSpPr txBox="1"/>
          <p:nvPr/>
        </p:nvSpPr>
        <p:spPr>
          <a:xfrm>
            <a:off x="853440" y="4701540"/>
            <a:ext cx="9448800" cy="257175"/>
          </a:xfrm>
          <a:prstGeom prst="rect">
            <a:avLst/>
          </a:prstGeom>
          <a:noFill/>
        </p:spPr>
        <p:txBody>
          <a:bodyPr wrap="square" lIns="0" rIns="0" tIns="0" bIns="0" anchor="t">
            <a:spAutoFit/>
          </a:bodyPr>
          <a:lstStyle/>
          <a:p>
            <a:pPr algn="l">
              <a:lnSpc>
                <a:spcPts val="2025"/>
              </a:lnSpc>
            </a:pPr>
            <a:r>
              <a:rPr sz="1500" b="0">
                <a:solidFill>
                  <a:srgbClr val="566977"/>
                </a:solidFill>
                <a:latin typeface="Arial"/>
              </a:rPr>
              <a:t>$25 per patient per month, flat. Eight times the escalations. The same fee.</a:t>
            </a:r>
          </a:p>
        </p:txBody>
      </p:sp>
      <p:sp>
        <p:nvSpPr>
          <p:cNvPr id="13"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566977"/>
                </a:solidFill>
                <a:latin typeface="Courier New"/>
              </a:rPr>
              <a:t>50–62 min · Debrief</a:t>
            </a:r>
          </a:p>
        </p:txBody>
      </p:sp>
      <p:sp>
        <p:nvSpPr>
          <p:cNvPr id="14"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566977"/>
                </a:solidFill>
                <a:latin typeface="Courier New"/>
              </a:rPr>
              <a:t>13 / 16</a:t>
            </a:r>
          </a:p>
        </p:txBody>
      </p:sp>
      <p:sp>
        <p:nvSpPr>
          <p:cNvPr id="15" name="Rectangle 14"/>
          <p:cNvSpPr/>
          <p:nvPr/>
        </p:nvSpPr>
        <p:spPr>
          <a:xfrm>
            <a:off x="3520440" y="6423660"/>
            <a:ext cx="2639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22496" y="6423660"/>
            <a:ext cx="1055827"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16424" y="6423660"/>
            <a:ext cx="8798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34380" y="6423660"/>
            <a:ext cx="1495755"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8235" y="6423660"/>
            <a:ext cx="703884"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10220" y="6423660"/>
            <a:ext cx="1055827" cy="60960"/>
          </a:xfrm>
          <a:prstGeom prst="rect">
            <a:avLst/>
          </a:prstGeom>
          <a:solidFill>
            <a:srgbClr val="0B6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204147" y="6423660"/>
            <a:ext cx="1143812"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853440" y="655320"/>
            <a:ext cx="10485120" cy="228600"/>
          </a:xfrm>
          <a:prstGeom prst="rect">
            <a:avLst/>
          </a:prstGeom>
          <a:noFill/>
        </p:spPr>
        <p:txBody>
          <a:bodyPr wrap="square" lIns="0" rIns="0" tIns="0" bIns="0" anchor="t">
            <a:spAutoFit/>
          </a:bodyPr>
          <a:lstStyle/>
          <a:p>
            <a:pPr algn="l">
              <a:lnSpc>
                <a:spcPts val="1320"/>
              </a:lnSpc>
            </a:pPr>
            <a:r>
              <a:rPr sz="1300" b="0" spc="200">
                <a:solidFill>
                  <a:srgbClr val="0B6E8A"/>
                </a:solidFill>
                <a:latin typeface="Courier New"/>
              </a:rPr>
              <a:t>THE DESIGN QUESTION UNDERNEATH</a:t>
            </a:r>
          </a:p>
        </p:txBody>
      </p:sp>
      <p:sp>
        <p:nvSpPr>
          <p:cNvPr id="3" name="TextBox 2"/>
          <p:cNvSpPr txBox="1"/>
          <p:nvPr/>
        </p:nvSpPr>
        <p:spPr>
          <a:xfrm>
            <a:off x="853440" y="1066800"/>
            <a:ext cx="10485120" cy="553212"/>
          </a:xfrm>
          <a:prstGeom prst="rect">
            <a:avLst/>
          </a:prstGeom>
          <a:noFill/>
        </p:spPr>
        <p:txBody>
          <a:bodyPr wrap="square" lIns="0" rIns="0" tIns="0" bIns="0" anchor="t">
            <a:spAutoFit/>
          </a:bodyPr>
          <a:lstStyle/>
          <a:p>
            <a:pPr algn="l">
              <a:lnSpc>
                <a:spcPts val="4118"/>
              </a:lnSpc>
            </a:pPr>
            <a:r>
              <a:rPr sz="3950" b="1">
                <a:solidFill>
                  <a:srgbClr val="13212C"/>
                </a:solidFill>
                <a:latin typeface="Arial"/>
              </a:rPr>
              <a:t>Who runs the loop?</a:t>
            </a:r>
          </a:p>
        </p:txBody>
      </p:sp>
      <p:graphicFrame>
        <p:nvGraphicFramePr>
          <p:cNvPr id="4" name="Table 3"/>
          <p:cNvGraphicFramePr>
            <a:graphicFrameLocks noGrp="1"/>
          </p:cNvGraphicFramePr>
          <p:nvPr/>
        </p:nvGraphicFramePr>
        <p:xfrm>
          <a:off x="853440" y="1848612"/>
          <a:ext cx="10485118" cy="3560445"/>
        </p:xfrm>
        <a:graphic>
          <a:graphicData uri="http://schemas.openxmlformats.org/drawingml/2006/table">
            <a:tbl>
              <a:tblPr firstRow="1">
                <a:tableStyleId>{2D5ABB26-0587-4C30-8999-92F81FD0307C}</a:tableStyleId>
              </a:tblPr>
              <a:tblGrid>
                <a:gridCol w="2306726"/>
                <a:gridCol w="4089196"/>
                <a:gridCol w="4089196"/>
              </a:tblGrid>
              <a:tr h="274320">
                <a:tc>
                  <a:txBody>
                    <a:bodyPr wrap="square"/>
                    <a:lstStyle/>
                    <a:p>
                      <a:pPr algn="l"/>
                      <a:r>
                        <a:rPr sz="1200" b="0">
                          <a:solidFill>
                            <a:srgbClr val="566977"/>
                          </a:solidFill>
                          <a:latin typeface="Courier New"/>
                        </a:rPr>
                        <a:t/>
                      </a:r>
                    </a:p>
                  </a:txBody>
                  <a:tcPr marL="137160" marR="137160" marT="68580" marB="68580" anchor="ctr">
                    <a:lnL w="0">
                      <a:noFill/>
                    </a:lnL>
                    <a:lnR w="0">
                      <a:noFill/>
                    </a:lnR>
                    <a:lnT w="0">
                      <a:noFill/>
                    </a:lnT>
                    <a:lnB w="19050">
                      <a:solidFill>
                        <a:srgbClr val="13212C"/>
                      </a:solidFill>
                    </a:lnB>
                    <a:noFill/>
                  </a:tcPr>
                </a:tc>
                <a:tc>
                  <a:txBody>
                    <a:bodyPr wrap="square"/>
                    <a:lstStyle/>
                    <a:p>
                      <a:pPr algn="l"/>
                      <a:r>
                        <a:rPr sz="1200" b="0">
                          <a:solidFill>
                            <a:srgbClr val="566977"/>
                          </a:solidFill>
                          <a:latin typeface="Courier New"/>
                        </a:rPr>
                        <a:t>TOOLS HANDED TO THE CUSTOMER</a:t>
                      </a:r>
                    </a:p>
                  </a:txBody>
                  <a:tcPr marL="137160" marR="137160" marT="68580" marB="68580" anchor="ctr">
                    <a:lnL w="0">
                      <a:noFill/>
                    </a:lnL>
                    <a:lnR w="0">
                      <a:noFill/>
                    </a:lnR>
                    <a:lnT w="0">
                      <a:noFill/>
                    </a:lnT>
                    <a:lnB w="19050">
                      <a:solidFill>
                        <a:srgbClr val="13212C"/>
                      </a:solidFill>
                    </a:lnB>
                    <a:noFill/>
                  </a:tcPr>
                </a:tc>
                <a:tc>
                  <a:txBody>
                    <a:bodyPr wrap="square"/>
                    <a:lstStyle/>
                    <a:p>
                      <a:pPr algn="l"/>
                      <a:r>
                        <a:rPr sz="1200" b="0">
                          <a:solidFill>
                            <a:srgbClr val="566977"/>
                          </a:solidFill>
                          <a:latin typeface="Courier New"/>
                        </a:rPr>
                        <a:t>AN AGENT YOU HOST</a:t>
                      </a:r>
                    </a:p>
                  </a:txBody>
                  <a:tcPr marL="137160" marR="137160" marT="68580" marB="68580" anchor="ctr">
                    <a:lnL w="0">
                      <a:noFill/>
                    </a:lnL>
                    <a:lnR w="0">
                      <a:noFill/>
                    </a:lnR>
                    <a:lnT w="0">
                      <a:noFill/>
                    </a:lnT>
                    <a:lnB w="19050">
                      <a:solidFill>
                        <a:srgbClr val="13212C"/>
                      </a:solidFill>
                    </a:lnB>
                    <a:noFill/>
                  </a:tcPr>
                </a:tc>
              </a:tr>
              <a:tr h="466725">
                <a:tc>
                  <a:txBody>
                    <a:bodyPr wrap="square"/>
                    <a:lstStyle/>
                    <a:p>
                      <a:pPr algn="l"/>
                      <a:r>
                        <a:rPr sz="1500" b="1">
                          <a:solidFill>
                            <a:srgbClr val="13212C"/>
                          </a:solidFill>
                          <a:latin typeface="Arial"/>
                        </a:rPr>
                        <a:t>Who runs it</a:t>
                      </a:r>
                    </a:p>
                  </a:txBody>
                  <a:tcPr marL="137160" marR="137160" marT="68580" marB="68580" anchor="ctr">
                    <a:lnL w="0">
                      <a:noFill/>
                    </a:lnL>
                    <a:lnR w="0">
                      <a:noFill/>
                    </a:lnR>
                    <a:lnT w="0">
                      <a:noFill/>
                    </a:lnT>
                    <a:lnB w="9525">
                      <a:solidFill>
                        <a:srgbClr val="CBD5DC"/>
                      </a:solidFill>
                    </a:lnB>
                    <a:noFill/>
                  </a:tcPr>
                </a:tc>
                <a:tc>
                  <a:txBody>
                    <a:bodyPr wrap="square"/>
                    <a:lstStyle/>
                    <a:p>
                      <a:pPr algn="l"/>
                      <a:r>
                        <a:rPr sz="1500" b="0">
                          <a:solidFill>
                            <a:srgbClr val="13212C"/>
                          </a:solidFill>
                          <a:latin typeface="Arial"/>
                        </a:rPr>
                        <a:t>Their agent, their prompt, their model</a:t>
                      </a:r>
                    </a:p>
                  </a:txBody>
                  <a:tcPr marL="137160" marR="137160" marT="68580" marB="68580" anchor="ctr">
                    <a:lnL w="0">
                      <a:noFill/>
                    </a:lnL>
                    <a:lnR w="0">
                      <a:noFill/>
                    </a:lnR>
                    <a:lnT w="0">
                      <a:noFill/>
                    </a:lnT>
                    <a:lnB w="9525">
                      <a:solidFill>
                        <a:srgbClr val="CBD5DC"/>
                      </a:solidFill>
                    </a:lnB>
                    <a:noFill/>
                  </a:tcPr>
                </a:tc>
                <a:tc>
                  <a:txBody>
                    <a:bodyPr wrap="square"/>
                    <a:lstStyle/>
                    <a:p>
                      <a:pPr algn="l"/>
                      <a:r>
                        <a:rPr sz="1500" b="0">
                          <a:solidFill>
                            <a:srgbClr val="13212C"/>
                          </a:solidFill>
                          <a:latin typeface="Arial"/>
                        </a:rPr>
                        <a:t>You</a:t>
                      </a:r>
                    </a:p>
                  </a:txBody>
                  <a:tcPr marL="137160" marR="137160" marT="68580" marB="68580" anchor="ctr">
                    <a:lnL w="0">
                      <a:noFill/>
                    </a:lnL>
                    <a:lnR w="0">
                      <a:noFill/>
                    </a:lnR>
                    <a:lnT w="0">
                      <a:noFill/>
                    </a:lnT>
                    <a:lnB w="9525">
                      <a:solidFill>
                        <a:srgbClr val="CBD5DC"/>
                      </a:solidFill>
                    </a:lnB>
                    <a:noFill/>
                  </a:tcPr>
                </a:tc>
              </a:tr>
              <a:tr h="704850">
                <a:tc>
                  <a:txBody>
                    <a:bodyPr wrap="square"/>
                    <a:lstStyle/>
                    <a:p>
                      <a:pPr algn="l"/>
                      <a:r>
                        <a:rPr sz="1500" b="1">
                          <a:solidFill>
                            <a:srgbClr val="13212C"/>
                          </a:solidFill>
                          <a:latin typeface="Arial"/>
                        </a:rPr>
                        <a:t>What you see</a:t>
                      </a:r>
                    </a:p>
                  </a:txBody>
                  <a:tcPr marL="137160" marR="137160" marT="68580" marB="68580" anchor="ctr">
                    <a:lnL w="0">
                      <a:noFill/>
                    </a:lnL>
                    <a:lnR w="0">
                      <a:noFill/>
                    </a:lnR>
                    <a:lnT w="0">
                      <a:noFill/>
                    </a:lnT>
                    <a:lnB w="9525">
                      <a:solidFill>
                        <a:srgbClr val="CBD5DC"/>
                      </a:solidFill>
                    </a:lnB>
                    <a:noFill/>
                  </a:tcPr>
                </a:tc>
                <a:tc>
                  <a:txBody>
                    <a:bodyPr wrap="square"/>
                    <a:lstStyle/>
                    <a:p>
                      <a:pPr algn="l"/>
                      <a:r>
                        <a:rPr sz="1500" b="0">
                          <a:solidFill>
                            <a:srgbClr val="13212C"/>
                          </a:solidFill>
                          <a:latin typeface="Arial"/>
                        </a:rPr>
                        <a:t>Tool calls: name, arguments, status</a:t>
                      </a:r>
                    </a:p>
                  </a:txBody>
                  <a:tcPr marL="137160" marR="137160" marT="68580" marB="68580" anchor="ctr">
                    <a:lnL w="0">
                      <a:noFill/>
                    </a:lnL>
                    <a:lnR w="0">
                      <a:noFill/>
                    </a:lnR>
                    <a:lnT w="0">
                      <a:noFill/>
                    </a:lnT>
                    <a:lnB w="9525">
                      <a:solidFill>
                        <a:srgbClr val="CBD5DC"/>
                      </a:solidFill>
                    </a:lnB>
                    <a:noFill/>
                  </a:tcPr>
                </a:tc>
                <a:tc>
                  <a:txBody>
                    <a:bodyPr wrap="square"/>
                    <a:lstStyle/>
                    <a:p>
                      <a:pPr algn="l"/>
                      <a:r>
                        <a:rPr sz="1500" b="0">
                          <a:solidFill>
                            <a:srgbClr val="13212C"/>
                          </a:solidFill>
                          <a:latin typeface="Arial"/>
                        </a:rPr>
                        <a:t>Every word, including what you could not do</a:t>
                      </a:r>
                    </a:p>
                  </a:txBody>
                  <a:tcPr marL="137160" marR="137160" marT="68580" marB="68580" anchor="ctr">
                    <a:lnL w="0">
                      <a:noFill/>
                    </a:lnL>
                    <a:lnR w="0">
                      <a:noFill/>
                    </a:lnR>
                    <a:lnT w="0">
                      <a:noFill/>
                    </a:lnT>
                    <a:lnB w="9525">
                      <a:solidFill>
                        <a:srgbClr val="CBD5DC"/>
                      </a:solidFill>
                    </a:lnB>
                    <a:noFill/>
                  </a:tcPr>
                </a:tc>
              </a:tr>
              <a:tr h="704850">
                <a:tc>
                  <a:txBody>
                    <a:bodyPr wrap="square"/>
                    <a:lstStyle/>
                    <a:p>
                      <a:pPr algn="l"/>
                      <a:r>
                        <a:rPr sz="1500" b="1">
                          <a:solidFill>
                            <a:srgbClr val="13212C"/>
                          </a:solidFill>
                          <a:latin typeface="Arial"/>
                        </a:rPr>
                        <a:t>Guardrails</a:t>
                      </a:r>
                    </a:p>
                  </a:txBody>
                  <a:tcPr marL="137160" marR="137160" marT="68580" marB="68580" anchor="ctr">
                    <a:lnL w="0">
                      <a:noFill/>
                    </a:lnL>
                    <a:lnR w="0">
                      <a:noFill/>
                    </a:lnR>
                    <a:lnT w="0">
                      <a:noFill/>
                    </a:lnT>
                    <a:lnB w="9525">
                      <a:solidFill>
                        <a:srgbClr val="CBD5DC"/>
                      </a:solidFill>
                    </a:lnB>
                    <a:noFill/>
                  </a:tcPr>
                </a:tc>
                <a:tc>
                  <a:txBody>
                    <a:bodyPr wrap="square"/>
                    <a:lstStyle/>
                    <a:p>
                      <a:pPr algn="l"/>
                      <a:r>
                        <a:rPr sz="1500" b="0">
                          <a:solidFill>
                            <a:srgbClr val="13212C"/>
                          </a:solidFill>
                          <a:latin typeface="Arial"/>
                        </a:rPr>
                        <a:t>You can refuse inside a tool, not shape what is said around it</a:t>
                      </a:r>
                    </a:p>
                  </a:txBody>
                  <a:tcPr marL="137160" marR="137160" marT="68580" marB="68580" anchor="ctr">
                    <a:lnL w="0">
                      <a:noFill/>
                    </a:lnL>
                    <a:lnR w="0">
                      <a:noFill/>
                    </a:lnR>
                    <a:lnT w="0">
                      <a:noFill/>
                    </a:lnT>
                    <a:lnB w="9525">
                      <a:solidFill>
                        <a:srgbClr val="CBD5DC"/>
                      </a:solidFill>
                    </a:lnB>
                    <a:noFill/>
                  </a:tcPr>
                </a:tc>
                <a:tc>
                  <a:txBody>
                    <a:bodyPr wrap="square"/>
                    <a:lstStyle/>
                    <a:p>
                      <a:pPr algn="l"/>
                      <a:r>
                        <a:rPr sz="1500" b="0">
                          <a:solidFill>
                            <a:srgbClr val="13212C"/>
                          </a:solidFill>
                          <a:latin typeface="Arial"/>
                        </a:rPr>
                        <a:t>Yours, end to end</a:t>
                      </a:r>
                    </a:p>
                  </a:txBody>
                  <a:tcPr marL="137160" marR="137160" marT="68580" marB="68580" anchor="ctr">
                    <a:lnL w="0">
                      <a:noFill/>
                    </a:lnL>
                    <a:lnR w="0">
                      <a:noFill/>
                    </a:lnR>
                    <a:lnT w="0">
                      <a:noFill/>
                    </a:lnT>
                    <a:lnB w="9525">
                      <a:solidFill>
                        <a:srgbClr val="CBD5DC"/>
                      </a:solidFill>
                    </a:lnB>
                    <a:noFill/>
                  </a:tcPr>
                </a:tc>
              </a:tr>
              <a:tr h="704850">
                <a:tc>
                  <a:txBody>
                    <a:bodyPr wrap="square"/>
                    <a:lstStyle/>
                    <a:p>
                      <a:pPr algn="l"/>
                      <a:r>
                        <a:rPr sz="1500" b="1">
                          <a:solidFill>
                            <a:srgbClr val="13212C"/>
                          </a:solidFill>
                          <a:latin typeface="Arial"/>
                        </a:rPr>
                        <a:t>Who pays, who is liable</a:t>
                      </a:r>
                    </a:p>
                  </a:txBody>
                  <a:tcPr marL="137160" marR="137160" marT="68580" marB="68580" anchor="ctr">
                    <a:lnL w="0">
                      <a:noFill/>
                    </a:lnL>
                    <a:lnR w="0">
                      <a:noFill/>
                    </a:lnR>
                    <a:lnT w="0">
                      <a:noFill/>
                    </a:lnT>
                    <a:lnB w="9525">
                      <a:solidFill>
                        <a:srgbClr val="CBD5DC"/>
                      </a:solidFill>
                    </a:lnB>
                    <a:noFill/>
                  </a:tcPr>
                </a:tc>
                <a:tc>
                  <a:txBody>
                    <a:bodyPr wrap="square"/>
                    <a:lstStyle/>
                    <a:p>
                      <a:pPr algn="l"/>
                      <a:r>
                        <a:rPr sz="1500" b="0">
                          <a:solidFill>
                            <a:srgbClr val="13212C"/>
                          </a:solidFill>
                          <a:latin typeface="Arial"/>
                        </a:rPr>
                        <a:t>They pay. Liability is shared and unclear</a:t>
                      </a:r>
                    </a:p>
                  </a:txBody>
                  <a:tcPr marL="137160" marR="137160" marT="68580" marB="68580" anchor="ctr">
                    <a:lnL w="0">
                      <a:noFill/>
                    </a:lnL>
                    <a:lnR w="0">
                      <a:noFill/>
                    </a:lnR>
                    <a:lnT w="0">
                      <a:noFill/>
                    </a:lnT>
                    <a:lnB w="9525">
                      <a:solidFill>
                        <a:srgbClr val="CBD5DC"/>
                      </a:solidFill>
                    </a:lnB>
                    <a:noFill/>
                  </a:tcPr>
                </a:tc>
                <a:tc>
                  <a:txBody>
                    <a:bodyPr wrap="square"/>
                    <a:lstStyle/>
                    <a:p>
                      <a:pPr algn="l"/>
                      <a:r>
                        <a:rPr sz="1500" b="0">
                          <a:solidFill>
                            <a:srgbClr val="13212C"/>
                          </a:solidFill>
                          <a:latin typeface="Arial"/>
                        </a:rPr>
                        <a:t>You pay. Liability is yours and clear</a:t>
                      </a:r>
                    </a:p>
                  </a:txBody>
                  <a:tcPr marL="137160" marR="137160" marT="68580" marB="68580" anchor="ctr">
                    <a:lnL w="0">
                      <a:noFill/>
                    </a:lnL>
                    <a:lnR w="0">
                      <a:noFill/>
                    </a:lnR>
                    <a:lnT w="0">
                      <a:noFill/>
                    </a:lnT>
                    <a:lnB w="9525">
                      <a:solidFill>
                        <a:srgbClr val="CBD5DC"/>
                      </a:solidFill>
                    </a:lnB>
                    <a:noFill/>
                  </a:tcPr>
                </a:tc>
              </a:tr>
              <a:tr h="704850">
                <a:tc>
                  <a:txBody>
                    <a:bodyPr wrap="square"/>
                    <a:lstStyle/>
                    <a:p>
                      <a:pPr algn="l"/>
                      <a:r>
                        <a:rPr sz="1500" b="1">
                          <a:solidFill>
                            <a:srgbClr val="13212C"/>
                          </a:solidFill>
                          <a:latin typeface="Arial"/>
                        </a:rPr>
                        <a:t>At Northline</a:t>
                      </a:r>
                    </a:p>
                  </a:txBody>
                  <a:tcPr marL="137160" marR="137160" marT="68580" marB="68580" anchor="ctr">
                    <a:lnL w="0">
                      <a:noFill/>
                    </a:lnL>
                    <a:lnR w="0">
                      <a:noFill/>
                    </a:lnR>
                    <a:lnT w="0">
                      <a:noFill/>
                    </a:lnT>
                    <a:lnB w="9525">
                      <a:solidFill>
                        <a:srgbClr val="CBD5DC"/>
                      </a:solidFill>
                    </a:lnB>
                    <a:noFill/>
                  </a:tcPr>
                </a:tc>
                <a:tc>
                  <a:txBody>
                    <a:bodyPr wrap="square"/>
                    <a:lstStyle/>
                    <a:p>
                      <a:pPr algn="l"/>
                      <a:r>
                        <a:rPr sz="1500" b="0">
                          <a:solidFill>
                            <a:srgbClr val="13212C"/>
                          </a:solidFill>
                          <a:latin typeface="Arial"/>
                        </a:rPr>
                        <a:t>Prairie's analyst. She saw 78% and 2,400 flags, and never saw the 31-hour wait</a:t>
                      </a:r>
                    </a:p>
                  </a:txBody>
                  <a:tcPr marL="137160" marR="137160" marT="68580" marB="68580" anchor="ctr">
                    <a:lnL w="0">
                      <a:noFill/>
                    </a:lnL>
                    <a:lnR w="0">
                      <a:noFill/>
                    </a:lnR>
                    <a:lnT w="0">
                      <a:noFill/>
                    </a:lnT>
                    <a:lnB w="9525">
                      <a:solidFill>
                        <a:srgbClr val="CBD5DC"/>
                      </a:solidFill>
                    </a:lnB>
                    <a:noFill/>
                  </a:tcPr>
                </a:tc>
                <a:tc>
                  <a:txBody>
                    <a:bodyPr wrap="square"/>
                    <a:lstStyle/>
                    <a:p>
                      <a:pPr algn="l"/>
                      <a:r>
                        <a:rPr sz="1500" b="0">
                          <a:solidFill>
                            <a:srgbClr val="13212C"/>
                          </a:solidFill>
                          <a:latin typeface="Arial"/>
                        </a:rPr>
                        <a:t>Patients by text. Every unmet need was in the logs</a:t>
                      </a:r>
                    </a:p>
                  </a:txBody>
                  <a:tcPr marL="137160" marR="137160" marT="68580" marB="68580" anchor="ctr">
                    <a:lnL w="0">
                      <a:noFill/>
                    </a:lnL>
                    <a:lnR w="0">
                      <a:noFill/>
                    </a:lnR>
                    <a:lnT w="0">
                      <a:noFill/>
                    </a:lnT>
                    <a:lnB w="9525">
                      <a:solidFill>
                        <a:srgbClr val="CBD5DC"/>
                      </a:solidFill>
                    </a:lnB>
                    <a:noFill/>
                  </a:tcPr>
                </a:tc>
              </a:tr>
            </a:tbl>
          </a:graphicData>
        </a:graphic>
      </p:graphicFrame>
      <p:sp>
        <p:nvSpPr>
          <p:cNvPr id="5"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566977"/>
                </a:solidFill>
                <a:latin typeface="Courier New"/>
              </a:rPr>
              <a:t>50–62 min · Debrief</a:t>
            </a:r>
          </a:p>
        </p:txBody>
      </p:sp>
      <p:sp>
        <p:nvSpPr>
          <p:cNvPr id="6"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566977"/>
                </a:solidFill>
                <a:latin typeface="Courier New"/>
              </a:rPr>
              <a:t>14 / 16</a:t>
            </a:r>
          </a:p>
        </p:txBody>
      </p:sp>
      <p:sp>
        <p:nvSpPr>
          <p:cNvPr id="7" name="Rectangle 6"/>
          <p:cNvSpPr/>
          <p:nvPr/>
        </p:nvSpPr>
        <p:spPr>
          <a:xfrm>
            <a:off x="3520440" y="6423660"/>
            <a:ext cx="2639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22496" y="6423660"/>
            <a:ext cx="1055827"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16424" y="6423660"/>
            <a:ext cx="8798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34380" y="6423660"/>
            <a:ext cx="1495755"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68235" y="6423660"/>
            <a:ext cx="703884"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10220" y="6423660"/>
            <a:ext cx="1055827" cy="60960"/>
          </a:xfrm>
          <a:prstGeom prst="rect">
            <a:avLst/>
          </a:prstGeom>
          <a:solidFill>
            <a:srgbClr val="0B6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204147" y="6423660"/>
            <a:ext cx="1143812" cy="60960"/>
          </a:xfrm>
          <a:prstGeom prst="rect">
            <a:avLst/>
          </a:prstGeom>
          <a:solidFill>
            <a:srgbClr val="CB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3212C"/>
        </a:solidFill>
        <a:effectLst/>
      </p:bgPr>
    </p:bg>
    <p:spTree>
      <p:nvGrpSpPr>
        <p:cNvPr id="1" name=""/>
        <p:cNvGrpSpPr/>
        <p:nvPr/>
      </p:nvGrpSpPr>
      <p:grpSpPr/>
      <p:sp>
        <p:nvSpPr>
          <p:cNvPr id="2" name="TextBox 1"/>
          <p:cNvSpPr txBox="1"/>
          <p:nvPr/>
        </p:nvSpPr>
        <p:spPr>
          <a:xfrm>
            <a:off x="853440" y="2258568"/>
            <a:ext cx="10485120" cy="228600"/>
          </a:xfrm>
          <a:prstGeom prst="rect">
            <a:avLst/>
          </a:prstGeom>
          <a:noFill/>
        </p:spPr>
        <p:txBody>
          <a:bodyPr wrap="square" lIns="0" rIns="0" tIns="0" bIns="0" anchor="t">
            <a:spAutoFit/>
          </a:bodyPr>
          <a:lstStyle/>
          <a:p>
            <a:pPr algn="l">
              <a:lnSpc>
                <a:spcPts val="1320"/>
              </a:lnSpc>
            </a:pPr>
            <a:r>
              <a:rPr sz="1300" b="0" spc="200">
                <a:solidFill>
                  <a:srgbClr val="6CC3DB"/>
                </a:solidFill>
                <a:latin typeface="Courier New"/>
              </a:rPr>
              <a:t>BRING IT HOME</a:t>
            </a:r>
          </a:p>
        </p:txBody>
      </p:sp>
      <p:sp>
        <p:nvSpPr>
          <p:cNvPr id="3" name="TextBox 2"/>
          <p:cNvSpPr txBox="1"/>
          <p:nvPr/>
        </p:nvSpPr>
        <p:spPr>
          <a:xfrm>
            <a:off x="853440" y="2670048"/>
            <a:ext cx="10485120" cy="1609344"/>
          </a:xfrm>
          <a:prstGeom prst="rect">
            <a:avLst/>
          </a:prstGeom>
          <a:noFill/>
        </p:spPr>
        <p:txBody>
          <a:bodyPr wrap="square" lIns="0" rIns="0" tIns="0" bIns="0" anchor="t">
            <a:spAutoFit/>
          </a:bodyPr>
          <a:lstStyle/>
          <a:p>
            <a:pPr algn="l">
              <a:lnSpc>
                <a:spcPts val="5990"/>
              </a:lnSpc>
            </a:pPr>
            <a:r>
              <a:rPr sz="5750" b="1">
                <a:solidFill>
                  <a:srgbClr val="F2F5F7"/>
                </a:solidFill>
                <a:latin typeface="Arial"/>
              </a:rPr>
              <a:t>Where is this bottleneck hiding in your market?</a:t>
            </a:r>
          </a:p>
        </p:txBody>
      </p:sp>
      <p:sp>
        <p:nvSpPr>
          <p:cNvPr id="4"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9DB0BD"/>
                </a:solidFill>
                <a:latin typeface="Courier New"/>
              </a:rPr>
              <a:t>50–62 min · Debrief</a:t>
            </a:r>
          </a:p>
        </p:txBody>
      </p:sp>
      <p:sp>
        <p:nvSpPr>
          <p:cNvPr id="5"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9DB0BD"/>
                </a:solidFill>
                <a:latin typeface="Courier New"/>
              </a:rPr>
              <a:t>15 / 16</a:t>
            </a:r>
          </a:p>
        </p:txBody>
      </p:sp>
      <p:sp>
        <p:nvSpPr>
          <p:cNvPr id="6" name="Rectangle 5"/>
          <p:cNvSpPr/>
          <p:nvPr/>
        </p:nvSpPr>
        <p:spPr>
          <a:xfrm>
            <a:off x="3520440" y="6423660"/>
            <a:ext cx="263956" cy="60960"/>
          </a:xfrm>
          <a:prstGeom prst="rect">
            <a:avLst/>
          </a:prstGeom>
          <a:solidFill>
            <a:srgbClr val="9DB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22496" y="6423660"/>
            <a:ext cx="1055827" cy="60960"/>
          </a:xfrm>
          <a:prstGeom prst="rect">
            <a:avLst/>
          </a:prstGeom>
          <a:solidFill>
            <a:srgbClr val="9DB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16424" y="6423660"/>
            <a:ext cx="879856" cy="60960"/>
          </a:xfrm>
          <a:prstGeom prst="rect">
            <a:avLst/>
          </a:prstGeom>
          <a:solidFill>
            <a:srgbClr val="9DB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34380" y="6423660"/>
            <a:ext cx="1495755" cy="60960"/>
          </a:xfrm>
          <a:prstGeom prst="rect">
            <a:avLst/>
          </a:prstGeom>
          <a:solidFill>
            <a:srgbClr val="9DB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8235" y="6423660"/>
            <a:ext cx="703884" cy="60960"/>
          </a:xfrm>
          <a:prstGeom prst="rect">
            <a:avLst/>
          </a:prstGeom>
          <a:solidFill>
            <a:srgbClr val="9DB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0220" y="6423660"/>
            <a:ext cx="1055827" cy="60960"/>
          </a:xfrm>
          <a:prstGeom prst="rect">
            <a:avLst/>
          </a:prstGeom>
          <a:solidFill>
            <a:srgbClr val="6CC3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204147" y="6423660"/>
            <a:ext cx="1143812" cy="60960"/>
          </a:xfrm>
          <a:prstGeom prst="rect">
            <a:avLst/>
          </a:prstGeom>
          <a:solidFill>
            <a:srgbClr val="2A3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853440" y="655320"/>
            <a:ext cx="10485120" cy="228600"/>
          </a:xfrm>
          <a:prstGeom prst="rect">
            <a:avLst/>
          </a:prstGeom>
          <a:noFill/>
        </p:spPr>
        <p:txBody>
          <a:bodyPr wrap="square" lIns="0" rIns="0" tIns="0" bIns="0" anchor="t">
            <a:spAutoFit/>
          </a:bodyPr>
          <a:lstStyle/>
          <a:p>
            <a:pPr algn="l">
              <a:lnSpc>
                <a:spcPts val="1320"/>
              </a:lnSpc>
            </a:pPr>
            <a:r>
              <a:rPr sz="1300" b="0" spc="200">
                <a:solidFill>
                  <a:srgbClr val="0B6E8A"/>
                </a:solidFill>
                <a:latin typeface="Courier New"/>
              </a:rPr>
              <a:t>TAKE IT HOME</a:t>
            </a:r>
          </a:p>
        </p:txBody>
      </p:sp>
      <p:sp>
        <p:nvSpPr>
          <p:cNvPr id="3" name="TextBox 2"/>
          <p:cNvSpPr txBox="1"/>
          <p:nvPr/>
        </p:nvSpPr>
        <p:spPr>
          <a:xfrm>
            <a:off x="853440" y="1066800"/>
            <a:ext cx="10485120" cy="553212"/>
          </a:xfrm>
          <a:prstGeom prst="rect">
            <a:avLst/>
          </a:prstGeom>
          <a:noFill/>
        </p:spPr>
        <p:txBody>
          <a:bodyPr wrap="square" lIns="0" rIns="0" tIns="0" bIns="0" anchor="t">
            <a:spAutoFit/>
          </a:bodyPr>
          <a:lstStyle/>
          <a:p>
            <a:pPr algn="l">
              <a:lnSpc>
                <a:spcPts val="4118"/>
              </a:lnSpc>
            </a:pPr>
            <a:r>
              <a:rPr sz="3950" b="1">
                <a:solidFill>
                  <a:srgbClr val="13212C"/>
                </a:solidFill>
                <a:latin typeface="Arial"/>
              </a:rPr>
              <a:t>Run it on your own company</a:t>
            </a:r>
          </a:p>
        </p:txBody>
      </p:sp>
      <p:sp>
        <p:nvSpPr>
          <p:cNvPr id="4" name="Rounded Rectangle 3"/>
          <p:cNvSpPr/>
          <p:nvPr/>
        </p:nvSpPr>
        <p:spPr>
          <a:xfrm>
            <a:off x="853440" y="1848612"/>
            <a:ext cx="3312160" cy="1885188"/>
          </a:xfrm>
          <a:prstGeom prst="roundRect">
            <a:avLst>
              <a:gd name="adj" fmla="val 4042"/>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2520" y="2077212"/>
            <a:ext cx="2794000" cy="160020"/>
          </a:xfrm>
          <a:prstGeom prst="rect">
            <a:avLst/>
          </a:prstGeom>
          <a:noFill/>
        </p:spPr>
        <p:txBody>
          <a:bodyPr wrap="square" lIns="0" rIns="0" tIns="0" bIns="0" anchor="t">
            <a:spAutoFit/>
          </a:bodyPr>
          <a:lstStyle/>
          <a:p>
            <a:pPr algn="l">
              <a:lnSpc>
                <a:spcPts val="1260"/>
              </a:lnSpc>
            </a:pPr>
            <a:r>
              <a:rPr sz="1250" b="0" spc="150">
                <a:solidFill>
                  <a:srgbClr val="0B6E8A"/>
                </a:solidFill>
                <a:latin typeface="Courier New"/>
              </a:rPr>
              <a:t>START CLEAN</a:t>
            </a:r>
          </a:p>
        </p:txBody>
      </p:sp>
      <p:sp>
        <p:nvSpPr>
          <p:cNvPr id="6" name="TextBox 5"/>
          <p:cNvSpPr txBox="1"/>
          <p:nvPr/>
        </p:nvSpPr>
        <p:spPr>
          <a:xfrm>
            <a:off x="1112520" y="2343912"/>
            <a:ext cx="2794000" cy="267462"/>
          </a:xfrm>
          <a:prstGeom prst="rect">
            <a:avLst/>
          </a:prstGeom>
          <a:noFill/>
        </p:spPr>
        <p:txBody>
          <a:bodyPr wrap="square" lIns="0" rIns="0" tIns="0" bIns="0" anchor="t">
            <a:spAutoFit/>
          </a:bodyPr>
          <a:lstStyle/>
          <a:p>
            <a:pPr algn="l">
              <a:lnSpc>
                <a:spcPts val="2106"/>
              </a:lnSpc>
            </a:pPr>
            <a:r>
              <a:rPr sz="1550" b="0">
                <a:solidFill>
                  <a:srgbClr val="13212C"/>
                </a:solidFill>
                <a:latin typeface="Courier New"/>
              </a:rPr>
              <a:t>/new-experience</a:t>
            </a:r>
          </a:p>
        </p:txBody>
      </p:sp>
      <p:sp>
        <p:nvSpPr>
          <p:cNvPr id="7" name="TextBox 6"/>
          <p:cNvSpPr txBox="1"/>
          <p:nvPr/>
        </p:nvSpPr>
        <p:spPr>
          <a:xfrm>
            <a:off x="1112520" y="2702814"/>
            <a:ext cx="2794000" cy="534924"/>
          </a:xfrm>
          <a:prstGeom prst="rect">
            <a:avLst/>
          </a:prstGeom>
          <a:noFill/>
        </p:spPr>
        <p:txBody>
          <a:bodyPr wrap="square" lIns="0" rIns="0" tIns="0" bIns="0" anchor="t">
            <a:spAutoFit/>
          </a:bodyPr>
          <a:lstStyle/>
          <a:p>
            <a:pPr algn="l">
              <a:lnSpc>
                <a:spcPts val="2106"/>
              </a:lnSpc>
            </a:pPr>
            <a:r>
              <a:rPr sz="1550" b="0">
                <a:solidFill>
                  <a:srgbClr val="566977"/>
                </a:solidFill>
                <a:latin typeface="Arial"/>
              </a:rPr>
              <a:t>An empty copy: both front doors, the loop, no Northline.</a:t>
            </a:r>
          </a:p>
        </p:txBody>
      </p:sp>
      <p:sp>
        <p:nvSpPr>
          <p:cNvPr id="8" name="Rounded Rectangle 7"/>
          <p:cNvSpPr/>
          <p:nvPr/>
        </p:nvSpPr>
        <p:spPr>
          <a:xfrm>
            <a:off x="4439920" y="1848612"/>
            <a:ext cx="3312160" cy="1885188"/>
          </a:xfrm>
          <a:prstGeom prst="roundRect">
            <a:avLst>
              <a:gd name="adj" fmla="val 4042"/>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99000" y="2077212"/>
            <a:ext cx="2794000" cy="160020"/>
          </a:xfrm>
          <a:prstGeom prst="rect">
            <a:avLst/>
          </a:prstGeom>
          <a:noFill/>
        </p:spPr>
        <p:txBody>
          <a:bodyPr wrap="square" lIns="0" rIns="0" tIns="0" bIns="0" anchor="t">
            <a:spAutoFit/>
          </a:bodyPr>
          <a:lstStyle/>
          <a:p>
            <a:pPr algn="l">
              <a:lnSpc>
                <a:spcPts val="1260"/>
              </a:lnSpc>
            </a:pPr>
            <a:r>
              <a:rPr sz="1250" b="0" spc="150">
                <a:solidFill>
                  <a:srgbClr val="0B6E8A"/>
                </a:solidFill>
                <a:latin typeface="Courier New"/>
              </a:rPr>
              <a:t>DECIDE</a:t>
            </a:r>
          </a:p>
        </p:txBody>
      </p:sp>
      <p:sp>
        <p:nvSpPr>
          <p:cNvPr id="10" name="TextBox 9"/>
          <p:cNvSpPr txBox="1"/>
          <p:nvPr/>
        </p:nvSpPr>
        <p:spPr>
          <a:xfrm>
            <a:off x="4699000" y="2343912"/>
            <a:ext cx="2794000" cy="267462"/>
          </a:xfrm>
          <a:prstGeom prst="rect">
            <a:avLst/>
          </a:prstGeom>
          <a:noFill/>
        </p:spPr>
        <p:txBody>
          <a:bodyPr wrap="square" lIns="0" rIns="0" tIns="0" bIns="0" anchor="t">
            <a:spAutoFit/>
          </a:bodyPr>
          <a:lstStyle/>
          <a:p>
            <a:pPr algn="l">
              <a:lnSpc>
                <a:spcPts val="2106"/>
              </a:lnSpc>
            </a:pPr>
            <a:r>
              <a:rPr sz="1550" b="0">
                <a:solidFill>
                  <a:srgbClr val="13212C"/>
                </a:solidFill>
                <a:latin typeface="Courier New"/>
              </a:rPr>
              <a:t>/brief</a:t>
            </a:r>
          </a:p>
        </p:txBody>
      </p:sp>
      <p:sp>
        <p:nvSpPr>
          <p:cNvPr id="11" name="TextBox 10"/>
          <p:cNvSpPr txBox="1"/>
          <p:nvPr/>
        </p:nvSpPr>
        <p:spPr>
          <a:xfrm>
            <a:off x="4699000" y="2702814"/>
            <a:ext cx="2794000" cy="802386"/>
          </a:xfrm>
          <a:prstGeom prst="rect">
            <a:avLst/>
          </a:prstGeom>
          <a:noFill/>
        </p:spPr>
        <p:txBody>
          <a:bodyPr wrap="square" lIns="0" rIns="0" tIns="0" bIns="0" anchor="t">
            <a:spAutoFit/>
          </a:bodyPr>
          <a:lstStyle/>
          <a:p>
            <a:pPr algn="l">
              <a:lnSpc>
                <a:spcPts val="2106"/>
              </a:lnSpc>
            </a:pPr>
            <a:r>
              <a:rPr sz="1550" b="0">
                <a:solidFill>
                  <a:srgbClr val="566977"/>
                </a:solidFill>
                <a:latin typeface="Arial"/>
              </a:rPr>
              <a:t>Ten questions. Ends with who runs the loop, and whose queue grows.</a:t>
            </a:r>
          </a:p>
        </p:txBody>
      </p:sp>
      <p:sp>
        <p:nvSpPr>
          <p:cNvPr id="12" name="Rounded Rectangle 11"/>
          <p:cNvSpPr/>
          <p:nvPr/>
        </p:nvSpPr>
        <p:spPr>
          <a:xfrm>
            <a:off x="8026400" y="1848612"/>
            <a:ext cx="3312160" cy="1885188"/>
          </a:xfrm>
          <a:prstGeom prst="roundRect">
            <a:avLst>
              <a:gd name="adj" fmla="val 4042"/>
            </a:avLst>
          </a:prstGeom>
          <a:solidFill>
            <a:srgbClr val="FFFFFF"/>
          </a:solidFill>
          <a:ln w="12700">
            <a:solidFill>
              <a:srgbClr val="CBD5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85480" y="2077212"/>
            <a:ext cx="2794000" cy="160020"/>
          </a:xfrm>
          <a:prstGeom prst="rect">
            <a:avLst/>
          </a:prstGeom>
          <a:noFill/>
        </p:spPr>
        <p:txBody>
          <a:bodyPr wrap="square" lIns="0" rIns="0" tIns="0" bIns="0" anchor="t">
            <a:spAutoFit/>
          </a:bodyPr>
          <a:lstStyle/>
          <a:p>
            <a:pPr algn="l">
              <a:lnSpc>
                <a:spcPts val="1260"/>
              </a:lnSpc>
            </a:pPr>
            <a:r>
              <a:rPr sz="1250" b="0" spc="150">
                <a:solidFill>
                  <a:srgbClr val="0B6E8A"/>
                </a:solidFill>
                <a:latin typeface="Courier New"/>
              </a:rPr>
              <a:t>PRACTISE</a:t>
            </a:r>
          </a:p>
        </p:txBody>
      </p:sp>
      <p:sp>
        <p:nvSpPr>
          <p:cNvPr id="14" name="TextBox 13"/>
          <p:cNvSpPr txBox="1"/>
          <p:nvPr/>
        </p:nvSpPr>
        <p:spPr>
          <a:xfrm>
            <a:off x="8285480" y="2343912"/>
            <a:ext cx="2794000" cy="267462"/>
          </a:xfrm>
          <a:prstGeom prst="rect">
            <a:avLst/>
          </a:prstGeom>
          <a:noFill/>
        </p:spPr>
        <p:txBody>
          <a:bodyPr wrap="square" lIns="0" rIns="0" tIns="0" bIns="0" anchor="t">
            <a:spAutoFit/>
          </a:bodyPr>
          <a:lstStyle/>
          <a:p>
            <a:pPr algn="l">
              <a:lnSpc>
                <a:spcPts val="2106"/>
              </a:lnSpc>
            </a:pPr>
            <a:r>
              <a:rPr sz="1550" b="0">
                <a:solidFill>
                  <a:srgbClr val="13212C"/>
                </a:solidFill>
                <a:latin typeface="Arial"/>
              </a:rPr>
              <a:t>Three cases</a:t>
            </a:r>
          </a:p>
        </p:txBody>
      </p:sp>
      <p:sp>
        <p:nvSpPr>
          <p:cNvPr id="15" name="TextBox 14"/>
          <p:cNvSpPr txBox="1"/>
          <p:nvPr/>
        </p:nvSpPr>
        <p:spPr>
          <a:xfrm>
            <a:off x="8285480" y="2702814"/>
            <a:ext cx="2794000" cy="534924"/>
          </a:xfrm>
          <a:prstGeom prst="rect">
            <a:avLst/>
          </a:prstGeom>
          <a:noFill/>
        </p:spPr>
        <p:txBody>
          <a:bodyPr wrap="square" lIns="0" rIns="0" tIns="0" bIns="0" anchor="t">
            <a:spAutoFit/>
          </a:bodyPr>
          <a:lstStyle/>
          <a:p>
            <a:pPr algn="l">
              <a:lnSpc>
                <a:spcPts val="2106"/>
              </a:lnSpc>
            </a:pPr>
            <a:r>
              <a:rPr sz="1550" b="0">
                <a:solidFill>
                  <a:srgbClr val="566977"/>
                </a:solidFill>
                <a:latin typeface="Arial"/>
              </a:rPr>
              <a:t>A pharmacy chain, a health insurer, a telemedicine startup.</a:t>
            </a:r>
          </a:p>
        </p:txBody>
      </p:sp>
      <p:sp>
        <p:nvSpPr>
          <p:cNvPr id="16" name="TextBox 15"/>
          <p:cNvSpPr txBox="1"/>
          <p:nvPr/>
        </p:nvSpPr>
        <p:spPr>
          <a:xfrm>
            <a:off x="853440" y="5583936"/>
            <a:ext cx="10485120" cy="298703"/>
          </a:xfrm>
          <a:prstGeom prst="rect">
            <a:avLst/>
          </a:prstGeom>
          <a:noFill/>
        </p:spPr>
        <p:txBody>
          <a:bodyPr wrap="square" lIns="0" rIns="0" tIns="0" bIns="0" anchor="t">
            <a:spAutoFit/>
          </a:bodyPr>
          <a:lstStyle/>
          <a:p>
            <a:pPr algn="l">
              <a:lnSpc>
                <a:spcPts val="2352"/>
              </a:lnSpc>
            </a:pPr>
            <a:r>
              <a:rPr sz="1700" b="0">
                <a:solidFill>
                  <a:srgbClr val="566977"/>
                </a:solidFill>
                <a:latin typeface="Courier New"/>
              </a:rPr>
              <a:t>github.com/anthonymorrisjohnson/northline-course</a:t>
            </a:r>
          </a:p>
        </p:txBody>
      </p:sp>
      <p:sp>
        <p:nvSpPr>
          <p:cNvPr id="17" name="Timeline label"/>
          <p:cNvSpPr txBox="1"/>
          <p:nvPr/>
        </p:nvSpPr>
        <p:spPr>
          <a:xfrm>
            <a:off x="853440" y="6377940"/>
            <a:ext cx="2514600" cy="167640"/>
          </a:xfrm>
          <a:prstGeom prst="rect">
            <a:avLst/>
          </a:prstGeom>
          <a:noFill/>
        </p:spPr>
        <p:txBody>
          <a:bodyPr wrap="square" lIns="0" rIns="0" tIns="0" bIns="0" anchor="t">
            <a:spAutoFit/>
          </a:bodyPr>
          <a:lstStyle/>
          <a:p>
            <a:pPr algn="l">
              <a:lnSpc>
                <a:spcPts val="1140"/>
              </a:lnSpc>
            </a:pPr>
            <a:r>
              <a:rPr sz="1150" b="0">
                <a:solidFill>
                  <a:srgbClr val="566977"/>
                </a:solidFill>
                <a:latin typeface="Courier New"/>
              </a:rPr>
              <a:t>62–75 min · Close</a:t>
            </a:r>
          </a:p>
        </p:txBody>
      </p:sp>
      <p:sp>
        <p:nvSpPr>
          <p:cNvPr id="18" name="Slide number"/>
          <p:cNvSpPr txBox="1"/>
          <p:nvPr/>
        </p:nvSpPr>
        <p:spPr>
          <a:xfrm>
            <a:off x="10500360" y="6377940"/>
            <a:ext cx="838200" cy="167640"/>
          </a:xfrm>
          <a:prstGeom prst="rect">
            <a:avLst/>
          </a:prstGeom>
          <a:noFill/>
        </p:spPr>
        <p:txBody>
          <a:bodyPr wrap="square" lIns="0" rIns="0" tIns="0" bIns="0" anchor="t">
            <a:spAutoFit/>
          </a:bodyPr>
          <a:lstStyle/>
          <a:p>
            <a:pPr algn="r">
              <a:lnSpc>
                <a:spcPts val="1140"/>
              </a:lnSpc>
            </a:pPr>
            <a:r>
              <a:rPr sz="1150" b="0">
                <a:solidFill>
                  <a:srgbClr val="566977"/>
                </a:solidFill>
                <a:latin typeface="Courier New"/>
              </a:rPr>
              <a:t>16 / 16</a:t>
            </a:r>
          </a:p>
        </p:txBody>
      </p:sp>
      <p:sp>
        <p:nvSpPr>
          <p:cNvPr id="19" name="Rectangle 18"/>
          <p:cNvSpPr/>
          <p:nvPr/>
        </p:nvSpPr>
        <p:spPr>
          <a:xfrm>
            <a:off x="3520440" y="6423660"/>
            <a:ext cx="2639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822496" y="6423660"/>
            <a:ext cx="1055827"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16424" y="6423660"/>
            <a:ext cx="879856"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34380" y="6423660"/>
            <a:ext cx="1495755"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68235" y="6423660"/>
            <a:ext cx="703884"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10220" y="6423660"/>
            <a:ext cx="1055827" cy="60960"/>
          </a:xfrm>
          <a:prstGeom prst="rect">
            <a:avLst/>
          </a:prstGeom>
          <a:solidFill>
            <a:srgbClr val="56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04147" y="6423660"/>
            <a:ext cx="1143812" cy="60960"/>
          </a:xfrm>
          <a:prstGeom prst="rect">
            <a:avLst/>
          </a:prstGeom>
          <a:solidFill>
            <a:srgbClr val="0B6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